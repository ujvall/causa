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20513c-2ef3-ef71-6168-fae26e7019d3}">
          <p14:sldIdLst>
            <p14:sldId id="256"/>
          </p14:sldIdLst>
        </p14:section>
        <p14:section name="Problem and idea" id="{eaaaa10e-a8ee-2fac-8107-e3cb24d3ec1e}">
          <p14:sldIdLst>
            <p14:sldId id="257"/>
            <p14:sldId id="258"/>
            <p14:sldId id="259"/>
            <p14:sldId id="260"/>
            <p14:sldId id="261"/>
          </p14:sldIdLst>
        </p14:section>
        <p14:section name="Architecture" id="{030aad46-4ecd-bf36-0f5d-cfb778df81c8}">
          <p14:sldIdLst>
            <p14:sldId id="262"/>
          </p14:sldIdLst>
        </p14:section>
        <p14:section name="Demonstration" id="{25013617-c486-b954-bf39-a096fb0afc27}">
          <p14:sldIdLst>
            <p14:sldId id="263"/>
            <p14:sldId id="264"/>
            <p14:sldId id="265"/>
            <p14:sldId id="266"/>
            <p14:sldId id="267"/>
          </p14:sldIdLst>
        </p14:section>
        <p14:section name="Internals and Studio" id="{075661e7-9ce7-b634-e69f-fa3f51cab449}">
          <p14:sldIdLst>
            <p14:sldId id="268"/>
            <p14:sldId id="269"/>
            <p14:sldId id="270"/>
          </p14:sldIdLst>
        </p14:section>
        <p14:section name="Evaluation" id="{40c417a4-a4dc-1b11-a5e2-782d53846d83}">
          <p14:sldIdLst>
            <p14:sldId id="271"/>
            <p14:sldId id="272"/>
          </p14:sldIdLst>
        </p14:section>
        <p14:section name="Closing" id="{42e58714-4fd5-409d-e284-dedd8fc0b401}">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CECEE"/>
                </a:solidFill>
                <a:latin typeface="+mn-lt"/>
              </a:defRPr>
            </a:pPr>
            <a:r>
              <a:rPr sz="1300" b="0" i="0" u="none" strike="noStrike">
                <a:solidFill>
                  <a:srgbClr val="ECECEE"/>
                </a:solidFill>
                <a:latin typeface="+mn-lt"/>
              </a:rPr>
              <a:t>Front-end time by workload (ms, median of 5)</a:t>
            </a:r>
          </a:p>
        </c:rich>
      </c:tx>
      <c:layout/>
      <c:overlay val="0"/>
    </c:title>
    <c:autoTitleDeleted val="0"/>
    <c:plotArea>
      <c:layout/>
      <c:barChart>
        <c:barDir val="col"/>
        <c:grouping val="clustered"/>
        <c:varyColors val="0"/>
        <c:ser>
          <c:idx val="0"/>
          <c:order val="0"/>
          <c:tx>
            <c:strRef>
              <c:f>Sheet1!$B$1</c:f>
              <c:strCache>
                <c:ptCount val="1"/>
                <c:pt idx="0">
                  <c:v>Front end (ms)</c:v>
                </c:pt>
              </c:strCache>
            </c:strRef>
          </c:tx>
          <c:spPr>
            <a:solidFill>
              <a:srgbClr val="22D3EE"/>
            </a:solidFill>
            <a:effectLst/>
          </c:spPr>
          <c:invertIfNegative val="0"/>
          <c:dLbls>
            <c:numFmt formatCode="#,##0.0" sourceLinked="0"/>
            <c:txPr>
              <a:bodyPr/>
              <a:lstStyle/>
              <a:p>
                <a:pPr>
                  <a:defRPr b="0" i="0" strike="noStrike" sz="1200" u="none">
                    <a:solidFill>
                      <a:srgbClr val="ECECEE"/>
                    </a:solidFill>
                    <a:latin typeface="+mn-lt"/>
                  </a:defRPr>
                </a:pPr>
              </a:p>
            </c:txPr>
            <c:showLegendKey val="0"/>
            <c:showVal val="1"/>
            <c:showCatName val="0"/>
            <c:showSerName val="0"/>
            <c:showPercent val="0"/>
            <c:showBubbleSize val="0"/>
            <c:showLeaderLines val="0"/>
          </c:dLbls>
          <c:cat>
            <c:multiLvlStrRef>
              <c:f>Sheet1!$A$2:$A$5</c:f>
              <c:multiLvlStrCache>
                <c:ptCount val="4"/>
                <c:lvl>
                  <c:pt idx="0">
                    <c:v>pricing (6 lets)</c:v>
                  </c:pt>
                  <c:pt idx="1">
                    <c:v>chain-100</c:v>
                  </c:pt>
                  <c:pt idx="2">
                    <c:v>chain-1000</c:v>
                  </c:pt>
                  <c:pt idx="3">
                    <c:v>fan-1000</c:v>
                  </c:pt>
                </c:lvl>
              </c:multiLvlStrCache>
            </c:multiLvlStrRef>
          </c:cat>
          <c:val>
            <c:numRef>
              <c:f>Sheet1!$B$2:$B$5</c:f>
              <c:numCache>
                <c:formatCode>General</c:formatCode>
                <c:ptCount val="4"/>
                <c:pt idx="0">
                  <c:v>1.2</c:v>
                </c:pt>
                <c:pt idx="1">
                  <c:v>7.4</c:v>
                </c:pt>
                <c:pt idx="2">
                  <c:v>102</c:v>
                </c:pt>
                <c:pt idx="3">
                  <c:v>177</c:v>
                </c:pt>
              </c:numCache>
            </c:numRef>
          </c:val>
        </c:ser>
        <c:dLbls>
          <c:numFmt formatCode="#,##0.0" sourceLinked="0"/>
          <c:txPr>
            <a:bodyPr/>
            <a:lstStyle/>
            <a:p>
              <a:pPr>
                <a:defRPr b="0" i="0" strike="noStrike" sz="1200" u="none">
                  <a:solidFill>
                    <a:srgbClr val="ECECE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E8E96"/>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6350" cap="flat">
              <a:solidFill>
                <a:srgbClr val="2B2B31"/>
              </a:solidFill>
              <a:prstDash val="solid"/>
              <a:round/>
            </a:ln>
          </c:spPr>
        </c:majorGridlines>
        <c:title>
          <c:tx>
            <c:rich>
              <a:bodyPr/>
              <a:lstStyle/>
              <a:p>
                <a:pPr>
                  <a:defRPr sz="1100" b="0" i="0" u="none" strike="noStrike">
                    <a:solidFill>
                      <a:srgbClr val="8E8E96"/>
                    </a:solidFill>
                    <a:latin typeface="+mn-lt"/>
                  </a:defRPr>
                </a:pPr>
                <a:r>
                  <a:rPr sz="1100" b="0" i="0" u="none" strike="noStrike">
                    <a:solidFill>
                      <a:srgbClr val="8E8E96"/>
                    </a:solidFill>
                    <a:latin typeface="+mn-lt"/>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E8E9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CAUSA is a custom programming language and a compiler written from scratch, in which the dependencies between computed values are a language feature. A CAUSA program can explain how a value was derived, list what depends on an input, and evaluate hypothetical inputs without disturbing the real results. The motif on the right is a real fragment of the pricing example used throughout the talk.
Placeholders: replace the name, registration number, school and guide on this slide; they are deliberately not filled in because they cannot be verified from the repository.
Likely question: 'Is this a library?' No. It is its own language with a lexer, parser, semantic analysis, intermediate representation, optimizer and C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under 20 seconds. A program computes a number such as a total price. To understand it, you normally read the code and trace values by hand. Three questions come up all the time: why did this result occur, what depends on this input, and what changes if this value changes. In most workflows each answer means manual tracing, print statements, or editing and rerunning.
Transition: so what would it look like if the language itself answered these questions?
Likely question: 'Debuggers already do this.' Debuggers show execution state; CAUSA answers these questions about the program's dependency structure as language operations, and it can run the hypothetical without touching the real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versus delivery. The motivation is that understanding a computed value usually costs manual tracing. The five objectives follow from that, and every one is implemented in version 1; the tag at the bottom of each card names where it lives in the repository. 'Implemented' here means built and covered by automated tests, not planned.
Transition: before the design, a quick comparison with how this is done today.
Likely question: 'What is out of scope?' Conditionals, loops, functions, recursion, mutation, strings and collections are deferred (language specification section 13); version 1 is deliberately small so the dependency semantics can be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comparison. Conventional languages and tools can answer all of these questions: with a debugger, with print statements, with IDE navigation, or by editing and rerunning. The difference is that in CAUSA each question is a statement in the language, answered by the runtime from compile-time dependency information. The last row matters for a compiler project: the optimizer is required to leave the binding-level dependency graph unchanged, and a verification pass re-derives the graph after optimization and fails the compile if it differs.
Likely question: 'Is CAUSA better than a debugger?' It is not a replacement. It makes these specific questions cheap and repeatable, and it is a small language, not a general-purpose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language looks like. A CAUSA program is a list of inputs and immutable let bindings, each defined from earlier ones, so the dependency structure is a DAG known at compile time. Five statements work on it: show prints a value, explain prints a derivation, impact lists dependents, whatif evaluates hypothetical inputs, and assert checks a condition. Files use the .cau extension. The sample is from the project README: total is 75.0, and the whatif repeats the computation with price = 160.
Important framing: CAUSA tracks computational dependencies, meaning how values are computed from other values. It does not model real-world causation.
Likely question: 'What types exist?' int, float and bool, with static type checking and declaration-before-use.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concise literature survey; the full verified bibliography is on the last slide. Four themes. Dependency analysis: Weiser's program slicing and the program dependence graph of Ferrante, Ottenstein and Warren are the classic foundations for asking which statements affect a value. Provenance: the Cheney, Chiticariu and Tan survey, and the Cheney, Ahmed and Acar paper on provenance as dependency analysis, connect dependencies to explanations of results. Explanations and counterfactuals: the Whyline lets programmers ask why-questions about program behavior, and the Karimi et al. 2022 survey covers contrastive and counterfactual explanations. Compilers and testing: LLVM and MLIR are reference intermediate-representation designs, and the compiler-testing survey by Chen et al. and the fuzzing survey preprint by Ma frame how compilers are validated.
Claim discipline: CAUSA uses established ideas. Its contribution is integrating dependency tracking, explanation and counterfactual evaluation into one small language, compiler and runtime workflow. I am not claiming it is the first system of its kind.
Recent sources: Karimi et al. is 2022; the Ma survey is a 2023 arXiv preprint, not peer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Source code in a .cau file flows through the front end: the lexer produces tokens on demand, the hand-written recursive-descent parser builds the AST, and semantic analysis resolves names and checks types. The middle is the Causal IR, a typed single-assignment graph with stable node IDs and explicit dependency edges, plus a frozen binding-level provenance graph, and the optimizer, which may only make rewrites that leave that graph unchanged. The back end is the C code generator, which emits deterministic C99 together with metadata tables; this is compiled together with the CAUSA runtime by a system C compiler into a native executable.
The Python compiler performs every step up to and including C generation; it never runs the C compiler itself. The runtime library provides the language's execution operations: explain, impact, whatif and assert, plus checked arithmetic and launch-time --set validation in the runtime header.
Likely question: 'Why does the compiler not call gcc?' It is a documented design decision for the first version; a single build command is listed as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example, examples/pricing.cau in the repository. Inputs are price, discount, tax, fee and units; lets compute savings, subtotal and total, plus expensive, per_unit and bulk (not shown on this slide to keep it readable). With the source values: savings is 100 times 0.25, which is 25.0; subtotal is 100 minus 25.0, which is 75.0; total is 75.0 times (1 plus 0.125) plus 4, which is 88.375. per_unit is 88.375 divided by 4, which is 22.09375, and expensive and bulk are both true. These values are the program's real output, checked against the documentation.
Transition: the same program as a dependency graph.
Likely question: 'Why does 100 print as 100 but 25.0 as 25.0?' Types are inferred from literals; price is an int and savings is a float, and the runtime prints floats like Python's repr.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as a graph. Green nodes are inputs; blue nodes are let bindings. Each column is a step deeper in the DAG. Arrows here point from a binding to the bindings that use it, which matches how CAUSA Studio draws it. Be careful with direction: the compiler stores the canonical edges the other way round, each binding pointing to the names it uses, and derives the reverse direction for impact. The edges are: price and discount into savings; price and savings into subtotal; subtotal, tax and fee into total; total into expensive; total and units into per_unit; per_unit into bulk. That is 11 edges, matching the count Studio reports.
Key point in the note on the slide: dependencies come from the source expressions, not from the current numbers. So x * 0 still depends on x.
Likely question: 'Are there cycles?' No. Each binding can only use earlier ones, so the graph is acyclic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answers 'how was this derived?'. The statement is explain total, run in the compiled pricing program; the output on the left is real runtime output, identical to the documented expected output. It is a pre-order tree: each binding with its value and its source expression, children in order of first appearance, and a shared input such as price is expanded once and marked 'see above' the second time. Below the tree are four summary lists: direct dependencies, transitive dependencies, inputs, and intermediates.
The tree is built from source-level metadata and the recorded base values. It never reads the optimized node graph, which is why optimization cannot change an explanation.
Likely question: 'Does explain re-run the program?' No. It reads the compile-time dependency tables and the values recorded during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answers 'what depends on this?'. For impact discount, the direct dependent is just savings, because only savings mentions discount. The full affected set is six bindings, because savings feeds subtotal, which feeds total, which feeds expensive and per_unit, which feeds bulk. The text on the left is the real runtime output. The labels the runtime prints are 'direct dependents' and 'all dependents'; Studio shows the same lists as 'direct' and 'all affected'.
Impact is static. It reads only the compile-time dependency tables and never reads values, so it is instant and cannot fail. Compare with whatif, which actually recomputes.
Likely question: 'Is impact the reverse of explain?' Yes, in direction: explain walks backward from a binding to what it uses; impact walks forward to what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whatif answers 'what if this input were different?'. Left is the baseline with price 100; right is the counterfactual with price 150, from CAUSA Studio's What-if panel, which runs the real runtime. savings becomes 37.5, subtotal 112.5, total 130.5625, and per_unit 32.640625; expensive stays true, and bulk flips from true to false. The table marks the override, changed values, and unchanged values.
How it works: the runtime copies the base values into a separate counterfactual environment, writes the overrides there, and re-evaluates only the dependency cone of the overridden inputs. The original execution state is never written; in the pricing demo, the final 'show total' after five whatif statements still prints 88.375.
Launch-time inputs are different: ./pricing --set price=150 --set discount=0.3 changes the real inputs before anything runs (total becomes 122.125) and every statement, including each whatif's before values, sees them. Invalid arguments are rejected before any output.
Likely question: 'What if a hypothetical fails?' A failure such as division by zero is reported as an error outcome, dependents are marked unavailable, and the program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depth. The Causal IR is a typed, single-assignment graph: input, const, op and bind nodes with stable IDs, explicit operand edges, and source locations. A bind node anchors each let so explain, whatif and impact can refer to source-level bindings even if the operations under them are merged. On the left is the real IR for a one-line program: note the explicit itof nodes where an int is promoted to float.
The optimizer may do three things: constant folding when it cannot raise a runtime error, common-subexpression elimination within one binding, and removal of dead constants. It must never remove an input or a bind, never rewrite away a reference to a binding, and never reorder anything that can fail. After optimizing, a verification pass re-derives the binding-level graph and requires it to equal the original; a mismatch is an internal compiler error.
The x * 0 example illustrates the invariant, and it is also real behaviour: I ran the optimizer on a program with let y = x * 0 and let z = x - x; it reported no changes and both y and z still depend on x. On pricing.cau the optimizer folds two integer-to-float conversions and removes two constants, taking the IR from 30 to 28 nodes.
Likely question: 'Why not simplify x * 0 to 0?' Because the value 0 hides that y depends on x, and explain and impact would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IR to a program. The generator emits one deterministic C99 file: one case per IR node in a switch, metadata tables describing nodes, bindings and dependencies, and a main that runs the program's steps in order. Integers map to int64_t with overflow checked before computing, so there is no signed-overflow undefined behaviour; floats map to double, and float literals are emitted as exact hexadecimal constants so the C compiler does no decimal rounding. Division by zero and non-finite results become runtime errors R101 to R103 reported at the operator's source location.
The runtime library, causa_runtime.c, uses only the C standard library. It formats values the way Python's repr does, and implements explain, impact, whatif and assert from the metadata tables. The system C compiler then builds generated C plus runtime into the native executable.
Why C? It gives a real native executable with little machinery, a stable target, and lets the runtime be small and testable. Likely question: 'Why is gcc -O2 so slow in the benchmark?' The generated file has one switch case per IR node, which -O2 optimizes slowly; see the evaluation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 Studio is a desktop application, written in Tkinter with only the standard library, that drives the real compiler and runtime: a source editor with highlighting and live diagnostics, an integrated console, the dependency graph, and Explain, Impact and What-if tabs. Studio has no CAUSA semantics of its own; for Explain, Impact and What-if it builds a small query program, compiles it with the real compiler and runs it with the real runtime.
The screenshots are genuine captures of the running application, taken by a script (presentation/capture_studio.py) that drives the real window. They were captured on Linux under a virtual display with Python 3.12, Tk and GCC 13.3 because that is what was available when building the deck; the project's documented validated environment is Windows 11. Replace them with Windows captures if you prefer. The pricing example shows 5 inputs, 6 lets and 11 edges, as the caption in the Graph tab states.
Callouts: 1 source editor, 2 integrated console, 3 dependency graph, 4 analysis tabs, 5 build and runtime status.
Likely question: 'Can Studio change values at launch?' Not yet; the What-if panel covers hypothetical inputs and launch values are a command-line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205 automated tests passed, with none skipped, in the recorded full run on Windows 11 with Python 3.11.9 and MSYS2 UCRT64 GCC 16.1.0. The test suite in the repository today has 257 tests: those 205 compiler, runtime and demo tests plus 52 CAUSA Studio tests (service, formatting and window tests). I counted both from the repository; the 205 pass figure is the recorded Windows result, and I did not re-run Windows here.
What the tests check, from the README: every specification runtime case is built and its stdout, stderr and exit status compared byte for byte; every shell command in docs/demonstration.md is executed and its output compared; float formatting is compared with Python's repr on 35,000 values on every run; the C literal parser for launch arguments is compared with the Python lexer on about 12,000 strings; and generated C compiles warning-free with -std=c99 -Wall -Wextra -Wpedantic -Werror. A fresh-clone check also compiled selected examples at -O0 and -O2 under those strict flags.
Qualification to state out loud: generated-C execution is validated on Windows with MSYS2 UCRT64 GCC. On Linux/WSL the compiler-side tests passed but generated C was not run there. I make no claim of comprehensive cross-platform validation.
Likely question: 'Why not a pass percentage?' Because there is one recorded configuration and no failing runs to report against; a percentage would add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previously recorded results from benchmarks/benchmark.py and docs/evaluation.md, measured on one Windows 11 machine (AMD, 8 logical CPUs) with Python 3.11.9 and GCC 16.1.0, median of five runs, on 2026-10-25. I did not re-run the benchmark here: a Linux re-run would be a different environment and would not be comparable.
The chart shows only front-end time, which is the CAUSA compiler up to Causal IR: lexing, parsing, semantic analysis and IR construction. It is in milliseconds and grows with program size: 1.2 ms for the 6-let pricing program up to 177 ms for 1,000 lets. The table keeps native compilation (gcc at -O0 and -O2) and run time as separate columns on purpose, because they are different quantities on different scales: gcc takes seconds, the front end takes milliseconds. Compilation dominates these timings; the generated C has one switch case per IR node, which -O2 optimizes slowly. Executables finish in roughly 24 to 29 ms, which is close to process start-up cost on this machine, so these runs cannot distinguish workloads.
Caveats to state: one machine, one OS, one C compiler, one session; workloads other than pricing are synthetic; wall-clock noise of up to about 30 percent between runs was observed. This is an engineering evaluation, not a speed comparison with any other language and not a claim of superiority.
Likely question: 'Does the optimizer speed things up?' Not measurably here: it cut fan-1000 from 8,002 to 5,001 IR nodes but changed neither run time nor gcc time noticeably, and it never changed program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scope. Completed: everything in language version 1 and the Studio application, listed in the left column. Limitations are things that are true today. First, portability: generated-C execution is validated on Windows with MSYS2 UCRT64 GCC; Linux, macOS, Clang and MSVC are untested, and float formatting depends on a correctly rounded printf and strtod in the C library. Second, scope: no conditionals, loops, functions, recursion, mutation, strings or collections; conditionals are deferred because static and dynamic dependency semantics give different explain and impact answers. Third, performance: the front end grows faster than linearly on very long dependency chains because each binding stores its full transitive dependency set, and the C compiler dominates build time. Studio runs one file at a time and cannot set launch values.
Future work is proposed, not implemented: a single build and run command that invokes the C compiler, testing other compilers and C libraries, the deferred language features, Studio usability improvements, and a more systematic performance evaluation on larger and more realistic programs.
Likely question: 'What would you do first?' Cross-platform validation and a one-command build, because they remove the most friction for new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CAUSA connects compilation with explainability and counterfactual reasoning: a small language and compiler in which dependencies are first-class, so a program can say why a value was produced, what depends on a binding, and what would happen under different inputs, all without disturbing the original execution. Three takeaways on the slide. The implementation is verified by an automated test suite and demonstrated by CAUSA Studio. The limitations are real and listed. Thank you; I am happy to take questions.
Suggested backup answers: dependency direction (binding to names it uses, reverse derived); why C (native output, small testable runtime); why constant folding is safe (never folds anything that could raise a runtime error, and the dependency graph is re-verified); what is not claimed (no cross-platform validation, no performance superiority, no claim of being the first system of its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each entry's title, authors, year and venue were checked against a publisher, library or official project page while building this deck. DOIs are given only where a page showed one. Items [1] and [5] show venue, volume and pages but no DOI, because none was confirmed. [7] has a stable official page but no DOI listed there. [8] is the CGO 2021 paper listed on Google Research's publication page; no DOI was confirmed. [10] is an arXiv preprint (not peer reviewed). A Halpern and Pearl structural-model causality paper was considered for the counterfactual theme and dropped because its journal venue could not be verified. Recent sources (2022 to 2024) are [6] (2022) and [10]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USA_TITLE">
    <p:bg>
      <p:bgPr>
        <a:solidFill>
          <a:srgbClr val="09090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USA_CONTENT">
    <p:bg>
      <p:bgPr>
        <a:solidFill>
          <a:srgbClr val="09090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rtlCol="0"/>
          <a:lstStyle>
            <a:lvl1pPr algn="l" indent="0" marL="0">
              <a:buNone/>
              <a:defRPr lang="en-US" sz="2800" b="1" spc="-50" kern="0" dirty="0">
                <a:solidFill>
                  <a:srgbClr val="ECECEE"/>
                </a:solidFill>
                <a:latin typeface="Inter" pitchFamily="34" charset="0"/>
                <a:ea typeface="Inter" pitchFamily="34" charset="-122"/>
                <a:cs typeface="Inter"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417320"/>
            <a:ext cx="6400800" cy="1463040"/>
          </a:xfrm>
          <a:prstGeom prst="rect">
            <a:avLst/>
          </a:prstGeom>
          <a:noFill/>
          <a:ln/>
        </p:spPr>
        <p:txBody>
          <a:bodyPr wrap="square" lIns="0" tIns="0" rIns="0" bIns="0" rtlCol="0" anchor="ctr"/>
          <a:lstStyle/>
          <a:p>
            <a:pPr indent="0" marL="0">
              <a:buNone/>
            </a:pPr>
            <a:r>
              <a:rPr lang="en-US" sz="9600" b="1" spc="-200" kern="0" dirty="0">
                <a:solidFill>
                  <a:srgbClr val="ECECEE"/>
                </a:solidFill>
                <a:latin typeface="Inter" pitchFamily="34" charset="0"/>
                <a:ea typeface="Inter" pitchFamily="34" charset="-122"/>
                <a:cs typeface="Inter" pitchFamily="34" charset="-120"/>
              </a:rPr>
              <a:t>CAUSA</a:t>
            </a:r>
            <a:endParaRPr lang="en-US" sz="9600" dirty="0"/>
          </a:p>
        </p:txBody>
      </p:sp>
      <p:sp>
        <p:nvSpPr>
          <p:cNvPr id="3" name="text-2"/>
          <p:cNvSpPr txBox="1"/>
          <p:nvPr/>
        </p:nvSpPr>
        <p:spPr>
          <a:xfrm>
            <a:off x="731520" y="2971800"/>
            <a:ext cx="6035040" cy="1097280"/>
          </a:xfrm>
          <a:prstGeom prst="rect">
            <a:avLst/>
          </a:prstGeom>
          <a:noFill/>
          <a:ln/>
        </p:spPr>
        <p:txBody>
          <a:bodyPr wrap="square" lIns="0" tIns="0" rIns="0" bIns="0" rtlCol="0" anchor="t"/>
          <a:lstStyle/>
          <a:p>
            <a:pPr indent="0" marL="0">
              <a:buNone/>
            </a:pPr>
            <a:r>
              <a:rPr lang="en-US" sz="2400" dirty="0">
                <a:solidFill>
                  <a:srgbClr val="8E8E96"/>
                </a:solidFill>
                <a:latin typeface="Inter" pitchFamily="34" charset="0"/>
                <a:ea typeface="Inter" pitchFamily="34" charset="-122"/>
                <a:cs typeface="Inter" pitchFamily="34" charset="-120"/>
              </a:rPr>
              <a:t>A Compiler for Explainable and Counterfactual Programming</a:t>
            </a:r>
            <a:endParaRPr lang="en-US" sz="2400" dirty="0"/>
          </a:p>
        </p:txBody>
      </p:sp>
      <p:sp>
        <p:nvSpPr>
          <p:cNvPr id="4" name="text-3"/>
          <p:cNvSpPr txBox="1"/>
          <p:nvPr/>
        </p:nvSpPr>
        <p:spPr>
          <a:xfrm>
            <a:off x="731520" y="4206240"/>
            <a:ext cx="6035040" cy="365760"/>
          </a:xfrm>
          <a:prstGeom prst="rect">
            <a:avLst/>
          </a:prstGeom>
          <a:noFill/>
          <a:ln/>
        </p:spPr>
        <p:txBody>
          <a:bodyPr wrap="square" lIns="0" tIns="0" rIns="0" bIns="0" rtlCol="0" anchor="t"/>
          <a:lstStyle/>
          <a:p>
            <a:pPr indent="0" marL="0">
              <a:buNone/>
            </a:pPr>
            <a:r>
              <a:rPr lang="en-US" sz="1800" dirty="0">
                <a:solidFill>
                  <a:srgbClr val="ECECEE"/>
                </a:solidFill>
                <a:latin typeface="Inter" pitchFamily="34" charset="0"/>
                <a:ea typeface="Inter" pitchFamily="34" charset="-122"/>
                <a:cs typeface="Inter" pitchFamily="34" charset="-120"/>
              </a:rPr>
              <a:t>Compiler Design Project  ·  Final Review</a:t>
            </a:r>
            <a:endParaRPr lang="en-US" sz="1800" dirty="0"/>
          </a:p>
        </p:txBody>
      </p:sp>
      <p:sp>
        <p:nvSpPr>
          <p:cNvPr id="5" name="text-4"/>
          <p:cNvSpPr txBox="1"/>
          <p:nvPr/>
        </p:nvSpPr>
        <p:spPr>
          <a:xfrm>
            <a:off x="731520" y="4800600"/>
            <a:ext cx="6035040" cy="1097280"/>
          </a:xfrm>
          <a:prstGeom prst="rect">
            <a:avLst/>
          </a:prstGeom>
          <a:noFill/>
          <a:ln/>
        </p:spPr>
        <p:txBody>
          <a:bodyPr wrap="square" lIns="0" tIns="0" rIns="0" bIns="0" rtlCol="0" anchor="t"/>
          <a:lstStyle/>
          <a:p>
            <a:pPr indent="0" marL="0">
              <a:spcAft>
                <a:spcPts val="400"/>
              </a:spcAft>
              <a:buNone/>
            </a:pPr>
            <a:r>
              <a:rPr lang="en-US" sz="1500" dirty="0">
                <a:solidFill>
                  <a:srgbClr val="8E8E96"/>
                </a:solidFill>
                <a:latin typeface="Inter" pitchFamily="34" charset="0"/>
                <a:ea typeface="Inter" pitchFamily="34" charset="-122"/>
                <a:cs typeface="Inter" pitchFamily="34" charset="-120"/>
              </a:rPr>
              <a:t>[Student name]   ·   [Registration number]</a:t>
            </a:r>
            <a:endParaRPr lang="en-US" sz="1500" dirty="0"/>
          </a:p>
          <a:p>
            <a:pPr indent="0" marL="0">
              <a:spcAft>
                <a:spcPts val="400"/>
              </a:spcAft>
              <a:buNone/>
            </a:pPr>
            <a:r>
              <a:rPr lang="en-US" sz="1500" dirty="0">
                <a:solidFill>
                  <a:srgbClr val="8E8E96"/>
                </a:solidFill>
                <a:latin typeface="Inter" pitchFamily="34" charset="0"/>
                <a:ea typeface="Inter" pitchFamily="34" charset="-122"/>
                <a:cs typeface="Inter" pitchFamily="34" charset="-120"/>
              </a:rPr>
              <a:t>[School / University]</a:t>
            </a:r>
            <a:endParaRPr lang="en-US" sz="1500" dirty="0"/>
          </a:p>
          <a:p>
            <a:pPr indent="0" marL="0">
              <a:spcAft>
                <a:spcPts val="400"/>
              </a:spcAft>
              <a:buNone/>
            </a:pPr>
            <a:r>
              <a:rPr lang="en-US" sz="1500" dirty="0">
                <a:solidFill>
                  <a:srgbClr val="8E8E96"/>
                </a:solidFill>
                <a:latin typeface="Inter" pitchFamily="34" charset="0"/>
                <a:ea typeface="Inter" pitchFamily="34" charset="-122"/>
                <a:cs typeface="Inter" pitchFamily="34" charset="-120"/>
              </a:rPr>
              <a:t>Guide: [Faculty guide name]</a:t>
            </a:r>
            <a:endParaRPr lang="en-US" sz="1500" dirty="0"/>
          </a:p>
        </p:txBody>
      </p:sp>
      <p:sp>
        <p:nvSpPr>
          <p:cNvPr id="6" name="panel-5"/>
          <p:cNvSpPr/>
          <p:nvPr/>
        </p:nvSpPr>
        <p:spPr>
          <a:xfrm>
            <a:off x="7223760" y="1143000"/>
            <a:ext cx="4434840" cy="4480560"/>
          </a:xfrm>
          <a:prstGeom prst="roundRect">
            <a:avLst>
              <a:gd name="adj" fmla="val 1649"/>
            </a:avLst>
          </a:prstGeom>
          <a:solidFill>
            <a:srgbClr val="121214"/>
          </a:solidFill>
          <a:ln w="12700">
            <a:solidFill>
              <a:srgbClr val="121214"/>
            </a:solidFill>
            <a:prstDash val="solid"/>
          </a:ln>
        </p:spPr>
      </p:sp>
      <p:sp>
        <p:nvSpPr>
          <p:cNvPr id="7" name="text-6"/>
          <p:cNvSpPr txBox="1"/>
          <p:nvPr/>
        </p:nvSpPr>
        <p:spPr>
          <a:xfrm>
            <a:off x="7452360" y="1280160"/>
            <a:ext cx="4023360" cy="274320"/>
          </a:xfrm>
          <a:prstGeom prst="rect">
            <a:avLst/>
          </a:prstGeom>
          <a:noFill/>
          <a:ln/>
        </p:spPr>
        <p:txBody>
          <a:bodyPr wrap="square" lIns="0" tIns="0" rIns="0" bIns="0" rtlCol="0" anchor="t"/>
          <a:lstStyle/>
          <a:p>
            <a:pPr indent="0" marL="0">
              <a:buNone/>
            </a:pPr>
            <a:r>
              <a:rPr lang="en-US" sz="1100" b="1" dirty="0">
                <a:solidFill>
                  <a:srgbClr val="8E8E96"/>
                </a:solidFill>
                <a:latin typeface="Inter" pitchFamily="34" charset="0"/>
                <a:ea typeface="Inter" pitchFamily="34" charset="-122"/>
                <a:cs typeface="Inter" pitchFamily="34" charset="-120"/>
              </a:rPr>
              <a:t>pricing.cau  ·  dependency fragment</a:t>
            </a:r>
            <a:endParaRPr lang="en-US" sz="1100" dirty="0"/>
          </a:p>
        </p:txBody>
      </p:sp>
      <p:sp>
        <p:nvSpPr>
          <p:cNvPr id="8" name="arrow-7"/>
          <p:cNvSpPr/>
          <p:nvPr/>
        </p:nvSpPr>
        <p:spPr>
          <a:xfrm>
            <a:off x="8686800" y="2203704"/>
            <a:ext cx="182880" cy="0"/>
          </a:xfrm>
          <a:prstGeom prst="line">
            <a:avLst/>
          </a:prstGeom>
          <a:noFill/>
          <a:ln w="19050">
            <a:solidFill>
              <a:srgbClr val="8E8E96"/>
            </a:solidFill>
            <a:prstDash val="solid"/>
            <a:tailEnd type="triangle"/>
          </a:ln>
        </p:spPr>
      </p:sp>
      <p:sp>
        <p:nvSpPr>
          <p:cNvPr id="9" name="arrow-8"/>
          <p:cNvSpPr/>
          <p:nvPr/>
        </p:nvSpPr>
        <p:spPr>
          <a:xfrm flipV="1">
            <a:off x="8686800" y="2203704"/>
            <a:ext cx="182880" cy="1097280"/>
          </a:xfrm>
          <a:prstGeom prst="line">
            <a:avLst/>
          </a:prstGeom>
          <a:noFill/>
          <a:ln w="19050">
            <a:solidFill>
              <a:srgbClr val="8E8E96"/>
            </a:solidFill>
            <a:prstDash val="solid"/>
            <a:tailEnd type="triangle"/>
          </a:ln>
        </p:spPr>
      </p:sp>
      <p:sp>
        <p:nvSpPr>
          <p:cNvPr id="10" name="arrow-9"/>
          <p:cNvSpPr/>
          <p:nvPr/>
        </p:nvSpPr>
        <p:spPr>
          <a:xfrm>
            <a:off x="10104120" y="2203704"/>
            <a:ext cx="182880" cy="0"/>
          </a:xfrm>
          <a:prstGeom prst="line">
            <a:avLst/>
          </a:prstGeom>
          <a:noFill/>
          <a:ln w="19050">
            <a:solidFill>
              <a:srgbClr val="8E8E96"/>
            </a:solidFill>
            <a:prstDash val="solid"/>
            <a:tailEnd type="triangle"/>
          </a:ln>
        </p:spPr>
      </p:sp>
      <p:sp>
        <p:nvSpPr>
          <p:cNvPr id="11" name="arrow-10"/>
          <p:cNvSpPr/>
          <p:nvPr/>
        </p:nvSpPr>
        <p:spPr>
          <a:xfrm>
            <a:off x="10904220" y="2487168"/>
            <a:ext cx="0" cy="1078992"/>
          </a:xfrm>
          <a:prstGeom prst="line">
            <a:avLst/>
          </a:prstGeom>
          <a:noFill/>
          <a:ln w="19050">
            <a:solidFill>
              <a:srgbClr val="8E8E96"/>
            </a:solidFill>
            <a:prstDash val="solid"/>
            <a:tailEnd type="triangle"/>
          </a:ln>
        </p:spPr>
      </p:sp>
      <p:sp>
        <p:nvSpPr>
          <p:cNvPr id="12" name="node-11"/>
          <p:cNvSpPr/>
          <p:nvPr/>
        </p:nvSpPr>
        <p:spPr>
          <a:xfrm>
            <a:off x="7452360" y="1920240"/>
            <a:ext cx="1234440" cy="566928"/>
          </a:xfrm>
          <a:prstGeom prst="roundRect">
            <a:avLst>
              <a:gd name="adj" fmla="val 9677"/>
            </a:avLst>
          </a:prstGeom>
          <a:solidFill>
            <a:srgbClr val="1C1C21"/>
          </a:solidFill>
          <a:ln w="19050">
            <a:solidFill>
              <a:srgbClr val="86EFAC"/>
            </a:solidFill>
            <a:prstDash val="solid"/>
          </a:ln>
        </p:spPr>
      </p:sp>
      <p:sp>
        <p:nvSpPr>
          <p:cNvPr id="13" name="text-12"/>
          <p:cNvSpPr txBox="1"/>
          <p:nvPr/>
        </p:nvSpPr>
        <p:spPr>
          <a:xfrm>
            <a:off x="7452360" y="1920240"/>
            <a:ext cx="1234440" cy="566928"/>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price</a:t>
            </a:r>
            <a:endParaRPr lang="en-US" sz="1500" dirty="0"/>
          </a:p>
        </p:txBody>
      </p:sp>
      <p:sp>
        <p:nvSpPr>
          <p:cNvPr id="14" name="node-13"/>
          <p:cNvSpPr/>
          <p:nvPr/>
        </p:nvSpPr>
        <p:spPr>
          <a:xfrm>
            <a:off x="7452360" y="3017520"/>
            <a:ext cx="1234440" cy="566928"/>
          </a:xfrm>
          <a:prstGeom prst="roundRect">
            <a:avLst>
              <a:gd name="adj" fmla="val 9677"/>
            </a:avLst>
          </a:prstGeom>
          <a:solidFill>
            <a:srgbClr val="1C1C21"/>
          </a:solidFill>
          <a:ln w="19050">
            <a:solidFill>
              <a:srgbClr val="86EFAC"/>
            </a:solidFill>
            <a:prstDash val="solid"/>
          </a:ln>
        </p:spPr>
      </p:sp>
      <p:sp>
        <p:nvSpPr>
          <p:cNvPr id="15" name="text-14"/>
          <p:cNvSpPr txBox="1"/>
          <p:nvPr/>
        </p:nvSpPr>
        <p:spPr>
          <a:xfrm>
            <a:off x="7452360" y="3017520"/>
            <a:ext cx="1234440" cy="566928"/>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discount</a:t>
            </a:r>
            <a:endParaRPr lang="en-US" sz="1500" dirty="0"/>
          </a:p>
        </p:txBody>
      </p:sp>
      <p:sp>
        <p:nvSpPr>
          <p:cNvPr id="16" name="node-15"/>
          <p:cNvSpPr/>
          <p:nvPr/>
        </p:nvSpPr>
        <p:spPr>
          <a:xfrm>
            <a:off x="8869680" y="1920240"/>
            <a:ext cx="1234440" cy="566928"/>
          </a:xfrm>
          <a:prstGeom prst="roundRect">
            <a:avLst>
              <a:gd name="adj" fmla="val 9677"/>
            </a:avLst>
          </a:prstGeom>
          <a:solidFill>
            <a:srgbClr val="1C1C21"/>
          </a:solidFill>
          <a:ln w="19050">
            <a:solidFill>
              <a:srgbClr val="60A5FA"/>
            </a:solidFill>
            <a:prstDash val="solid"/>
          </a:ln>
        </p:spPr>
      </p:sp>
      <p:sp>
        <p:nvSpPr>
          <p:cNvPr id="17" name="text-16"/>
          <p:cNvSpPr txBox="1"/>
          <p:nvPr/>
        </p:nvSpPr>
        <p:spPr>
          <a:xfrm>
            <a:off x="8869680" y="1920240"/>
            <a:ext cx="1234440" cy="566928"/>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savings</a:t>
            </a:r>
            <a:endParaRPr lang="en-US" sz="1500" dirty="0"/>
          </a:p>
        </p:txBody>
      </p:sp>
      <p:sp>
        <p:nvSpPr>
          <p:cNvPr id="18" name="node-17"/>
          <p:cNvSpPr/>
          <p:nvPr/>
        </p:nvSpPr>
        <p:spPr>
          <a:xfrm>
            <a:off x="10287000" y="1920240"/>
            <a:ext cx="1234440" cy="566928"/>
          </a:xfrm>
          <a:prstGeom prst="roundRect">
            <a:avLst>
              <a:gd name="adj" fmla="val 9677"/>
            </a:avLst>
          </a:prstGeom>
          <a:solidFill>
            <a:srgbClr val="1C1C21"/>
          </a:solidFill>
          <a:ln w="19050">
            <a:solidFill>
              <a:srgbClr val="60A5FA"/>
            </a:solidFill>
            <a:prstDash val="solid"/>
          </a:ln>
        </p:spPr>
      </p:sp>
      <p:sp>
        <p:nvSpPr>
          <p:cNvPr id="19" name="text-18"/>
          <p:cNvSpPr txBox="1"/>
          <p:nvPr/>
        </p:nvSpPr>
        <p:spPr>
          <a:xfrm>
            <a:off x="10287000" y="1920240"/>
            <a:ext cx="1234440" cy="566928"/>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subtotal</a:t>
            </a:r>
            <a:endParaRPr lang="en-US" sz="1500" dirty="0"/>
          </a:p>
        </p:txBody>
      </p:sp>
      <p:sp>
        <p:nvSpPr>
          <p:cNvPr id="20" name="node-19"/>
          <p:cNvSpPr/>
          <p:nvPr/>
        </p:nvSpPr>
        <p:spPr>
          <a:xfrm>
            <a:off x="10287000" y="3566160"/>
            <a:ext cx="1234440" cy="566928"/>
          </a:xfrm>
          <a:prstGeom prst="roundRect">
            <a:avLst>
              <a:gd name="adj" fmla="val 9677"/>
            </a:avLst>
          </a:prstGeom>
          <a:solidFill>
            <a:srgbClr val="1F3447"/>
          </a:solidFill>
          <a:ln w="19050">
            <a:solidFill>
              <a:srgbClr val="22D3EE"/>
            </a:solidFill>
            <a:prstDash val="solid"/>
          </a:ln>
        </p:spPr>
      </p:sp>
      <p:sp>
        <p:nvSpPr>
          <p:cNvPr id="21" name="text-20"/>
          <p:cNvSpPr txBox="1"/>
          <p:nvPr/>
        </p:nvSpPr>
        <p:spPr>
          <a:xfrm>
            <a:off x="10287000" y="3566160"/>
            <a:ext cx="1234440" cy="566928"/>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total</a:t>
            </a:r>
            <a:endParaRPr lang="en-US" sz="1500" dirty="0"/>
          </a:p>
        </p:txBody>
      </p:sp>
      <p:sp>
        <p:nvSpPr>
          <p:cNvPr id="22" name="text-21"/>
          <p:cNvSpPr txBox="1"/>
          <p:nvPr/>
        </p:nvSpPr>
        <p:spPr>
          <a:xfrm>
            <a:off x="7452360" y="4526280"/>
            <a:ext cx="4023360" cy="822960"/>
          </a:xfrm>
          <a:prstGeom prst="rect">
            <a:avLst/>
          </a:prstGeom>
          <a:noFill/>
          <a:ln/>
        </p:spPr>
        <p:txBody>
          <a:bodyPr wrap="square" lIns="0" tIns="0" rIns="0" bIns="0" rtlCol="0" anchor="t"/>
          <a:lstStyle/>
          <a:p>
            <a:pPr indent="0" marL="0">
              <a:buNone/>
            </a:pPr>
            <a:r>
              <a:rPr lang="en-US" sz="1500" dirty="0">
                <a:solidFill>
                  <a:srgbClr val="8E8E96"/>
                </a:solidFill>
                <a:latin typeface="Consolas" pitchFamily="34" charset="0"/>
                <a:ea typeface="Consolas" pitchFamily="34" charset="-122"/>
                <a:cs typeface="Consolas" pitchFamily="34" charset="-120"/>
              </a:rPr>
              <a:t>$ ./pricing</a:t>
            </a:r>
            <a:endParaRPr lang="en-US" sz="1500" dirty="0"/>
          </a:p>
          <a:p>
            <a:pPr indent="0" marL="0">
              <a:buNone/>
            </a:pPr>
            <a:r>
              <a:rPr lang="en-US" sz="1500" b="1" dirty="0">
                <a:solidFill>
                  <a:srgbClr val="22D3EE"/>
                </a:solidFill>
                <a:latin typeface="Consolas" pitchFamily="34" charset="0"/>
                <a:ea typeface="Consolas" pitchFamily="34" charset="-122"/>
                <a:cs typeface="Consolas" pitchFamily="34" charset="-120"/>
              </a:rPr>
              <a:t>total = 88.375</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A result appears. Its reasoning does not</a:t>
            </a:r>
            <a:endParaRPr lang="en-US" sz="2800" dirty="0"/>
          </a:p>
        </p:txBody>
      </p:sp>
      <p:sp>
        <p:nvSpPr>
          <p:cNvPr id="3" name="text-2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Problem and idea</a:t>
            </a:r>
            <a:endParaRPr lang="en-US" sz="1000" dirty="0"/>
          </a:p>
        </p:txBody>
      </p:sp>
      <p:sp>
        <p:nvSpPr>
          <p:cNvPr id="5" name="panel-23"/>
          <p:cNvSpPr/>
          <p:nvPr/>
        </p:nvSpPr>
        <p:spPr>
          <a:xfrm>
            <a:off x="548640" y="1417320"/>
            <a:ext cx="4206240" cy="2011680"/>
          </a:xfrm>
          <a:prstGeom prst="roundRect">
            <a:avLst>
              <a:gd name="adj" fmla="val 3636"/>
            </a:avLst>
          </a:prstGeom>
          <a:solidFill>
            <a:srgbClr val="121214"/>
          </a:solidFill>
          <a:ln w="12700">
            <a:solidFill>
              <a:srgbClr val="121214"/>
            </a:solidFill>
            <a:prstDash val="solid"/>
          </a:ln>
        </p:spPr>
      </p:sp>
      <p:sp>
        <p:nvSpPr>
          <p:cNvPr id="6" name="bar-24"/>
          <p:cNvSpPr/>
          <p:nvPr/>
        </p:nvSpPr>
        <p:spPr>
          <a:xfrm>
            <a:off x="822960" y="1737360"/>
            <a:ext cx="2926080" cy="128016"/>
          </a:xfrm>
          <a:prstGeom prst="roundRect">
            <a:avLst>
              <a:gd name="adj" fmla="val 35714"/>
            </a:avLst>
          </a:prstGeom>
          <a:solidFill>
            <a:srgbClr val="2B2B31"/>
          </a:solidFill>
          <a:ln w="12700">
            <a:solidFill>
              <a:srgbClr val="2B2B31"/>
            </a:solidFill>
            <a:prstDash val="solid"/>
          </a:ln>
        </p:spPr>
      </p:sp>
      <p:sp>
        <p:nvSpPr>
          <p:cNvPr id="7" name="bar-25"/>
          <p:cNvSpPr/>
          <p:nvPr/>
        </p:nvSpPr>
        <p:spPr>
          <a:xfrm>
            <a:off x="822960" y="2057400"/>
            <a:ext cx="2377440" cy="128016"/>
          </a:xfrm>
          <a:prstGeom prst="roundRect">
            <a:avLst>
              <a:gd name="adj" fmla="val 35714"/>
            </a:avLst>
          </a:prstGeom>
          <a:solidFill>
            <a:srgbClr val="2B2B31"/>
          </a:solidFill>
          <a:ln w="12700">
            <a:solidFill>
              <a:srgbClr val="2B2B31"/>
            </a:solidFill>
            <a:prstDash val="solid"/>
          </a:ln>
        </p:spPr>
      </p:sp>
      <p:sp>
        <p:nvSpPr>
          <p:cNvPr id="8" name="bar-26"/>
          <p:cNvSpPr/>
          <p:nvPr/>
        </p:nvSpPr>
        <p:spPr>
          <a:xfrm>
            <a:off x="822960" y="2377440"/>
            <a:ext cx="3200400" cy="128016"/>
          </a:xfrm>
          <a:prstGeom prst="roundRect">
            <a:avLst>
              <a:gd name="adj" fmla="val 35714"/>
            </a:avLst>
          </a:prstGeom>
          <a:solidFill>
            <a:srgbClr val="2B2B31"/>
          </a:solidFill>
          <a:ln w="12700">
            <a:solidFill>
              <a:srgbClr val="2B2B31"/>
            </a:solidFill>
            <a:prstDash val="solid"/>
          </a:ln>
        </p:spPr>
      </p:sp>
      <p:sp>
        <p:nvSpPr>
          <p:cNvPr id="9" name="bar-27"/>
          <p:cNvSpPr/>
          <p:nvPr/>
        </p:nvSpPr>
        <p:spPr>
          <a:xfrm>
            <a:off x="822960" y="2697480"/>
            <a:ext cx="1920240" cy="128016"/>
          </a:xfrm>
          <a:prstGeom prst="roundRect">
            <a:avLst>
              <a:gd name="adj" fmla="val 35714"/>
            </a:avLst>
          </a:prstGeom>
          <a:solidFill>
            <a:srgbClr val="2B2B31"/>
          </a:solidFill>
          <a:ln w="12700">
            <a:solidFill>
              <a:srgbClr val="2B2B31"/>
            </a:solidFill>
            <a:prstDash val="solid"/>
          </a:ln>
        </p:spPr>
      </p:sp>
      <p:sp>
        <p:nvSpPr>
          <p:cNvPr id="10" name="bar-28"/>
          <p:cNvSpPr/>
          <p:nvPr/>
        </p:nvSpPr>
        <p:spPr>
          <a:xfrm>
            <a:off x="822960" y="3017520"/>
            <a:ext cx="2651760" cy="128016"/>
          </a:xfrm>
          <a:prstGeom prst="roundRect">
            <a:avLst>
              <a:gd name="adj" fmla="val 35714"/>
            </a:avLst>
          </a:prstGeom>
          <a:solidFill>
            <a:srgbClr val="2B2B31"/>
          </a:solidFill>
          <a:ln w="12700">
            <a:solidFill>
              <a:srgbClr val="2B2B31"/>
            </a:solidFill>
            <a:prstDash val="solid"/>
          </a:ln>
        </p:spPr>
      </p:sp>
      <p:sp>
        <p:nvSpPr>
          <p:cNvPr id="11" name="text-29"/>
          <p:cNvSpPr txBox="1"/>
          <p:nvPr/>
        </p:nvSpPr>
        <p:spPr>
          <a:xfrm>
            <a:off x="822960" y="1435608"/>
            <a:ext cx="1828800" cy="228600"/>
          </a:xfrm>
          <a:prstGeom prst="rect">
            <a:avLst/>
          </a:prstGeom>
          <a:noFill/>
          <a:ln/>
        </p:spPr>
        <p:txBody>
          <a:bodyPr wrap="square" lIns="0" tIns="0" rIns="0" bIns="0" rtlCol="0" anchor="t"/>
          <a:lstStyle/>
          <a:p>
            <a:pPr indent="0" marL="0">
              <a:buNone/>
            </a:pPr>
            <a:r>
              <a:rPr lang="en-US" sz="1100" b="1" dirty="0">
                <a:solidFill>
                  <a:srgbClr val="8E8E96"/>
                </a:solidFill>
                <a:latin typeface="Inter" pitchFamily="34" charset="0"/>
                <a:ea typeface="Inter" pitchFamily="34" charset="-122"/>
                <a:cs typeface="Inter" pitchFamily="34" charset="-120"/>
              </a:rPr>
              <a:t>program</a:t>
            </a:r>
            <a:endParaRPr lang="en-US" sz="1100" dirty="0"/>
          </a:p>
        </p:txBody>
      </p:sp>
      <p:sp>
        <p:nvSpPr>
          <p:cNvPr id="12" name="arrow-30"/>
          <p:cNvSpPr/>
          <p:nvPr/>
        </p:nvSpPr>
        <p:spPr>
          <a:xfrm>
            <a:off x="4846320" y="2423160"/>
            <a:ext cx="1188720" cy="0"/>
          </a:xfrm>
          <a:prstGeom prst="line">
            <a:avLst/>
          </a:prstGeom>
          <a:noFill/>
          <a:ln w="31750">
            <a:solidFill>
              <a:srgbClr val="22D3EE"/>
            </a:solidFill>
            <a:prstDash val="solid"/>
            <a:tailEnd type="triangle"/>
          </a:ln>
        </p:spPr>
      </p:sp>
      <p:sp>
        <p:nvSpPr>
          <p:cNvPr id="13" name="panel-31"/>
          <p:cNvSpPr/>
          <p:nvPr/>
        </p:nvSpPr>
        <p:spPr>
          <a:xfrm>
            <a:off x="6126480" y="1417320"/>
            <a:ext cx="3383280" cy="2011680"/>
          </a:xfrm>
          <a:prstGeom prst="roundRect">
            <a:avLst>
              <a:gd name="adj" fmla="val 3636"/>
            </a:avLst>
          </a:prstGeom>
          <a:solidFill>
            <a:srgbClr val="121214"/>
          </a:solidFill>
          <a:ln w="12700">
            <a:solidFill>
              <a:srgbClr val="121214"/>
            </a:solidFill>
            <a:prstDash val="solid"/>
          </a:ln>
        </p:spPr>
      </p:sp>
      <p:sp>
        <p:nvSpPr>
          <p:cNvPr id="14" name="text-32"/>
          <p:cNvSpPr txBox="1"/>
          <p:nvPr/>
        </p:nvSpPr>
        <p:spPr>
          <a:xfrm>
            <a:off x="6355080" y="1645920"/>
            <a:ext cx="2926080" cy="365760"/>
          </a:xfrm>
          <a:prstGeom prst="rect">
            <a:avLst/>
          </a:prstGeom>
          <a:noFill/>
          <a:ln/>
        </p:spPr>
        <p:txBody>
          <a:bodyPr wrap="square" lIns="0" tIns="0" rIns="0" bIns="0" rtlCol="0" anchor="t"/>
          <a:lstStyle/>
          <a:p>
            <a:pPr indent="0" marL="0">
              <a:buNone/>
            </a:pPr>
            <a:r>
              <a:rPr lang="en-US" sz="1800" dirty="0">
                <a:solidFill>
                  <a:srgbClr val="8E8E96"/>
                </a:solidFill>
                <a:latin typeface="Consolas" pitchFamily="34" charset="0"/>
                <a:ea typeface="Consolas" pitchFamily="34" charset="-122"/>
                <a:cs typeface="Consolas" pitchFamily="34" charset="-120"/>
              </a:rPr>
              <a:t>total</a:t>
            </a:r>
            <a:endParaRPr lang="en-US" sz="1800" dirty="0"/>
          </a:p>
        </p:txBody>
      </p:sp>
      <p:sp>
        <p:nvSpPr>
          <p:cNvPr id="15" name="text-33"/>
          <p:cNvSpPr txBox="1"/>
          <p:nvPr/>
        </p:nvSpPr>
        <p:spPr>
          <a:xfrm>
            <a:off x="6355080" y="2103120"/>
            <a:ext cx="2926080" cy="822960"/>
          </a:xfrm>
          <a:prstGeom prst="rect">
            <a:avLst/>
          </a:prstGeom>
          <a:noFill/>
          <a:ln/>
        </p:spPr>
        <p:txBody>
          <a:bodyPr wrap="square" lIns="0" tIns="0" rIns="0" bIns="0" rtlCol="0" anchor="t"/>
          <a:lstStyle/>
          <a:p>
            <a:pPr indent="0" marL="0">
              <a:buNone/>
            </a:pPr>
            <a:r>
              <a:rPr lang="en-US" sz="4800" b="1" dirty="0">
                <a:solidFill>
                  <a:srgbClr val="ECECEE"/>
                </a:solidFill>
                <a:latin typeface="Consolas" pitchFamily="34" charset="0"/>
                <a:ea typeface="Consolas" pitchFamily="34" charset="-122"/>
                <a:cs typeface="Consolas" pitchFamily="34" charset="-120"/>
              </a:rPr>
              <a:t>88.375</a:t>
            </a:r>
            <a:endParaRPr lang="en-US" sz="4800" dirty="0"/>
          </a:p>
        </p:txBody>
      </p:sp>
      <p:sp>
        <p:nvSpPr>
          <p:cNvPr id="16" name="text-34"/>
          <p:cNvSpPr txBox="1"/>
          <p:nvPr/>
        </p:nvSpPr>
        <p:spPr>
          <a:xfrm>
            <a:off x="9829800" y="1325880"/>
            <a:ext cx="1645920" cy="2194560"/>
          </a:xfrm>
          <a:prstGeom prst="rect">
            <a:avLst/>
          </a:prstGeom>
          <a:noFill/>
          <a:ln/>
        </p:spPr>
        <p:txBody>
          <a:bodyPr wrap="square" lIns="0" tIns="0" rIns="0" bIns="0" rtlCol="0" anchor="ctr"/>
          <a:lstStyle/>
          <a:p>
            <a:pPr algn="ctr" indent="0" marL="0">
              <a:buNone/>
            </a:pPr>
            <a:r>
              <a:rPr lang="en-US" sz="12000" b="1" dirty="0">
                <a:solidFill>
                  <a:srgbClr val="22D3EE"/>
                </a:solidFill>
                <a:latin typeface="Inter" pitchFamily="34" charset="0"/>
                <a:ea typeface="Inter" pitchFamily="34" charset="-122"/>
                <a:cs typeface="Inter" pitchFamily="34" charset="-120"/>
              </a:rPr>
              <a:t>?</a:t>
            </a:r>
            <a:endParaRPr lang="en-US" sz="12000" dirty="0"/>
          </a:p>
        </p:txBody>
      </p:sp>
      <p:sp>
        <p:nvSpPr>
          <p:cNvPr id="17" name="card-35"/>
          <p:cNvSpPr/>
          <p:nvPr/>
        </p:nvSpPr>
        <p:spPr>
          <a:xfrm>
            <a:off x="548640" y="3931920"/>
            <a:ext cx="3593592" cy="2011680"/>
          </a:xfrm>
          <a:prstGeom prst="roundRect">
            <a:avLst>
              <a:gd name="adj" fmla="val 3636"/>
            </a:avLst>
          </a:prstGeom>
          <a:solidFill>
            <a:srgbClr val="121214"/>
          </a:solidFill>
          <a:ln w="12700">
            <a:solidFill>
              <a:srgbClr val="2B2B31"/>
            </a:solidFill>
            <a:prstDash val="solid"/>
          </a:ln>
        </p:spPr>
      </p:sp>
      <p:sp>
        <p:nvSpPr>
          <p:cNvPr id="18" name="text-36"/>
          <p:cNvSpPr txBox="1"/>
          <p:nvPr/>
        </p:nvSpPr>
        <p:spPr>
          <a:xfrm>
            <a:off x="822960" y="4114800"/>
            <a:ext cx="548640" cy="731520"/>
          </a:xfrm>
          <a:prstGeom prst="rect">
            <a:avLst/>
          </a:prstGeom>
          <a:noFill/>
          <a:ln/>
        </p:spPr>
        <p:txBody>
          <a:bodyPr wrap="square" lIns="0" tIns="0" rIns="0" bIns="0" rtlCol="0" anchor="t"/>
          <a:lstStyle/>
          <a:p>
            <a:pPr indent="0" marL="0">
              <a:buNone/>
            </a:pPr>
            <a:r>
              <a:rPr lang="en-US" sz="4000" b="1" dirty="0">
                <a:solidFill>
                  <a:srgbClr val="22D3EE"/>
                </a:solidFill>
                <a:latin typeface="Inter" pitchFamily="34" charset="0"/>
                <a:ea typeface="Inter" pitchFamily="34" charset="-122"/>
                <a:cs typeface="Inter" pitchFamily="34" charset="-120"/>
              </a:rPr>
              <a:t>1</a:t>
            </a:r>
            <a:endParaRPr lang="en-US" sz="4000" dirty="0"/>
          </a:p>
        </p:txBody>
      </p:sp>
      <p:sp>
        <p:nvSpPr>
          <p:cNvPr id="19" name="text-37"/>
          <p:cNvSpPr txBox="1"/>
          <p:nvPr/>
        </p:nvSpPr>
        <p:spPr>
          <a:xfrm>
            <a:off x="822960" y="4846320"/>
            <a:ext cx="3108960" cy="777240"/>
          </a:xfrm>
          <a:prstGeom prst="rect">
            <a:avLst/>
          </a:prstGeom>
          <a:noFill/>
          <a:ln/>
        </p:spPr>
        <p:txBody>
          <a:bodyPr wrap="square" lIns="0" tIns="0" rIns="0" bIns="0" rtlCol="0" anchor="t"/>
          <a:lstStyle/>
          <a:p>
            <a:pPr indent="0" marL="0">
              <a:buNone/>
            </a:pPr>
            <a:r>
              <a:rPr lang="en-US" sz="2000" b="1" dirty="0">
                <a:solidFill>
                  <a:srgbClr val="ECECEE"/>
                </a:solidFill>
                <a:latin typeface="Inter" pitchFamily="34" charset="0"/>
                <a:ea typeface="Inter" pitchFamily="34" charset="-122"/>
                <a:cs typeface="Inter" pitchFamily="34" charset="-120"/>
              </a:rPr>
              <a:t>Why did this result occur?</a:t>
            </a:r>
            <a:endParaRPr lang="en-US" sz="2000" dirty="0"/>
          </a:p>
        </p:txBody>
      </p:sp>
      <p:sp>
        <p:nvSpPr>
          <p:cNvPr id="20" name="card-38"/>
          <p:cNvSpPr/>
          <p:nvPr/>
        </p:nvSpPr>
        <p:spPr>
          <a:xfrm>
            <a:off x="4297680" y="3931920"/>
            <a:ext cx="3593592" cy="2011680"/>
          </a:xfrm>
          <a:prstGeom prst="roundRect">
            <a:avLst>
              <a:gd name="adj" fmla="val 3636"/>
            </a:avLst>
          </a:prstGeom>
          <a:solidFill>
            <a:srgbClr val="121214"/>
          </a:solidFill>
          <a:ln w="12700">
            <a:solidFill>
              <a:srgbClr val="2B2B31"/>
            </a:solidFill>
            <a:prstDash val="solid"/>
          </a:ln>
        </p:spPr>
      </p:sp>
      <p:sp>
        <p:nvSpPr>
          <p:cNvPr id="21" name="text-39"/>
          <p:cNvSpPr txBox="1"/>
          <p:nvPr/>
        </p:nvSpPr>
        <p:spPr>
          <a:xfrm>
            <a:off x="4572000" y="4114800"/>
            <a:ext cx="548640" cy="731520"/>
          </a:xfrm>
          <a:prstGeom prst="rect">
            <a:avLst/>
          </a:prstGeom>
          <a:noFill/>
          <a:ln/>
        </p:spPr>
        <p:txBody>
          <a:bodyPr wrap="square" lIns="0" tIns="0" rIns="0" bIns="0" rtlCol="0" anchor="t"/>
          <a:lstStyle/>
          <a:p>
            <a:pPr indent="0" marL="0">
              <a:buNone/>
            </a:pPr>
            <a:r>
              <a:rPr lang="en-US" sz="4000" b="1" dirty="0">
                <a:solidFill>
                  <a:srgbClr val="22D3EE"/>
                </a:solidFill>
                <a:latin typeface="Inter" pitchFamily="34" charset="0"/>
                <a:ea typeface="Inter" pitchFamily="34" charset="-122"/>
                <a:cs typeface="Inter" pitchFamily="34" charset="-120"/>
              </a:rPr>
              <a:t>2</a:t>
            </a:r>
            <a:endParaRPr lang="en-US" sz="4000" dirty="0"/>
          </a:p>
        </p:txBody>
      </p:sp>
      <p:sp>
        <p:nvSpPr>
          <p:cNvPr id="22" name="text-40"/>
          <p:cNvSpPr txBox="1"/>
          <p:nvPr/>
        </p:nvSpPr>
        <p:spPr>
          <a:xfrm>
            <a:off x="4572000" y="4846320"/>
            <a:ext cx="3108960" cy="777240"/>
          </a:xfrm>
          <a:prstGeom prst="rect">
            <a:avLst/>
          </a:prstGeom>
          <a:noFill/>
          <a:ln/>
        </p:spPr>
        <p:txBody>
          <a:bodyPr wrap="square" lIns="0" tIns="0" rIns="0" bIns="0" rtlCol="0" anchor="t"/>
          <a:lstStyle/>
          <a:p>
            <a:pPr indent="0" marL="0">
              <a:buNone/>
            </a:pPr>
            <a:r>
              <a:rPr lang="en-US" sz="2000" b="1" dirty="0">
                <a:solidFill>
                  <a:srgbClr val="ECECEE"/>
                </a:solidFill>
                <a:latin typeface="Inter" pitchFamily="34" charset="0"/>
                <a:ea typeface="Inter" pitchFamily="34" charset="-122"/>
                <a:cs typeface="Inter" pitchFamily="34" charset="-120"/>
              </a:rPr>
              <a:t>What depends on this input?</a:t>
            </a:r>
            <a:endParaRPr lang="en-US" sz="2000" dirty="0"/>
          </a:p>
        </p:txBody>
      </p:sp>
      <p:sp>
        <p:nvSpPr>
          <p:cNvPr id="23" name="card-41"/>
          <p:cNvSpPr/>
          <p:nvPr/>
        </p:nvSpPr>
        <p:spPr>
          <a:xfrm>
            <a:off x="8046720" y="3931920"/>
            <a:ext cx="3593592" cy="2011680"/>
          </a:xfrm>
          <a:prstGeom prst="roundRect">
            <a:avLst>
              <a:gd name="adj" fmla="val 3636"/>
            </a:avLst>
          </a:prstGeom>
          <a:solidFill>
            <a:srgbClr val="121214"/>
          </a:solidFill>
          <a:ln w="12700">
            <a:solidFill>
              <a:srgbClr val="2B2B31"/>
            </a:solidFill>
            <a:prstDash val="solid"/>
          </a:ln>
        </p:spPr>
      </p:sp>
      <p:sp>
        <p:nvSpPr>
          <p:cNvPr id="24" name="text-42"/>
          <p:cNvSpPr txBox="1"/>
          <p:nvPr/>
        </p:nvSpPr>
        <p:spPr>
          <a:xfrm>
            <a:off x="8321040" y="4114800"/>
            <a:ext cx="548640" cy="731520"/>
          </a:xfrm>
          <a:prstGeom prst="rect">
            <a:avLst/>
          </a:prstGeom>
          <a:noFill/>
          <a:ln/>
        </p:spPr>
        <p:txBody>
          <a:bodyPr wrap="square" lIns="0" tIns="0" rIns="0" bIns="0" rtlCol="0" anchor="t"/>
          <a:lstStyle/>
          <a:p>
            <a:pPr indent="0" marL="0">
              <a:buNone/>
            </a:pPr>
            <a:r>
              <a:rPr lang="en-US" sz="4000" b="1" dirty="0">
                <a:solidFill>
                  <a:srgbClr val="22D3EE"/>
                </a:solidFill>
                <a:latin typeface="Inter" pitchFamily="34" charset="0"/>
                <a:ea typeface="Inter" pitchFamily="34" charset="-122"/>
                <a:cs typeface="Inter" pitchFamily="34" charset="-120"/>
              </a:rPr>
              <a:t>3</a:t>
            </a:r>
            <a:endParaRPr lang="en-US" sz="4000" dirty="0"/>
          </a:p>
        </p:txBody>
      </p:sp>
      <p:sp>
        <p:nvSpPr>
          <p:cNvPr id="25" name="text-43"/>
          <p:cNvSpPr txBox="1"/>
          <p:nvPr/>
        </p:nvSpPr>
        <p:spPr>
          <a:xfrm>
            <a:off x="8321040" y="4846320"/>
            <a:ext cx="3108960" cy="777240"/>
          </a:xfrm>
          <a:prstGeom prst="rect">
            <a:avLst/>
          </a:prstGeom>
          <a:noFill/>
          <a:ln/>
        </p:spPr>
        <p:txBody>
          <a:bodyPr wrap="square" lIns="0" tIns="0" rIns="0" bIns="0" rtlCol="0" anchor="t"/>
          <a:lstStyle/>
          <a:p>
            <a:pPr indent="0" marL="0">
              <a:buNone/>
            </a:pPr>
            <a:r>
              <a:rPr lang="en-US" sz="2000" b="1" dirty="0">
                <a:solidFill>
                  <a:srgbClr val="ECECEE"/>
                </a:solidFill>
                <a:latin typeface="Inter" pitchFamily="34" charset="0"/>
                <a:ea typeface="Inter" pitchFamily="34" charset="-122"/>
                <a:cs typeface="Inter" pitchFamily="34" charset="-120"/>
              </a:rPr>
              <a:t>What changes if this value changes?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Objectives: dependencies as a language feature</a:t>
            </a:r>
            <a:endParaRPr lang="en-US" sz="2800" dirty="0"/>
          </a:p>
        </p:txBody>
      </p:sp>
      <p:sp>
        <p:nvSpPr>
          <p:cNvPr id="3" name="text-4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Problem and idea</a:t>
            </a:r>
            <a:endParaRPr lang="en-US" sz="1000" dirty="0"/>
          </a:p>
        </p:txBody>
      </p:sp>
      <p:sp>
        <p:nvSpPr>
          <p:cNvPr id="5" name="text-45"/>
          <p:cNvSpPr txBox="1"/>
          <p:nvPr/>
        </p:nvSpPr>
        <p:spPr>
          <a:xfrm>
            <a:off x="548640" y="1280160"/>
            <a:ext cx="11064240" cy="365760"/>
          </a:xfrm>
          <a:prstGeom prst="rect">
            <a:avLst/>
          </a:prstGeom>
          <a:noFill/>
          <a:ln/>
        </p:spPr>
        <p:txBody>
          <a:bodyPr wrap="square" lIns="0" tIns="0" rIns="0" bIns="0" rtlCol="0" anchor="t"/>
          <a:lstStyle/>
          <a:p>
            <a:pPr indent="0" marL="0">
              <a:buNone/>
            </a:pPr>
            <a:r>
              <a:rPr lang="en-US" sz="1800" b="1" dirty="0">
                <a:solidFill>
                  <a:srgbClr val="22D3EE"/>
                </a:solidFill>
                <a:latin typeface="Inter" pitchFamily="34" charset="0"/>
                <a:ea typeface="Inter" pitchFamily="34" charset="-122"/>
                <a:cs typeface="Inter" pitchFamily="34" charset="-120"/>
              </a:rPr>
              <a:t>Motivation  </a:t>
            </a:r>
            <a:pPr indent="0" marL="0">
              <a:buNone/>
            </a:pPr>
            <a:r>
              <a:rPr lang="en-US" sz="1800" dirty="0">
                <a:solidFill>
                  <a:srgbClr val="ECECEE"/>
                </a:solidFill>
                <a:latin typeface="Inter" pitchFamily="34" charset="0"/>
                <a:ea typeface="Inter" pitchFamily="34" charset="-122"/>
                <a:cs typeface="Inter" pitchFamily="34" charset="-120"/>
              </a:rPr>
              <a:t>Understanding a computed value usually means tracing code by hand.</a:t>
            </a:r>
            <a:endParaRPr lang="en-US" sz="1800" dirty="0"/>
          </a:p>
        </p:txBody>
      </p:sp>
      <p:sp>
        <p:nvSpPr>
          <p:cNvPr id="6" name="card-46"/>
          <p:cNvSpPr/>
          <p:nvPr/>
        </p:nvSpPr>
        <p:spPr>
          <a:xfrm>
            <a:off x="548640" y="1920240"/>
            <a:ext cx="2103120" cy="4023360"/>
          </a:xfrm>
          <a:prstGeom prst="roundRect">
            <a:avLst>
              <a:gd name="adj" fmla="val 3478"/>
            </a:avLst>
          </a:prstGeom>
          <a:solidFill>
            <a:srgbClr val="121214"/>
          </a:solidFill>
          <a:ln w="12700">
            <a:solidFill>
              <a:srgbClr val="2B2B31"/>
            </a:solidFill>
            <a:prstDash val="solid"/>
          </a:ln>
        </p:spPr>
      </p:sp>
      <p:sp>
        <p:nvSpPr>
          <p:cNvPr id="7" name="badge-47"/>
          <p:cNvSpPr/>
          <p:nvPr/>
        </p:nvSpPr>
        <p:spPr>
          <a:xfrm>
            <a:off x="777240" y="2148840"/>
            <a:ext cx="502920" cy="502920"/>
          </a:xfrm>
          <a:prstGeom prst="ellipse">
            <a:avLst/>
          </a:prstGeom>
          <a:solidFill>
            <a:srgbClr val="09090A"/>
          </a:solidFill>
          <a:ln w="19050">
            <a:solidFill>
              <a:srgbClr val="22D3EE"/>
            </a:solidFill>
            <a:prstDash val="solid"/>
          </a:ln>
        </p:spPr>
      </p:sp>
      <p:sp>
        <p:nvSpPr>
          <p:cNvPr id="8" name="text-48"/>
          <p:cNvSpPr txBox="1"/>
          <p:nvPr/>
        </p:nvSpPr>
        <p:spPr>
          <a:xfrm>
            <a:off x="777240" y="214884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Inter" pitchFamily="34" charset="0"/>
                <a:ea typeface="Inter" pitchFamily="34" charset="-122"/>
                <a:cs typeface="Inter" pitchFamily="34" charset="-120"/>
              </a:rPr>
              <a:t>1</a:t>
            </a:r>
            <a:endParaRPr lang="en-US" sz="1800" dirty="0"/>
          </a:p>
        </p:txBody>
      </p:sp>
      <p:sp>
        <p:nvSpPr>
          <p:cNvPr id="9" name="text-49"/>
          <p:cNvSpPr txBox="1"/>
          <p:nvPr/>
        </p:nvSpPr>
        <p:spPr>
          <a:xfrm>
            <a:off x="777240" y="2880360"/>
            <a:ext cx="1645920" cy="10058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Source-level dependency awareness</a:t>
            </a:r>
            <a:endParaRPr lang="en-US" sz="1800" dirty="0"/>
          </a:p>
        </p:txBody>
      </p:sp>
      <p:sp>
        <p:nvSpPr>
          <p:cNvPr id="10" name="text-50"/>
          <p:cNvSpPr txBox="1"/>
          <p:nvPr/>
        </p:nvSpPr>
        <p:spPr>
          <a:xfrm>
            <a:off x="777240" y="3931920"/>
            <a:ext cx="1645920" cy="1234440"/>
          </a:xfrm>
          <a:prstGeom prst="rect">
            <a:avLst/>
          </a:prstGeom>
          <a:noFill/>
          <a:ln/>
        </p:spPr>
        <p:txBody>
          <a:bodyPr wrap="square" lIns="0" tIns="0" rIns="0" bIns="0" rtlCol="0" anchor="t"/>
          <a:lstStyle/>
          <a:p>
            <a:pPr indent="0" marL="0">
              <a:buNone/>
            </a:pPr>
            <a:r>
              <a:rPr lang="en-US" sz="1400" dirty="0">
                <a:solidFill>
                  <a:srgbClr val="7C7C84"/>
                </a:solidFill>
                <a:latin typeface="Inter" pitchFamily="34" charset="0"/>
                <a:ea typeface="Inter" pitchFamily="34" charset="-122"/>
                <a:cs typeface="Inter" pitchFamily="34" charset="-120"/>
              </a:rPr>
              <a:t>Each binding records the names its expression uses.</a:t>
            </a:r>
            <a:endParaRPr lang="en-US" sz="1400" dirty="0"/>
          </a:p>
        </p:txBody>
      </p:sp>
      <p:sp>
        <p:nvSpPr>
          <p:cNvPr id="11" name="chip-51"/>
          <p:cNvSpPr/>
          <p:nvPr/>
        </p:nvSpPr>
        <p:spPr>
          <a:xfrm>
            <a:off x="777240" y="5166360"/>
            <a:ext cx="1371600" cy="274320"/>
          </a:xfrm>
          <a:prstGeom prst="roundRect">
            <a:avLst>
              <a:gd name="adj" fmla="val 50000"/>
            </a:avLst>
          </a:prstGeom>
          <a:solidFill>
            <a:srgbClr val="121214"/>
          </a:solidFill>
          <a:ln w="12700">
            <a:solidFill>
              <a:srgbClr val="2DD4BF"/>
            </a:solidFill>
            <a:prstDash val="solid"/>
          </a:ln>
        </p:spPr>
      </p:sp>
      <p:sp>
        <p:nvSpPr>
          <p:cNvPr id="12" name="text-52"/>
          <p:cNvSpPr txBox="1"/>
          <p:nvPr/>
        </p:nvSpPr>
        <p:spPr>
          <a:xfrm>
            <a:off x="777240" y="5166360"/>
            <a:ext cx="1371600" cy="274320"/>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 Implemented</a:t>
            </a:r>
            <a:endParaRPr lang="en-US" sz="1100" dirty="0"/>
          </a:p>
        </p:txBody>
      </p:sp>
      <p:sp>
        <p:nvSpPr>
          <p:cNvPr id="13" name="text-53"/>
          <p:cNvSpPr txBox="1"/>
          <p:nvPr/>
        </p:nvSpPr>
        <p:spPr>
          <a:xfrm>
            <a:off x="777240" y="553212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semantic.py · ir.py</a:t>
            </a:r>
            <a:endParaRPr lang="en-US" sz="1100" dirty="0"/>
          </a:p>
        </p:txBody>
      </p:sp>
      <p:sp>
        <p:nvSpPr>
          <p:cNvPr id="14" name="card-54"/>
          <p:cNvSpPr/>
          <p:nvPr/>
        </p:nvSpPr>
        <p:spPr>
          <a:xfrm>
            <a:off x="2788920" y="1920240"/>
            <a:ext cx="2103120" cy="4023360"/>
          </a:xfrm>
          <a:prstGeom prst="roundRect">
            <a:avLst>
              <a:gd name="adj" fmla="val 3478"/>
            </a:avLst>
          </a:prstGeom>
          <a:solidFill>
            <a:srgbClr val="121214"/>
          </a:solidFill>
          <a:ln w="12700">
            <a:solidFill>
              <a:srgbClr val="2B2B31"/>
            </a:solidFill>
            <a:prstDash val="solid"/>
          </a:ln>
        </p:spPr>
      </p:sp>
      <p:sp>
        <p:nvSpPr>
          <p:cNvPr id="15" name="badge-55"/>
          <p:cNvSpPr/>
          <p:nvPr/>
        </p:nvSpPr>
        <p:spPr>
          <a:xfrm>
            <a:off x="3017520" y="2148840"/>
            <a:ext cx="502920" cy="502920"/>
          </a:xfrm>
          <a:prstGeom prst="ellipse">
            <a:avLst/>
          </a:prstGeom>
          <a:solidFill>
            <a:srgbClr val="09090A"/>
          </a:solidFill>
          <a:ln w="19050">
            <a:solidFill>
              <a:srgbClr val="22D3EE"/>
            </a:solidFill>
            <a:prstDash val="solid"/>
          </a:ln>
        </p:spPr>
      </p:sp>
      <p:sp>
        <p:nvSpPr>
          <p:cNvPr id="16" name="text-56"/>
          <p:cNvSpPr txBox="1"/>
          <p:nvPr/>
        </p:nvSpPr>
        <p:spPr>
          <a:xfrm>
            <a:off x="3017520" y="214884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Inter" pitchFamily="34" charset="0"/>
                <a:ea typeface="Inter" pitchFamily="34" charset="-122"/>
                <a:cs typeface="Inter" pitchFamily="34" charset="-120"/>
              </a:rPr>
              <a:t>2</a:t>
            </a:r>
            <a:endParaRPr lang="en-US" sz="1800" dirty="0"/>
          </a:p>
        </p:txBody>
      </p:sp>
      <p:sp>
        <p:nvSpPr>
          <p:cNvPr id="17" name="text-57"/>
          <p:cNvSpPr txBox="1"/>
          <p:nvPr/>
        </p:nvSpPr>
        <p:spPr>
          <a:xfrm>
            <a:off x="3017520" y="2880360"/>
            <a:ext cx="1645920" cy="10058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Explainable calculations</a:t>
            </a:r>
            <a:endParaRPr lang="en-US" sz="1800" dirty="0"/>
          </a:p>
        </p:txBody>
      </p:sp>
      <p:sp>
        <p:nvSpPr>
          <p:cNvPr id="18" name="text-58"/>
          <p:cNvSpPr txBox="1"/>
          <p:nvPr/>
        </p:nvSpPr>
        <p:spPr>
          <a:xfrm>
            <a:off x="3017520" y="3931920"/>
            <a:ext cx="1645920" cy="1234440"/>
          </a:xfrm>
          <a:prstGeom prst="rect">
            <a:avLst/>
          </a:prstGeom>
          <a:noFill/>
          <a:ln/>
        </p:spPr>
        <p:txBody>
          <a:bodyPr wrap="square" lIns="0" tIns="0" rIns="0" bIns="0" rtlCol="0" anchor="t"/>
          <a:lstStyle/>
          <a:p>
            <a:pPr indent="0" marL="0">
              <a:buNone/>
            </a:pPr>
            <a:r>
              <a:rPr lang="en-US" sz="1400" dirty="0">
                <a:solidFill>
                  <a:srgbClr val="7C7C84"/>
                </a:solidFill>
                <a:latin typeface="Inter" pitchFamily="34" charset="0"/>
                <a:ea typeface="Inter" pitchFamily="34" charset="-122"/>
                <a:cs typeface="Inter" pitchFamily="34" charset="-120"/>
              </a:rPr>
              <a:t>explain prints a derivation tree with values and source expressions.</a:t>
            </a:r>
            <a:endParaRPr lang="en-US" sz="1400" dirty="0"/>
          </a:p>
        </p:txBody>
      </p:sp>
      <p:sp>
        <p:nvSpPr>
          <p:cNvPr id="19" name="chip-59"/>
          <p:cNvSpPr/>
          <p:nvPr/>
        </p:nvSpPr>
        <p:spPr>
          <a:xfrm>
            <a:off x="3017520" y="5166360"/>
            <a:ext cx="1371600" cy="274320"/>
          </a:xfrm>
          <a:prstGeom prst="roundRect">
            <a:avLst>
              <a:gd name="adj" fmla="val 50000"/>
            </a:avLst>
          </a:prstGeom>
          <a:solidFill>
            <a:srgbClr val="121214"/>
          </a:solidFill>
          <a:ln w="12700">
            <a:solidFill>
              <a:srgbClr val="2DD4BF"/>
            </a:solidFill>
            <a:prstDash val="solid"/>
          </a:ln>
        </p:spPr>
      </p:sp>
      <p:sp>
        <p:nvSpPr>
          <p:cNvPr id="20" name="text-60"/>
          <p:cNvSpPr txBox="1"/>
          <p:nvPr/>
        </p:nvSpPr>
        <p:spPr>
          <a:xfrm>
            <a:off x="3017520" y="5166360"/>
            <a:ext cx="1371600" cy="274320"/>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 Implemented</a:t>
            </a:r>
            <a:endParaRPr lang="en-US" sz="1100" dirty="0"/>
          </a:p>
        </p:txBody>
      </p:sp>
      <p:sp>
        <p:nvSpPr>
          <p:cNvPr id="21" name="text-61"/>
          <p:cNvSpPr txBox="1"/>
          <p:nvPr/>
        </p:nvSpPr>
        <p:spPr>
          <a:xfrm>
            <a:off x="3017520" y="553212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runtime: causa_explain</a:t>
            </a:r>
            <a:endParaRPr lang="en-US" sz="1100" dirty="0"/>
          </a:p>
        </p:txBody>
      </p:sp>
      <p:sp>
        <p:nvSpPr>
          <p:cNvPr id="22" name="card-62"/>
          <p:cNvSpPr/>
          <p:nvPr/>
        </p:nvSpPr>
        <p:spPr>
          <a:xfrm>
            <a:off x="5029200" y="1920240"/>
            <a:ext cx="2103120" cy="4023360"/>
          </a:xfrm>
          <a:prstGeom prst="roundRect">
            <a:avLst>
              <a:gd name="adj" fmla="val 3478"/>
            </a:avLst>
          </a:prstGeom>
          <a:solidFill>
            <a:srgbClr val="121214"/>
          </a:solidFill>
          <a:ln w="12700">
            <a:solidFill>
              <a:srgbClr val="2B2B31"/>
            </a:solidFill>
            <a:prstDash val="solid"/>
          </a:ln>
        </p:spPr>
      </p:sp>
      <p:sp>
        <p:nvSpPr>
          <p:cNvPr id="23" name="badge-63"/>
          <p:cNvSpPr/>
          <p:nvPr/>
        </p:nvSpPr>
        <p:spPr>
          <a:xfrm>
            <a:off x="5257800" y="2148840"/>
            <a:ext cx="502920" cy="502920"/>
          </a:xfrm>
          <a:prstGeom prst="ellipse">
            <a:avLst/>
          </a:prstGeom>
          <a:solidFill>
            <a:srgbClr val="09090A"/>
          </a:solidFill>
          <a:ln w="19050">
            <a:solidFill>
              <a:srgbClr val="22D3EE"/>
            </a:solidFill>
            <a:prstDash val="solid"/>
          </a:ln>
        </p:spPr>
      </p:sp>
      <p:sp>
        <p:nvSpPr>
          <p:cNvPr id="24" name="text-64"/>
          <p:cNvSpPr txBox="1"/>
          <p:nvPr/>
        </p:nvSpPr>
        <p:spPr>
          <a:xfrm>
            <a:off x="5257800" y="214884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Inter" pitchFamily="34" charset="0"/>
                <a:ea typeface="Inter" pitchFamily="34" charset="-122"/>
                <a:cs typeface="Inter" pitchFamily="34" charset="-120"/>
              </a:rPr>
              <a:t>3</a:t>
            </a:r>
            <a:endParaRPr lang="en-US" sz="1800" dirty="0"/>
          </a:p>
        </p:txBody>
      </p:sp>
      <p:sp>
        <p:nvSpPr>
          <p:cNvPr id="25" name="text-65"/>
          <p:cNvSpPr txBox="1"/>
          <p:nvPr/>
        </p:nvSpPr>
        <p:spPr>
          <a:xfrm>
            <a:off x="5257800" y="2880360"/>
            <a:ext cx="1645920" cy="10058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Impact analysis</a:t>
            </a:r>
            <a:endParaRPr lang="en-US" sz="1800" dirty="0"/>
          </a:p>
        </p:txBody>
      </p:sp>
      <p:sp>
        <p:nvSpPr>
          <p:cNvPr id="26" name="text-66"/>
          <p:cNvSpPr txBox="1"/>
          <p:nvPr/>
        </p:nvSpPr>
        <p:spPr>
          <a:xfrm>
            <a:off x="5257800" y="3931920"/>
            <a:ext cx="1645920" cy="1234440"/>
          </a:xfrm>
          <a:prstGeom prst="rect">
            <a:avLst/>
          </a:prstGeom>
          <a:noFill/>
          <a:ln/>
        </p:spPr>
        <p:txBody>
          <a:bodyPr wrap="square" lIns="0" tIns="0" rIns="0" bIns="0" rtlCol="0" anchor="t"/>
          <a:lstStyle/>
          <a:p>
            <a:pPr indent="0" marL="0">
              <a:buNone/>
            </a:pPr>
            <a:r>
              <a:rPr lang="en-US" sz="1400" dirty="0">
                <a:solidFill>
                  <a:srgbClr val="7C7C84"/>
                </a:solidFill>
                <a:latin typeface="Inter" pitchFamily="34" charset="0"/>
                <a:ea typeface="Inter" pitchFamily="34" charset="-122"/>
                <a:cs typeface="Inter" pitchFamily="34" charset="-120"/>
              </a:rPr>
              <a:t>impact lists direct and all dependents, known statically.</a:t>
            </a:r>
            <a:endParaRPr lang="en-US" sz="1400" dirty="0"/>
          </a:p>
        </p:txBody>
      </p:sp>
      <p:sp>
        <p:nvSpPr>
          <p:cNvPr id="27" name="chip-67"/>
          <p:cNvSpPr/>
          <p:nvPr/>
        </p:nvSpPr>
        <p:spPr>
          <a:xfrm>
            <a:off x="5257800" y="5166360"/>
            <a:ext cx="1371600" cy="274320"/>
          </a:xfrm>
          <a:prstGeom prst="roundRect">
            <a:avLst>
              <a:gd name="adj" fmla="val 50000"/>
            </a:avLst>
          </a:prstGeom>
          <a:solidFill>
            <a:srgbClr val="121214"/>
          </a:solidFill>
          <a:ln w="12700">
            <a:solidFill>
              <a:srgbClr val="2DD4BF"/>
            </a:solidFill>
            <a:prstDash val="solid"/>
          </a:ln>
        </p:spPr>
      </p:sp>
      <p:sp>
        <p:nvSpPr>
          <p:cNvPr id="28" name="text-68"/>
          <p:cNvSpPr txBox="1"/>
          <p:nvPr/>
        </p:nvSpPr>
        <p:spPr>
          <a:xfrm>
            <a:off x="5257800" y="5166360"/>
            <a:ext cx="1371600" cy="274320"/>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 Implemented</a:t>
            </a:r>
            <a:endParaRPr lang="en-US" sz="1100" dirty="0"/>
          </a:p>
        </p:txBody>
      </p:sp>
      <p:sp>
        <p:nvSpPr>
          <p:cNvPr id="29" name="text-69"/>
          <p:cNvSpPr txBox="1"/>
          <p:nvPr/>
        </p:nvSpPr>
        <p:spPr>
          <a:xfrm>
            <a:off x="5257800" y="553212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runtime: causa_impact</a:t>
            </a:r>
            <a:endParaRPr lang="en-US" sz="1100" dirty="0"/>
          </a:p>
        </p:txBody>
      </p:sp>
      <p:sp>
        <p:nvSpPr>
          <p:cNvPr id="30" name="card-70"/>
          <p:cNvSpPr/>
          <p:nvPr/>
        </p:nvSpPr>
        <p:spPr>
          <a:xfrm>
            <a:off x="7269480" y="1920240"/>
            <a:ext cx="2103120" cy="4023360"/>
          </a:xfrm>
          <a:prstGeom prst="roundRect">
            <a:avLst>
              <a:gd name="adj" fmla="val 3478"/>
            </a:avLst>
          </a:prstGeom>
          <a:solidFill>
            <a:srgbClr val="121214"/>
          </a:solidFill>
          <a:ln w="12700">
            <a:solidFill>
              <a:srgbClr val="2B2B31"/>
            </a:solidFill>
            <a:prstDash val="solid"/>
          </a:ln>
        </p:spPr>
      </p:sp>
      <p:sp>
        <p:nvSpPr>
          <p:cNvPr id="31" name="badge-71"/>
          <p:cNvSpPr/>
          <p:nvPr/>
        </p:nvSpPr>
        <p:spPr>
          <a:xfrm>
            <a:off x="7498080" y="2148840"/>
            <a:ext cx="502920" cy="502920"/>
          </a:xfrm>
          <a:prstGeom prst="ellipse">
            <a:avLst/>
          </a:prstGeom>
          <a:solidFill>
            <a:srgbClr val="09090A"/>
          </a:solidFill>
          <a:ln w="19050">
            <a:solidFill>
              <a:srgbClr val="22D3EE"/>
            </a:solidFill>
            <a:prstDash val="solid"/>
          </a:ln>
        </p:spPr>
      </p:sp>
      <p:sp>
        <p:nvSpPr>
          <p:cNvPr id="32" name="text-72"/>
          <p:cNvSpPr txBox="1"/>
          <p:nvPr/>
        </p:nvSpPr>
        <p:spPr>
          <a:xfrm>
            <a:off x="7498080" y="214884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Inter" pitchFamily="34" charset="0"/>
                <a:ea typeface="Inter" pitchFamily="34" charset="-122"/>
                <a:cs typeface="Inter" pitchFamily="34" charset="-120"/>
              </a:rPr>
              <a:t>4</a:t>
            </a:r>
            <a:endParaRPr lang="en-US" sz="1800" dirty="0"/>
          </a:p>
        </p:txBody>
      </p:sp>
      <p:sp>
        <p:nvSpPr>
          <p:cNvPr id="33" name="text-73"/>
          <p:cNvSpPr txBox="1"/>
          <p:nvPr/>
        </p:nvSpPr>
        <p:spPr>
          <a:xfrm>
            <a:off x="7498080" y="2880360"/>
            <a:ext cx="1645920" cy="10058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Isolated what-ifs</a:t>
            </a:r>
            <a:endParaRPr lang="en-US" sz="1800" dirty="0"/>
          </a:p>
        </p:txBody>
      </p:sp>
      <p:sp>
        <p:nvSpPr>
          <p:cNvPr id="34" name="text-74"/>
          <p:cNvSpPr txBox="1"/>
          <p:nvPr/>
        </p:nvSpPr>
        <p:spPr>
          <a:xfrm>
            <a:off x="7498080" y="3931920"/>
            <a:ext cx="1645920" cy="1234440"/>
          </a:xfrm>
          <a:prstGeom prst="rect">
            <a:avLst/>
          </a:prstGeom>
          <a:noFill/>
          <a:ln/>
        </p:spPr>
        <p:txBody>
          <a:bodyPr wrap="square" lIns="0" tIns="0" rIns="0" bIns="0" rtlCol="0" anchor="t"/>
          <a:lstStyle/>
          <a:p>
            <a:pPr indent="0" marL="0">
              <a:buNone/>
            </a:pPr>
            <a:r>
              <a:rPr lang="en-US" sz="1400" dirty="0">
                <a:solidFill>
                  <a:srgbClr val="7C7C84"/>
                </a:solidFill>
                <a:latin typeface="Inter" pitchFamily="34" charset="0"/>
                <a:ea typeface="Inter" pitchFamily="34" charset="-122"/>
                <a:cs typeface="Inter" pitchFamily="34" charset="-120"/>
              </a:rPr>
              <a:t>whatif recomputes in a separate environment; real values stay.</a:t>
            </a:r>
            <a:endParaRPr lang="en-US" sz="1400" dirty="0"/>
          </a:p>
        </p:txBody>
      </p:sp>
      <p:sp>
        <p:nvSpPr>
          <p:cNvPr id="35" name="chip-75"/>
          <p:cNvSpPr/>
          <p:nvPr/>
        </p:nvSpPr>
        <p:spPr>
          <a:xfrm>
            <a:off x="7498080" y="5166360"/>
            <a:ext cx="1371600" cy="274320"/>
          </a:xfrm>
          <a:prstGeom prst="roundRect">
            <a:avLst>
              <a:gd name="adj" fmla="val 50000"/>
            </a:avLst>
          </a:prstGeom>
          <a:solidFill>
            <a:srgbClr val="121214"/>
          </a:solidFill>
          <a:ln w="12700">
            <a:solidFill>
              <a:srgbClr val="2DD4BF"/>
            </a:solidFill>
            <a:prstDash val="solid"/>
          </a:ln>
        </p:spPr>
      </p:sp>
      <p:sp>
        <p:nvSpPr>
          <p:cNvPr id="36" name="text-76"/>
          <p:cNvSpPr txBox="1"/>
          <p:nvPr/>
        </p:nvSpPr>
        <p:spPr>
          <a:xfrm>
            <a:off x="7498080" y="5166360"/>
            <a:ext cx="1371600" cy="274320"/>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 Implemented</a:t>
            </a:r>
            <a:endParaRPr lang="en-US" sz="1100" dirty="0"/>
          </a:p>
        </p:txBody>
      </p:sp>
      <p:sp>
        <p:nvSpPr>
          <p:cNvPr id="37" name="text-77"/>
          <p:cNvSpPr txBox="1"/>
          <p:nvPr/>
        </p:nvSpPr>
        <p:spPr>
          <a:xfrm>
            <a:off x="7498080" y="553212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runtime: causa_whatif</a:t>
            </a:r>
            <a:endParaRPr lang="en-US" sz="1100" dirty="0"/>
          </a:p>
        </p:txBody>
      </p:sp>
      <p:sp>
        <p:nvSpPr>
          <p:cNvPr id="38" name="card-78"/>
          <p:cNvSpPr/>
          <p:nvPr/>
        </p:nvSpPr>
        <p:spPr>
          <a:xfrm>
            <a:off x="9509760" y="1920240"/>
            <a:ext cx="2103120" cy="4023360"/>
          </a:xfrm>
          <a:prstGeom prst="roundRect">
            <a:avLst>
              <a:gd name="adj" fmla="val 3478"/>
            </a:avLst>
          </a:prstGeom>
          <a:solidFill>
            <a:srgbClr val="121214"/>
          </a:solidFill>
          <a:ln w="12700">
            <a:solidFill>
              <a:srgbClr val="2B2B31"/>
            </a:solidFill>
            <a:prstDash val="solid"/>
          </a:ln>
        </p:spPr>
      </p:sp>
      <p:sp>
        <p:nvSpPr>
          <p:cNvPr id="39" name="badge-79"/>
          <p:cNvSpPr/>
          <p:nvPr/>
        </p:nvSpPr>
        <p:spPr>
          <a:xfrm>
            <a:off x="9738360" y="2148840"/>
            <a:ext cx="502920" cy="502920"/>
          </a:xfrm>
          <a:prstGeom prst="ellipse">
            <a:avLst/>
          </a:prstGeom>
          <a:solidFill>
            <a:srgbClr val="09090A"/>
          </a:solidFill>
          <a:ln w="19050">
            <a:solidFill>
              <a:srgbClr val="22D3EE"/>
            </a:solidFill>
            <a:prstDash val="solid"/>
          </a:ln>
        </p:spPr>
      </p:sp>
      <p:sp>
        <p:nvSpPr>
          <p:cNvPr id="40" name="text-80"/>
          <p:cNvSpPr txBox="1"/>
          <p:nvPr/>
        </p:nvSpPr>
        <p:spPr>
          <a:xfrm>
            <a:off x="9738360" y="214884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Inter" pitchFamily="34" charset="0"/>
                <a:ea typeface="Inter" pitchFamily="34" charset="-122"/>
                <a:cs typeface="Inter" pitchFamily="34" charset="-120"/>
              </a:rPr>
              <a:t>5</a:t>
            </a:r>
            <a:endParaRPr lang="en-US" sz="1800" dirty="0"/>
          </a:p>
        </p:txBody>
      </p:sp>
      <p:sp>
        <p:nvSpPr>
          <p:cNvPr id="41" name="text-81"/>
          <p:cNvSpPr txBox="1"/>
          <p:nvPr/>
        </p:nvSpPr>
        <p:spPr>
          <a:xfrm>
            <a:off x="9738360" y="2880360"/>
            <a:ext cx="1645920" cy="10058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Native executables</a:t>
            </a:r>
            <a:endParaRPr lang="en-US" sz="1800" dirty="0"/>
          </a:p>
        </p:txBody>
      </p:sp>
      <p:sp>
        <p:nvSpPr>
          <p:cNvPr id="42" name="text-82"/>
          <p:cNvSpPr txBox="1"/>
          <p:nvPr/>
        </p:nvSpPr>
        <p:spPr>
          <a:xfrm>
            <a:off x="9738360" y="3931920"/>
            <a:ext cx="1645920" cy="1234440"/>
          </a:xfrm>
          <a:prstGeom prst="rect">
            <a:avLst/>
          </a:prstGeom>
          <a:noFill/>
          <a:ln/>
        </p:spPr>
        <p:txBody>
          <a:bodyPr wrap="square" lIns="0" tIns="0" rIns="0" bIns="0" rtlCol="0" anchor="t"/>
          <a:lstStyle/>
          <a:p>
            <a:pPr indent="0" marL="0">
              <a:buNone/>
            </a:pPr>
            <a:r>
              <a:rPr lang="en-US" sz="1400" dirty="0">
                <a:solidFill>
                  <a:srgbClr val="7C7C84"/>
                </a:solidFill>
                <a:latin typeface="Inter" pitchFamily="34" charset="0"/>
                <a:ea typeface="Inter" pitchFamily="34" charset="-122"/>
                <a:cs typeface="Inter" pitchFamily="34" charset="-120"/>
              </a:rPr>
              <a:t>A Python compiler emits C99; a system C compiler builds the program.</a:t>
            </a:r>
            <a:endParaRPr lang="en-US" sz="1400" dirty="0"/>
          </a:p>
        </p:txBody>
      </p:sp>
      <p:sp>
        <p:nvSpPr>
          <p:cNvPr id="43" name="chip-83"/>
          <p:cNvSpPr/>
          <p:nvPr/>
        </p:nvSpPr>
        <p:spPr>
          <a:xfrm>
            <a:off x="9738360" y="5166360"/>
            <a:ext cx="1371600" cy="274320"/>
          </a:xfrm>
          <a:prstGeom prst="roundRect">
            <a:avLst>
              <a:gd name="adj" fmla="val 50000"/>
            </a:avLst>
          </a:prstGeom>
          <a:solidFill>
            <a:srgbClr val="121214"/>
          </a:solidFill>
          <a:ln w="12700">
            <a:solidFill>
              <a:srgbClr val="2DD4BF"/>
            </a:solidFill>
            <a:prstDash val="solid"/>
          </a:ln>
        </p:spPr>
      </p:sp>
      <p:sp>
        <p:nvSpPr>
          <p:cNvPr id="44" name="text-84"/>
          <p:cNvSpPr txBox="1"/>
          <p:nvPr/>
        </p:nvSpPr>
        <p:spPr>
          <a:xfrm>
            <a:off x="9738360" y="5166360"/>
            <a:ext cx="1371600" cy="274320"/>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 Implemented</a:t>
            </a:r>
            <a:endParaRPr lang="en-US" sz="1100" dirty="0"/>
          </a:p>
        </p:txBody>
      </p:sp>
      <p:sp>
        <p:nvSpPr>
          <p:cNvPr id="45" name="text-85"/>
          <p:cNvSpPr txBox="1"/>
          <p:nvPr/>
        </p:nvSpPr>
        <p:spPr>
          <a:xfrm>
            <a:off x="9738360" y="553212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codegen.py · runtime</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Manual tracing vs built-in operations</a:t>
            </a:r>
            <a:endParaRPr lang="en-US" sz="2800" dirty="0"/>
          </a:p>
        </p:txBody>
      </p:sp>
      <p:sp>
        <p:nvSpPr>
          <p:cNvPr id="3" name="text-86"/>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Problem and idea</a:t>
            </a:r>
            <a:endParaRPr lang="en-US" sz="1000" dirty="0"/>
          </a:p>
        </p:txBody>
      </p:sp>
      <p:sp>
        <p:nvSpPr>
          <p:cNvPr id="5" name="text-87"/>
          <p:cNvSpPr txBox="1"/>
          <p:nvPr/>
        </p:nvSpPr>
        <p:spPr>
          <a:xfrm>
            <a:off x="3566160" y="1325880"/>
            <a:ext cx="3840480" cy="365760"/>
          </a:xfrm>
          <a:prstGeom prst="rect">
            <a:avLst/>
          </a:prstGeom>
          <a:noFill/>
          <a:ln/>
        </p:spPr>
        <p:txBody>
          <a:bodyPr wrap="square" lIns="0" tIns="0" rIns="0" bIns="0" rtlCol="0" anchor="t"/>
          <a:lstStyle/>
          <a:p>
            <a:pPr indent="0" marL="0">
              <a:buNone/>
            </a:pPr>
            <a:r>
              <a:rPr lang="en-US" sz="1600" b="1" dirty="0">
                <a:solidFill>
                  <a:srgbClr val="8E8E96"/>
                </a:solidFill>
                <a:latin typeface="Inter" pitchFamily="34" charset="0"/>
                <a:ea typeface="Inter" pitchFamily="34" charset="-122"/>
                <a:cs typeface="Inter" pitchFamily="34" charset="-120"/>
              </a:rPr>
              <a:t>Conventional workflow</a:t>
            </a:r>
            <a:endParaRPr lang="en-US" sz="1600" dirty="0"/>
          </a:p>
        </p:txBody>
      </p:sp>
      <p:sp>
        <p:nvSpPr>
          <p:cNvPr id="6" name="text-88"/>
          <p:cNvSpPr txBox="1"/>
          <p:nvPr/>
        </p:nvSpPr>
        <p:spPr>
          <a:xfrm>
            <a:off x="7772400" y="1325880"/>
            <a:ext cx="3840480" cy="365760"/>
          </a:xfrm>
          <a:prstGeom prst="rect">
            <a:avLst/>
          </a:prstGeom>
          <a:noFill/>
          <a:ln/>
        </p:spPr>
        <p:txBody>
          <a:bodyPr wrap="square" lIns="0" tIns="0" rIns="0" bIns="0" rtlCol="0" anchor="t"/>
          <a:lstStyle/>
          <a:p>
            <a:pPr indent="0" marL="0">
              <a:buNone/>
            </a:pPr>
            <a:r>
              <a:rPr lang="en-US" sz="1600" b="1" dirty="0">
                <a:solidFill>
                  <a:srgbClr val="22D3EE"/>
                </a:solidFill>
                <a:latin typeface="Inter" pitchFamily="34" charset="0"/>
                <a:ea typeface="Inter" pitchFamily="34" charset="-122"/>
                <a:cs typeface="Inter" pitchFamily="34" charset="-120"/>
              </a:rPr>
              <a:t>CAUSA</a:t>
            </a:r>
            <a:endParaRPr lang="en-US" sz="1600" dirty="0"/>
          </a:p>
        </p:txBody>
      </p:sp>
      <p:sp>
        <p:nvSpPr>
          <p:cNvPr id="7" name="card-89"/>
          <p:cNvSpPr/>
          <p:nvPr/>
        </p:nvSpPr>
        <p:spPr>
          <a:xfrm>
            <a:off x="548640" y="1783080"/>
            <a:ext cx="11091672" cy="914400"/>
          </a:xfrm>
          <a:prstGeom prst="roundRect">
            <a:avLst>
              <a:gd name="adj" fmla="val 8000"/>
            </a:avLst>
          </a:prstGeom>
          <a:solidFill>
            <a:srgbClr val="121214"/>
          </a:solidFill>
          <a:ln w="12700">
            <a:solidFill>
              <a:srgbClr val="2B2B31"/>
            </a:solidFill>
            <a:prstDash val="solid"/>
          </a:ln>
        </p:spPr>
      </p:sp>
      <p:sp>
        <p:nvSpPr>
          <p:cNvPr id="8" name="text-90"/>
          <p:cNvSpPr txBox="1"/>
          <p:nvPr/>
        </p:nvSpPr>
        <p:spPr>
          <a:xfrm>
            <a:off x="777240" y="1783080"/>
            <a:ext cx="2651760" cy="914400"/>
          </a:xfrm>
          <a:prstGeom prst="rect">
            <a:avLst/>
          </a:prstGeom>
          <a:noFill/>
          <a:ln/>
        </p:spPr>
        <p:txBody>
          <a:bodyPr wrap="square" lIns="0" tIns="0" rIns="0" bIns="0" rtlCol="0" anchor="ctr"/>
          <a:lstStyle/>
          <a:p>
            <a:pPr indent="0" marL="0">
              <a:buNone/>
            </a:pPr>
            <a:r>
              <a:rPr lang="en-US" sz="1700" b="1" dirty="0">
                <a:solidFill>
                  <a:srgbClr val="ECECEE"/>
                </a:solidFill>
                <a:latin typeface="Inter" pitchFamily="34" charset="0"/>
                <a:ea typeface="Inter" pitchFamily="34" charset="-122"/>
                <a:cs typeface="Inter" pitchFamily="34" charset="-120"/>
              </a:rPr>
              <a:t>Understand a derivation</a:t>
            </a:r>
            <a:endParaRPr lang="en-US" sz="1700" dirty="0"/>
          </a:p>
        </p:txBody>
      </p:sp>
      <p:sp>
        <p:nvSpPr>
          <p:cNvPr id="9" name="text-91"/>
          <p:cNvSpPr txBox="1"/>
          <p:nvPr/>
        </p:nvSpPr>
        <p:spPr>
          <a:xfrm>
            <a:off x="3566160" y="1783080"/>
            <a:ext cx="3840480" cy="914400"/>
          </a:xfrm>
          <a:prstGeom prst="rect">
            <a:avLst/>
          </a:prstGeom>
          <a:noFill/>
          <a:ln/>
        </p:spPr>
        <p:txBody>
          <a:bodyPr wrap="square" lIns="0" tIns="0" rIns="0" bIns="0" rtlCol="0" anchor="ctr"/>
          <a:lstStyle/>
          <a:p>
            <a:pPr indent="0" marL="0">
              <a:buNone/>
            </a:pPr>
            <a:r>
              <a:rPr lang="en-US" sz="1500" dirty="0">
                <a:solidFill>
                  <a:srgbClr val="8E8E96"/>
                </a:solidFill>
                <a:latin typeface="Inter" pitchFamily="34" charset="0"/>
                <a:ea typeface="Inter" pitchFamily="34" charset="-122"/>
                <a:cs typeface="Inter" pitchFamily="34" charset="-120"/>
              </a:rPr>
              <a:t>Read the code; add prints or step through a debugger</a:t>
            </a:r>
            <a:endParaRPr lang="en-US" sz="1500" dirty="0"/>
          </a:p>
        </p:txBody>
      </p:sp>
      <p:sp>
        <p:nvSpPr>
          <p:cNvPr id="10" name="text-92"/>
          <p:cNvSpPr txBox="1"/>
          <p:nvPr/>
        </p:nvSpPr>
        <p:spPr>
          <a:xfrm>
            <a:off x="7772400" y="1783080"/>
            <a:ext cx="3749040" cy="914400"/>
          </a:xfrm>
          <a:prstGeom prst="rect">
            <a:avLst/>
          </a:prstGeom>
          <a:noFill/>
          <a:ln/>
        </p:spPr>
        <p:txBody>
          <a:bodyPr wrap="square" lIns="0" tIns="0" rIns="0" bIns="0" rtlCol="0" anchor="ctr"/>
          <a:lstStyle/>
          <a:p>
            <a:pPr indent="0" marL="0">
              <a:buNone/>
            </a:pPr>
            <a:r>
              <a:rPr lang="en-US" sz="1500" b="1" dirty="0">
                <a:solidFill>
                  <a:srgbClr val="A78BFA"/>
                </a:solidFill>
                <a:latin typeface="Consolas" pitchFamily="34" charset="0"/>
                <a:ea typeface="Consolas" pitchFamily="34" charset="-122"/>
                <a:cs typeface="Consolas" pitchFamily="34" charset="-120"/>
              </a:rPr>
              <a:t>explain total</a:t>
            </a:r>
            <a:endParaRPr lang="en-US" sz="1600" dirty="0"/>
          </a:p>
          <a:p>
            <a:pPr indent="0" marL="0">
              <a:buNone/>
            </a:pPr>
            <a:r>
              <a:rPr lang="en-US" sz="1400" dirty="0">
                <a:solidFill>
                  <a:srgbClr val="ECECEE"/>
                </a:solidFill>
                <a:latin typeface="Inter" pitchFamily="34" charset="0"/>
                <a:ea typeface="Inter" pitchFamily="34" charset="-122"/>
                <a:cs typeface="Inter" pitchFamily="34" charset="-120"/>
              </a:rPr>
              <a:t>a derivation tree with values and source expressions</a:t>
            </a:r>
            <a:endParaRPr lang="en-US" sz="1600" dirty="0"/>
          </a:p>
        </p:txBody>
      </p:sp>
      <p:sp>
        <p:nvSpPr>
          <p:cNvPr id="11" name="card-93"/>
          <p:cNvSpPr/>
          <p:nvPr/>
        </p:nvSpPr>
        <p:spPr>
          <a:xfrm>
            <a:off x="548640" y="2807208"/>
            <a:ext cx="11091672" cy="914400"/>
          </a:xfrm>
          <a:prstGeom prst="roundRect">
            <a:avLst>
              <a:gd name="adj" fmla="val 8000"/>
            </a:avLst>
          </a:prstGeom>
          <a:solidFill>
            <a:srgbClr val="121214"/>
          </a:solidFill>
          <a:ln w="12700">
            <a:solidFill>
              <a:srgbClr val="2B2B31"/>
            </a:solidFill>
            <a:prstDash val="solid"/>
          </a:ln>
        </p:spPr>
      </p:sp>
      <p:sp>
        <p:nvSpPr>
          <p:cNvPr id="12" name="text-94"/>
          <p:cNvSpPr txBox="1"/>
          <p:nvPr/>
        </p:nvSpPr>
        <p:spPr>
          <a:xfrm>
            <a:off x="777240" y="2807208"/>
            <a:ext cx="2651760" cy="914400"/>
          </a:xfrm>
          <a:prstGeom prst="rect">
            <a:avLst/>
          </a:prstGeom>
          <a:noFill/>
          <a:ln/>
        </p:spPr>
        <p:txBody>
          <a:bodyPr wrap="square" lIns="0" tIns="0" rIns="0" bIns="0" rtlCol="0" anchor="ctr"/>
          <a:lstStyle/>
          <a:p>
            <a:pPr indent="0" marL="0">
              <a:buNone/>
            </a:pPr>
            <a:r>
              <a:rPr lang="en-US" sz="1700" b="1" dirty="0">
                <a:solidFill>
                  <a:srgbClr val="ECECEE"/>
                </a:solidFill>
                <a:latin typeface="Inter" pitchFamily="34" charset="0"/>
                <a:ea typeface="Inter" pitchFamily="34" charset="-122"/>
                <a:cs typeface="Inter" pitchFamily="34" charset="-120"/>
              </a:rPr>
              <a:t>Find downstream effects</a:t>
            </a:r>
            <a:endParaRPr lang="en-US" sz="1700" dirty="0"/>
          </a:p>
        </p:txBody>
      </p:sp>
      <p:sp>
        <p:nvSpPr>
          <p:cNvPr id="13" name="text-95"/>
          <p:cNvSpPr txBox="1"/>
          <p:nvPr/>
        </p:nvSpPr>
        <p:spPr>
          <a:xfrm>
            <a:off x="3566160" y="2807208"/>
            <a:ext cx="3840480" cy="914400"/>
          </a:xfrm>
          <a:prstGeom prst="rect">
            <a:avLst/>
          </a:prstGeom>
          <a:noFill/>
          <a:ln/>
        </p:spPr>
        <p:txBody>
          <a:bodyPr wrap="square" lIns="0" tIns="0" rIns="0" bIns="0" rtlCol="0" anchor="ctr"/>
          <a:lstStyle/>
          <a:p>
            <a:pPr indent="0" marL="0">
              <a:buNone/>
            </a:pPr>
            <a:r>
              <a:rPr lang="en-US" sz="1500" dirty="0">
                <a:solidFill>
                  <a:srgbClr val="8E8E96"/>
                </a:solidFill>
                <a:latin typeface="Inter" pitchFamily="34" charset="0"/>
                <a:ea typeface="Inter" pitchFamily="34" charset="-122"/>
                <a:cs typeface="Inter" pitchFamily="34" charset="-120"/>
              </a:rPr>
              <a:t>Search for uses by hand or with editor tooling</a:t>
            </a:r>
            <a:endParaRPr lang="en-US" sz="1500" dirty="0"/>
          </a:p>
        </p:txBody>
      </p:sp>
      <p:sp>
        <p:nvSpPr>
          <p:cNvPr id="14" name="text-96"/>
          <p:cNvSpPr txBox="1"/>
          <p:nvPr/>
        </p:nvSpPr>
        <p:spPr>
          <a:xfrm>
            <a:off x="7772400" y="2807208"/>
            <a:ext cx="3749040" cy="914400"/>
          </a:xfrm>
          <a:prstGeom prst="rect">
            <a:avLst/>
          </a:prstGeom>
          <a:noFill/>
          <a:ln/>
        </p:spPr>
        <p:txBody>
          <a:bodyPr wrap="square" lIns="0" tIns="0" rIns="0" bIns="0" rtlCol="0" anchor="ctr"/>
          <a:lstStyle/>
          <a:p>
            <a:pPr indent="0" marL="0">
              <a:buNone/>
            </a:pPr>
            <a:r>
              <a:rPr lang="en-US" sz="1500" b="1" dirty="0">
                <a:solidFill>
                  <a:srgbClr val="A78BFA"/>
                </a:solidFill>
                <a:latin typeface="Consolas" pitchFamily="34" charset="0"/>
                <a:ea typeface="Consolas" pitchFamily="34" charset="-122"/>
                <a:cs typeface="Consolas" pitchFamily="34" charset="-120"/>
              </a:rPr>
              <a:t>impact price</a:t>
            </a:r>
            <a:endParaRPr lang="en-US" sz="1600" dirty="0"/>
          </a:p>
          <a:p>
            <a:pPr indent="0" marL="0">
              <a:buNone/>
            </a:pPr>
            <a:r>
              <a:rPr lang="en-US" sz="1400" dirty="0">
                <a:solidFill>
                  <a:srgbClr val="ECECEE"/>
                </a:solidFill>
                <a:latin typeface="Inter" pitchFamily="34" charset="0"/>
                <a:ea typeface="Inter" pitchFamily="34" charset="-122"/>
                <a:cs typeface="Inter" pitchFamily="34" charset="-120"/>
              </a:rPr>
              <a:t>direct and all dependent bindings</a:t>
            </a:r>
            <a:endParaRPr lang="en-US" sz="1600" dirty="0"/>
          </a:p>
        </p:txBody>
      </p:sp>
      <p:sp>
        <p:nvSpPr>
          <p:cNvPr id="15" name="card-97"/>
          <p:cNvSpPr/>
          <p:nvPr/>
        </p:nvSpPr>
        <p:spPr>
          <a:xfrm>
            <a:off x="548640" y="3831336"/>
            <a:ext cx="11091672" cy="914400"/>
          </a:xfrm>
          <a:prstGeom prst="roundRect">
            <a:avLst>
              <a:gd name="adj" fmla="val 8000"/>
            </a:avLst>
          </a:prstGeom>
          <a:solidFill>
            <a:srgbClr val="121214"/>
          </a:solidFill>
          <a:ln w="12700">
            <a:solidFill>
              <a:srgbClr val="2B2B31"/>
            </a:solidFill>
            <a:prstDash val="solid"/>
          </a:ln>
        </p:spPr>
      </p:sp>
      <p:sp>
        <p:nvSpPr>
          <p:cNvPr id="16" name="text-98"/>
          <p:cNvSpPr txBox="1"/>
          <p:nvPr/>
        </p:nvSpPr>
        <p:spPr>
          <a:xfrm>
            <a:off x="777240" y="3831336"/>
            <a:ext cx="2651760" cy="914400"/>
          </a:xfrm>
          <a:prstGeom prst="rect">
            <a:avLst/>
          </a:prstGeom>
          <a:noFill/>
          <a:ln/>
        </p:spPr>
        <p:txBody>
          <a:bodyPr wrap="square" lIns="0" tIns="0" rIns="0" bIns="0" rtlCol="0" anchor="ctr"/>
          <a:lstStyle/>
          <a:p>
            <a:pPr indent="0" marL="0">
              <a:buNone/>
            </a:pPr>
            <a:r>
              <a:rPr lang="en-US" sz="1700" b="1" dirty="0">
                <a:solidFill>
                  <a:srgbClr val="ECECEE"/>
                </a:solidFill>
                <a:latin typeface="Inter" pitchFamily="34" charset="0"/>
                <a:ea typeface="Inter" pitchFamily="34" charset="-122"/>
                <a:cs typeface="Inter" pitchFamily="34" charset="-120"/>
              </a:rPr>
              <a:t>Try a changed input</a:t>
            </a:r>
            <a:endParaRPr lang="en-US" sz="1700" dirty="0"/>
          </a:p>
        </p:txBody>
      </p:sp>
      <p:sp>
        <p:nvSpPr>
          <p:cNvPr id="17" name="text-99"/>
          <p:cNvSpPr txBox="1"/>
          <p:nvPr/>
        </p:nvSpPr>
        <p:spPr>
          <a:xfrm>
            <a:off x="3566160" y="3831336"/>
            <a:ext cx="3840480" cy="914400"/>
          </a:xfrm>
          <a:prstGeom prst="rect">
            <a:avLst/>
          </a:prstGeom>
          <a:noFill/>
          <a:ln/>
        </p:spPr>
        <p:txBody>
          <a:bodyPr wrap="square" lIns="0" tIns="0" rIns="0" bIns="0" rtlCol="0" anchor="ctr"/>
          <a:lstStyle/>
          <a:p>
            <a:pPr indent="0" marL="0">
              <a:buNone/>
            </a:pPr>
            <a:r>
              <a:rPr lang="en-US" sz="1500" dirty="0">
                <a:solidFill>
                  <a:srgbClr val="8E8E96"/>
                </a:solidFill>
                <a:latin typeface="Inter" pitchFamily="34" charset="0"/>
                <a:ea typeface="Inter" pitchFamily="34" charset="-122"/>
                <a:cs typeface="Inter" pitchFamily="34" charset="-120"/>
              </a:rPr>
              <a:t>Edit the value, rerun, compare outputs</a:t>
            </a:r>
            <a:endParaRPr lang="en-US" sz="1500" dirty="0"/>
          </a:p>
        </p:txBody>
      </p:sp>
      <p:sp>
        <p:nvSpPr>
          <p:cNvPr id="18" name="text-100"/>
          <p:cNvSpPr txBox="1"/>
          <p:nvPr/>
        </p:nvSpPr>
        <p:spPr>
          <a:xfrm>
            <a:off x="7772400" y="3831336"/>
            <a:ext cx="3749040" cy="914400"/>
          </a:xfrm>
          <a:prstGeom prst="rect">
            <a:avLst/>
          </a:prstGeom>
          <a:noFill/>
          <a:ln/>
        </p:spPr>
        <p:txBody>
          <a:bodyPr wrap="square" lIns="0" tIns="0" rIns="0" bIns="0" rtlCol="0" anchor="ctr"/>
          <a:lstStyle/>
          <a:p>
            <a:pPr indent="0" marL="0">
              <a:buNone/>
            </a:pPr>
            <a:r>
              <a:rPr lang="en-US" sz="1500" b="1" dirty="0">
                <a:solidFill>
                  <a:srgbClr val="A78BFA"/>
                </a:solidFill>
                <a:latin typeface="Consolas" pitchFamily="34" charset="0"/>
                <a:ea typeface="Consolas" pitchFamily="34" charset="-122"/>
                <a:cs typeface="Consolas" pitchFamily="34" charset="-120"/>
              </a:rPr>
              <a:t>whatif price = 160</a:t>
            </a:r>
            <a:endParaRPr lang="en-US" sz="1600" dirty="0"/>
          </a:p>
          <a:p>
            <a:pPr indent="0" marL="0">
              <a:buNone/>
            </a:pPr>
            <a:r>
              <a:rPr lang="en-US" sz="1400" dirty="0">
                <a:solidFill>
                  <a:srgbClr val="ECECEE"/>
                </a:solidFill>
                <a:latin typeface="Inter" pitchFamily="34" charset="0"/>
                <a:ea typeface="Inter" pitchFamily="34" charset="-122"/>
                <a:cs typeface="Inter" pitchFamily="34" charset="-120"/>
              </a:rPr>
              <a:t>before → after; original values untouched</a:t>
            </a:r>
            <a:endParaRPr lang="en-US" sz="1600" dirty="0"/>
          </a:p>
        </p:txBody>
      </p:sp>
      <p:sp>
        <p:nvSpPr>
          <p:cNvPr id="19" name="card-101"/>
          <p:cNvSpPr/>
          <p:nvPr/>
        </p:nvSpPr>
        <p:spPr>
          <a:xfrm>
            <a:off x="548640" y="4855464"/>
            <a:ext cx="11091672" cy="914400"/>
          </a:xfrm>
          <a:prstGeom prst="roundRect">
            <a:avLst>
              <a:gd name="adj" fmla="val 8000"/>
            </a:avLst>
          </a:prstGeom>
          <a:solidFill>
            <a:srgbClr val="121214"/>
          </a:solidFill>
          <a:ln w="12700">
            <a:solidFill>
              <a:srgbClr val="2B2B31"/>
            </a:solidFill>
            <a:prstDash val="solid"/>
          </a:ln>
        </p:spPr>
      </p:sp>
      <p:sp>
        <p:nvSpPr>
          <p:cNvPr id="20" name="text-102"/>
          <p:cNvSpPr txBox="1"/>
          <p:nvPr/>
        </p:nvSpPr>
        <p:spPr>
          <a:xfrm>
            <a:off x="777240" y="4855464"/>
            <a:ext cx="2651760" cy="914400"/>
          </a:xfrm>
          <a:prstGeom prst="rect">
            <a:avLst/>
          </a:prstGeom>
          <a:noFill/>
          <a:ln/>
        </p:spPr>
        <p:txBody>
          <a:bodyPr wrap="square" lIns="0" tIns="0" rIns="0" bIns="0" rtlCol="0" anchor="ctr"/>
          <a:lstStyle/>
          <a:p>
            <a:pPr indent="0" marL="0">
              <a:buNone/>
            </a:pPr>
            <a:r>
              <a:rPr lang="en-US" sz="1700" b="1" dirty="0">
                <a:solidFill>
                  <a:srgbClr val="ECECEE"/>
                </a:solidFill>
                <a:latin typeface="Inter" pitchFamily="34" charset="0"/>
                <a:ea typeface="Inter" pitchFamily="34" charset="-122"/>
                <a:cs typeface="Inter" pitchFamily="34" charset="-120"/>
              </a:rPr>
              <a:t>Keep dependencies through optimization</a:t>
            </a:r>
            <a:endParaRPr lang="en-US" sz="1700" dirty="0"/>
          </a:p>
        </p:txBody>
      </p:sp>
      <p:sp>
        <p:nvSpPr>
          <p:cNvPr id="21" name="text-103"/>
          <p:cNvSpPr txBox="1"/>
          <p:nvPr/>
        </p:nvSpPr>
        <p:spPr>
          <a:xfrm>
            <a:off x="3566160" y="4855464"/>
            <a:ext cx="3840480" cy="914400"/>
          </a:xfrm>
          <a:prstGeom prst="rect">
            <a:avLst/>
          </a:prstGeom>
          <a:noFill/>
          <a:ln/>
        </p:spPr>
        <p:txBody>
          <a:bodyPr wrap="square" lIns="0" tIns="0" rIns="0" bIns="0" rtlCol="0" anchor="ctr"/>
          <a:lstStyle/>
          <a:p>
            <a:pPr indent="0" marL="0">
              <a:buNone/>
            </a:pPr>
            <a:r>
              <a:rPr lang="en-US" sz="1500" dirty="0">
                <a:solidFill>
                  <a:srgbClr val="8E8E96"/>
                </a:solidFill>
                <a:latin typeface="Inter" pitchFamily="34" charset="0"/>
                <a:ea typeface="Inter" pitchFamily="34" charset="-122"/>
                <a:cs typeface="Inter" pitchFamily="34" charset="-120"/>
              </a:rPr>
              <a:t>Depends on the tool; not a language guarantee</a:t>
            </a:r>
            <a:endParaRPr lang="en-US" sz="1500" dirty="0"/>
          </a:p>
        </p:txBody>
      </p:sp>
      <p:sp>
        <p:nvSpPr>
          <p:cNvPr id="22" name="text-104"/>
          <p:cNvSpPr txBox="1"/>
          <p:nvPr/>
        </p:nvSpPr>
        <p:spPr>
          <a:xfrm>
            <a:off x="7772400" y="4855464"/>
            <a:ext cx="3749040" cy="914400"/>
          </a:xfrm>
          <a:prstGeom prst="rect">
            <a:avLst/>
          </a:prstGeom>
          <a:noFill/>
          <a:ln/>
        </p:spPr>
        <p:txBody>
          <a:bodyPr wrap="square" lIns="0" tIns="0" rIns="0" bIns="0" rtlCol="0" anchor="ctr"/>
          <a:lstStyle/>
          <a:p>
            <a:pPr indent="0" marL="0">
              <a:buNone/>
            </a:pPr>
            <a:r>
              <a:rPr lang="en-US" sz="1500" b="1" dirty="0">
                <a:solidFill>
                  <a:srgbClr val="A78BFA"/>
                </a:solidFill>
                <a:latin typeface="Consolas" pitchFamily="34" charset="0"/>
                <a:ea typeface="Consolas" pitchFamily="34" charset="-122"/>
                <a:cs typeface="Consolas" pitchFamily="34" charset="-120"/>
              </a:rPr>
              <a:t>verified optimizer</a:t>
            </a:r>
            <a:endParaRPr lang="en-US" sz="1600" dirty="0"/>
          </a:p>
          <a:p>
            <a:pPr indent="0" marL="0">
              <a:buNone/>
            </a:pPr>
            <a:r>
              <a:rPr lang="en-US" sz="1400" dirty="0">
                <a:solidFill>
                  <a:srgbClr val="ECECEE"/>
                </a:solidFill>
                <a:latin typeface="Inter" pitchFamily="34" charset="0"/>
                <a:ea typeface="Inter" pitchFamily="34" charset="-122"/>
                <a:cs typeface="Inter" pitchFamily="34" charset="-120"/>
              </a:rPr>
              <a:t>binding-level graph re-checked after optimization</a:t>
            </a:r>
            <a:endParaRPr lang="en-US" sz="1600" dirty="0"/>
          </a:p>
        </p:txBody>
      </p:sp>
      <p:sp>
        <p:nvSpPr>
          <p:cNvPr id="23" name="text-105"/>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500" dirty="0">
                <a:solidFill>
                  <a:srgbClr val="8E8E96"/>
                </a:solidFill>
                <a:latin typeface="Inter" pitchFamily="34" charset="0"/>
                <a:ea typeface="Inter" pitchFamily="34" charset="-122"/>
                <a:cs typeface="Inter" pitchFamily="34" charset="-120"/>
              </a:rPr>
              <a:t>Conventional tools can do all of this. CAUSA makes it explicit and built into the language and runtime.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CAUSA: a language and a compiler</a:t>
            </a:r>
            <a:endParaRPr lang="en-US" sz="2800" dirty="0"/>
          </a:p>
        </p:txBody>
      </p:sp>
      <p:sp>
        <p:nvSpPr>
          <p:cNvPr id="3" name="text-106"/>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Problem and idea</a:t>
            </a:r>
            <a:endParaRPr lang="en-US" sz="1000" dirty="0"/>
          </a:p>
        </p:txBody>
      </p:sp>
      <p:sp>
        <p:nvSpPr>
          <p:cNvPr id="5" name="card-107"/>
          <p:cNvSpPr/>
          <p:nvPr/>
        </p:nvSpPr>
        <p:spPr>
          <a:xfrm>
            <a:off x="548640" y="1463040"/>
            <a:ext cx="5212080" cy="676656"/>
          </a:xfrm>
          <a:prstGeom prst="roundRect">
            <a:avLst>
              <a:gd name="adj" fmla="val 10811"/>
            </a:avLst>
          </a:prstGeom>
          <a:solidFill>
            <a:srgbClr val="121214"/>
          </a:solidFill>
          <a:ln w="12700">
            <a:solidFill>
              <a:srgbClr val="2B2B31"/>
            </a:solidFill>
            <a:prstDash val="solid"/>
          </a:ln>
        </p:spPr>
      </p:sp>
      <p:sp>
        <p:nvSpPr>
          <p:cNvPr id="6" name="text-108"/>
          <p:cNvSpPr txBox="1"/>
          <p:nvPr/>
        </p:nvSpPr>
        <p:spPr>
          <a:xfrm>
            <a:off x="777240" y="1463040"/>
            <a:ext cx="1371600" cy="676656"/>
          </a:xfrm>
          <a:prstGeom prst="rect">
            <a:avLst/>
          </a:prstGeom>
          <a:noFill/>
          <a:ln/>
        </p:spPr>
        <p:txBody>
          <a:bodyPr wrap="square" lIns="0" tIns="0" rIns="0" bIns="0" rtlCol="0" anchor="ctr"/>
          <a:lstStyle/>
          <a:p>
            <a:pPr indent="0" marL="0">
              <a:buNone/>
            </a:pPr>
            <a:r>
              <a:rPr lang="en-US" sz="1800" b="1" dirty="0">
                <a:solidFill>
                  <a:srgbClr val="ECECEE"/>
                </a:solidFill>
                <a:latin typeface="Consolas" pitchFamily="34" charset="0"/>
                <a:ea typeface="Consolas" pitchFamily="34" charset="-122"/>
                <a:cs typeface="Consolas" pitchFamily="34" charset="-120"/>
              </a:rPr>
              <a:t>show</a:t>
            </a:r>
            <a:endParaRPr lang="en-US" sz="1800" dirty="0"/>
          </a:p>
        </p:txBody>
      </p:sp>
      <p:sp>
        <p:nvSpPr>
          <p:cNvPr id="7" name="text-109"/>
          <p:cNvSpPr txBox="1"/>
          <p:nvPr/>
        </p:nvSpPr>
        <p:spPr>
          <a:xfrm>
            <a:off x="2194560" y="1463040"/>
            <a:ext cx="3474720" cy="676656"/>
          </a:xfrm>
          <a:prstGeom prst="rect">
            <a:avLst/>
          </a:prstGeom>
          <a:noFill/>
          <a:ln/>
        </p:spPr>
        <p:txBody>
          <a:bodyPr wrap="square" lIns="0" tIns="0" rIns="0" bIns="0" rtlCol="0" anchor="ctr"/>
          <a:lstStyle/>
          <a:p>
            <a:pPr indent="0" marL="0">
              <a:buNone/>
            </a:pPr>
            <a:r>
              <a:rPr lang="en-US" sz="1500" dirty="0">
                <a:solidFill>
                  <a:srgbClr val="ECECEE"/>
                </a:solidFill>
                <a:latin typeface="Inter" pitchFamily="34" charset="0"/>
                <a:ea typeface="Inter" pitchFamily="34" charset="-122"/>
                <a:cs typeface="Inter" pitchFamily="34" charset="-120"/>
              </a:rPr>
              <a:t>print a binding's value</a:t>
            </a:r>
            <a:endParaRPr lang="en-US" sz="1500" dirty="0"/>
          </a:p>
        </p:txBody>
      </p:sp>
      <p:sp>
        <p:nvSpPr>
          <p:cNvPr id="8" name="card-110"/>
          <p:cNvSpPr/>
          <p:nvPr/>
        </p:nvSpPr>
        <p:spPr>
          <a:xfrm>
            <a:off x="548640" y="2267712"/>
            <a:ext cx="5212080" cy="676656"/>
          </a:xfrm>
          <a:prstGeom prst="roundRect">
            <a:avLst>
              <a:gd name="adj" fmla="val 10811"/>
            </a:avLst>
          </a:prstGeom>
          <a:solidFill>
            <a:srgbClr val="121214"/>
          </a:solidFill>
          <a:ln w="12700">
            <a:solidFill>
              <a:srgbClr val="2B2B31"/>
            </a:solidFill>
            <a:prstDash val="solid"/>
          </a:ln>
        </p:spPr>
      </p:sp>
      <p:sp>
        <p:nvSpPr>
          <p:cNvPr id="9" name="text-111"/>
          <p:cNvSpPr txBox="1"/>
          <p:nvPr/>
        </p:nvSpPr>
        <p:spPr>
          <a:xfrm>
            <a:off x="777240" y="2267712"/>
            <a:ext cx="1371600" cy="676656"/>
          </a:xfrm>
          <a:prstGeom prst="rect">
            <a:avLst/>
          </a:prstGeom>
          <a:noFill/>
          <a:ln/>
        </p:spPr>
        <p:txBody>
          <a:bodyPr wrap="square" lIns="0" tIns="0" rIns="0" bIns="0" rtlCol="0" anchor="ctr"/>
          <a:lstStyle/>
          <a:p>
            <a:pPr indent="0" marL="0">
              <a:buNone/>
            </a:pPr>
            <a:r>
              <a:rPr lang="en-US" sz="1800" b="1" dirty="0">
                <a:solidFill>
                  <a:srgbClr val="ECECEE"/>
                </a:solidFill>
                <a:latin typeface="Consolas" pitchFamily="34" charset="0"/>
                <a:ea typeface="Consolas" pitchFamily="34" charset="-122"/>
                <a:cs typeface="Consolas" pitchFamily="34" charset="-120"/>
              </a:rPr>
              <a:t>explain</a:t>
            </a:r>
            <a:endParaRPr lang="en-US" sz="1800" dirty="0"/>
          </a:p>
        </p:txBody>
      </p:sp>
      <p:sp>
        <p:nvSpPr>
          <p:cNvPr id="10" name="text-112"/>
          <p:cNvSpPr txBox="1"/>
          <p:nvPr/>
        </p:nvSpPr>
        <p:spPr>
          <a:xfrm>
            <a:off x="2194560" y="2267712"/>
            <a:ext cx="3474720" cy="676656"/>
          </a:xfrm>
          <a:prstGeom prst="rect">
            <a:avLst/>
          </a:prstGeom>
          <a:noFill/>
          <a:ln/>
        </p:spPr>
        <p:txBody>
          <a:bodyPr wrap="square" lIns="0" tIns="0" rIns="0" bIns="0" rtlCol="0" anchor="ctr"/>
          <a:lstStyle/>
          <a:p>
            <a:pPr indent="0" marL="0">
              <a:buNone/>
            </a:pPr>
            <a:r>
              <a:rPr lang="en-US" sz="1500" dirty="0">
                <a:solidFill>
                  <a:srgbClr val="ECECEE"/>
                </a:solidFill>
                <a:latin typeface="Inter" pitchFamily="34" charset="0"/>
                <a:ea typeface="Inter" pitchFamily="34" charset="-122"/>
                <a:cs typeface="Inter" pitchFamily="34" charset="-120"/>
              </a:rPr>
              <a:t>derivation tree for a binding</a:t>
            </a:r>
            <a:endParaRPr lang="en-US" sz="1500" dirty="0"/>
          </a:p>
        </p:txBody>
      </p:sp>
      <p:sp>
        <p:nvSpPr>
          <p:cNvPr id="11" name="card-113"/>
          <p:cNvSpPr/>
          <p:nvPr/>
        </p:nvSpPr>
        <p:spPr>
          <a:xfrm>
            <a:off x="548640" y="3072384"/>
            <a:ext cx="5212080" cy="676656"/>
          </a:xfrm>
          <a:prstGeom prst="roundRect">
            <a:avLst>
              <a:gd name="adj" fmla="val 10811"/>
            </a:avLst>
          </a:prstGeom>
          <a:solidFill>
            <a:srgbClr val="121214"/>
          </a:solidFill>
          <a:ln w="12700">
            <a:solidFill>
              <a:srgbClr val="2B2B31"/>
            </a:solidFill>
            <a:prstDash val="solid"/>
          </a:ln>
        </p:spPr>
      </p:sp>
      <p:sp>
        <p:nvSpPr>
          <p:cNvPr id="12" name="text-114"/>
          <p:cNvSpPr txBox="1"/>
          <p:nvPr/>
        </p:nvSpPr>
        <p:spPr>
          <a:xfrm>
            <a:off x="777240" y="3072384"/>
            <a:ext cx="1371600" cy="676656"/>
          </a:xfrm>
          <a:prstGeom prst="rect">
            <a:avLst/>
          </a:prstGeom>
          <a:noFill/>
          <a:ln/>
        </p:spPr>
        <p:txBody>
          <a:bodyPr wrap="square" lIns="0" tIns="0" rIns="0" bIns="0" rtlCol="0" anchor="ctr"/>
          <a:lstStyle/>
          <a:p>
            <a:pPr indent="0" marL="0">
              <a:buNone/>
            </a:pPr>
            <a:r>
              <a:rPr lang="en-US" sz="1800" b="1" dirty="0">
                <a:solidFill>
                  <a:srgbClr val="ECECEE"/>
                </a:solidFill>
                <a:latin typeface="Consolas" pitchFamily="34" charset="0"/>
                <a:ea typeface="Consolas" pitchFamily="34" charset="-122"/>
                <a:cs typeface="Consolas" pitchFamily="34" charset="-120"/>
              </a:rPr>
              <a:t>impact</a:t>
            </a:r>
            <a:endParaRPr lang="en-US" sz="1800" dirty="0"/>
          </a:p>
        </p:txBody>
      </p:sp>
      <p:sp>
        <p:nvSpPr>
          <p:cNvPr id="13" name="text-115"/>
          <p:cNvSpPr txBox="1"/>
          <p:nvPr/>
        </p:nvSpPr>
        <p:spPr>
          <a:xfrm>
            <a:off x="2194560" y="3072384"/>
            <a:ext cx="3474720" cy="676656"/>
          </a:xfrm>
          <a:prstGeom prst="rect">
            <a:avLst/>
          </a:prstGeom>
          <a:noFill/>
          <a:ln/>
        </p:spPr>
        <p:txBody>
          <a:bodyPr wrap="square" lIns="0" tIns="0" rIns="0" bIns="0" rtlCol="0" anchor="ctr"/>
          <a:lstStyle/>
          <a:p>
            <a:pPr indent="0" marL="0">
              <a:buNone/>
            </a:pPr>
            <a:r>
              <a:rPr lang="en-US" sz="1500" dirty="0">
                <a:solidFill>
                  <a:srgbClr val="ECECEE"/>
                </a:solidFill>
                <a:latin typeface="Inter" pitchFamily="34" charset="0"/>
                <a:ea typeface="Inter" pitchFamily="34" charset="-122"/>
                <a:cs typeface="Inter" pitchFamily="34" charset="-120"/>
              </a:rPr>
              <a:t>direct and all dependents</a:t>
            </a:r>
            <a:endParaRPr lang="en-US" sz="1500" dirty="0"/>
          </a:p>
        </p:txBody>
      </p:sp>
      <p:sp>
        <p:nvSpPr>
          <p:cNvPr id="14" name="card-116"/>
          <p:cNvSpPr/>
          <p:nvPr/>
        </p:nvSpPr>
        <p:spPr>
          <a:xfrm>
            <a:off x="548640" y="3877056"/>
            <a:ext cx="5212080" cy="676656"/>
          </a:xfrm>
          <a:prstGeom prst="roundRect">
            <a:avLst>
              <a:gd name="adj" fmla="val 10811"/>
            </a:avLst>
          </a:prstGeom>
          <a:solidFill>
            <a:srgbClr val="121214"/>
          </a:solidFill>
          <a:ln w="12700">
            <a:solidFill>
              <a:srgbClr val="2B2B31"/>
            </a:solidFill>
            <a:prstDash val="solid"/>
          </a:ln>
        </p:spPr>
      </p:sp>
      <p:sp>
        <p:nvSpPr>
          <p:cNvPr id="15" name="text-117"/>
          <p:cNvSpPr txBox="1"/>
          <p:nvPr/>
        </p:nvSpPr>
        <p:spPr>
          <a:xfrm>
            <a:off x="777240" y="3877056"/>
            <a:ext cx="1371600" cy="676656"/>
          </a:xfrm>
          <a:prstGeom prst="rect">
            <a:avLst/>
          </a:prstGeom>
          <a:noFill/>
          <a:ln/>
        </p:spPr>
        <p:txBody>
          <a:bodyPr wrap="square" lIns="0" tIns="0" rIns="0" bIns="0" rtlCol="0" anchor="ctr"/>
          <a:lstStyle/>
          <a:p>
            <a:pPr indent="0" marL="0">
              <a:buNone/>
            </a:pPr>
            <a:r>
              <a:rPr lang="en-US" sz="1800" b="1" dirty="0">
                <a:solidFill>
                  <a:srgbClr val="ECECEE"/>
                </a:solidFill>
                <a:latin typeface="Consolas" pitchFamily="34" charset="0"/>
                <a:ea typeface="Consolas" pitchFamily="34" charset="-122"/>
                <a:cs typeface="Consolas" pitchFamily="34" charset="-120"/>
              </a:rPr>
              <a:t>whatif</a:t>
            </a:r>
            <a:endParaRPr lang="en-US" sz="1800" dirty="0"/>
          </a:p>
        </p:txBody>
      </p:sp>
      <p:sp>
        <p:nvSpPr>
          <p:cNvPr id="16" name="text-118"/>
          <p:cNvSpPr txBox="1"/>
          <p:nvPr/>
        </p:nvSpPr>
        <p:spPr>
          <a:xfrm>
            <a:off x="2194560" y="3877056"/>
            <a:ext cx="3474720" cy="676656"/>
          </a:xfrm>
          <a:prstGeom prst="rect">
            <a:avLst/>
          </a:prstGeom>
          <a:noFill/>
          <a:ln/>
        </p:spPr>
        <p:txBody>
          <a:bodyPr wrap="square" lIns="0" tIns="0" rIns="0" bIns="0" rtlCol="0" anchor="ctr"/>
          <a:lstStyle/>
          <a:p>
            <a:pPr indent="0" marL="0">
              <a:buNone/>
            </a:pPr>
            <a:r>
              <a:rPr lang="en-US" sz="1500" dirty="0">
                <a:solidFill>
                  <a:srgbClr val="ECECEE"/>
                </a:solidFill>
                <a:latin typeface="Inter" pitchFamily="34" charset="0"/>
                <a:ea typeface="Inter" pitchFamily="34" charset="-122"/>
                <a:cs typeface="Inter" pitchFamily="34" charset="-120"/>
              </a:rPr>
              <a:t>recompute under hypothetical inputs</a:t>
            </a:r>
            <a:endParaRPr lang="en-US" sz="1500" dirty="0"/>
          </a:p>
        </p:txBody>
      </p:sp>
      <p:sp>
        <p:nvSpPr>
          <p:cNvPr id="17" name="card-119"/>
          <p:cNvSpPr/>
          <p:nvPr/>
        </p:nvSpPr>
        <p:spPr>
          <a:xfrm>
            <a:off x="548640" y="4681728"/>
            <a:ext cx="5212080" cy="676656"/>
          </a:xfrm>
          <a:prstGeom prst="roundRect">
            <a:avLst>
              <a:gd name="adj" fmla="val 10811"/>
            </a:avLst>
          </a:prstGeom>
          <a:solidFill>
            <a:srgbClr val="121214"/>
          </a:solidFill>
          <a:ln w="12700">
            <a:solidFill>
              <a:srgbClr val="2B2B31"/>
            </a:solidFill>
            <a:prstDash val="solid"/>
          </a:ln>
        </p:spPr>
      </p:sp>
      <p:sp>
        <p:nvSpPr>
          <p:cNvPr id="18" name="text-120"/>
          <p:cNvSpPr txBox="1"/>
          <p:nvPr/>
        </p:nvSpPr>
        <p:spPr>
          <a:xfrm>
            <a:off x="777240" y="4681728"/>
            <a:ext cx="1371600" cy="676656"/>
          </a:xfrm>
          <a:prstGeom prst="rect">
            <a:avLst/>
          </a:prstGeom>
          <a:noFill/>
          <a:ln/>
        </p:spPr>
        <p:txBody>
          <a:bodyPr wrap="square" lIns="0" tIns="0" rIns="0" bIns="0" rtlCol="0" anchor="ctr"/>
          <a:lstStyle/>
          <a:p>
            <a:pPr indent="0" marL="0">
              <a:buNone/>
            </a:pPr>
            <a:r>
              <a:rPr lang="en-US" sz="1800" b="1" dirty="0">
                <a:solidFill>
                  <a:srgbClr val="ECECEE"/>
                </a:solidFill>
                <a:latin typeface="Consolas" pitchFamily="34" charset="0"/>
                <a:ea typeface="Consolas" pitchFamily="34" charset="-122"/>
                <a:cs typeface="Consolas" pitchFamily="34" charset="-120"/>
              </a:rPr>
              <a:t>assert</a:t>
            </a:r>
            <a:endParaRPr lang="en-US" sz="1800" dirty="0"/>
          </a:p>
        </p:txBody>
      </p:sp>
      <p:sp>
        <p:nvSpPr>
          <p:cNvPr id="19" name="text-121"/>
          <p:cNvSpPr txBox="1"/>
          <p:nvPr/>
        </p:nvSpPr>
        <p:spPr>
          <a:xfrm>
            <a:off x="2194560" y="4681728"/>
            <a:ext cx="3474720" cy="676656"/>
          </a:xfrm>
          <a:prstGeom prst="rect">
            <a:avLst/>
          </a:prstGeom>
          <a:noFill/>
          <a:ln/>
        </p:spPr>
        <p:txBody>
          <a:bodyPr wrap="square" lIns="0" tIns="0" rIns="0" bIns="0" rtlCol="0" anchor="ctr"/>
          <a:lstStyle/>
          <a:p>
            <a:pPr indent="0" marL="0">
              <a:buNone/>
            </a:pPr>
            <a:r>
              <a:rPr lang="en-US" sz="1500" dirty="0">
                <a:solidFill>
                  <a:srgbClr val="ECECEE"/>
                </a:solidFill>
                <a:latin typeface="Inter" pitchFamily="34" charset="0"/>
                <a:ea typeface="Inter" pitchFamily="34" charset="-122"/>
                <a:cs typeface="Inter" pitchFamily="34" charset="-120"/>
              </a:rPr>
              <a:t>check a condition at run time</a:t>
            </a:r>
            <a:endParaRPr lang="en-US" sz="1500" dirty="0"/>
          </a:p>
        </p:txBody>
      </p:sp>
      <p:sp>
        <p:nvSpPr>
          <p:cNvPr id="20" name="panel-122"/>
          <p:cNvSpPr/>
          <p:nvPr/>
        </p:nvSpPr>
        <p:spPr>
          <a:xfrm>
            <a:off x="6126480" y="1463040"/>
            <a:ext cx="5513832" cy="3931920"/>
          </a:xfrm>
          <a:prstGeom prst="roundRect">
            <a:avLst>
              <a:gd name="adj" fmla="val 1860"/>
            </a:avLst>
          </a:prstGeom>
          <a:solidFill>
            <a:srgbClr val="121214"/>
          </a:solidFill>
          <a:ln w="12700">
            <a:solidFill>
              <a:srgbClr val="121214"/>
            </a:solidFill>
            <a:prstDash val="solid"/>
          </a:ln>
        </p:spPr>
      </p:sp>
      <p:sp>
        <p:nvSpPr>
          <p:cNvPr id="21" name="text-123"/>
          <p:cNvSpPr txBox="1"/>
          <p:nvPr/>
        </p:nvSpPr>
        <p:spPr>
          <a:xfrm>
            <a:off x="6355080" y="1600200"/>
            <a:ext cx="5056632"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example.cau</a:t>
            </a:r>
            <a:endParaRPr lang="en-US" sz="1100" dirty="0"/>
          </a:p>
        </p:txBody>
      </p:sp>
      <p:sp>
        <p:nvSpPr>
          <p:cNvPr id="22" name="text-124"/>
          <p:cNvSpPr txBox="1"/>
          <p:nvPr/>
        </p:nvSpPr>
        <p:spPr>
          <a:xfrm>
            <a:off x="6355080" y="1920240"/>
            <a:ext cx="5056632" cy="3337560"/>
          </a:xfrm>
          <a:prstGeom prst="rect">
            <a:avLst/>
          </a:prstGeom>
          <a:noFill/>
          <a:ln/>
        </p:spPr>
        <p:txBody>
          <a:bodyPr wrap="square" lIns="0" tIns="0" rIns="0" bIns="0" rtlCol="0" anchor="t"/>
          <a:lstStyle/>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FB923C"/>
                </a:solidFill>
                <a:latin typeface="Consolas" pitchFamily="34" charset="0"/>
                <a:ea typeface="Consolas" pitchFamily="34" charset="-122"/>
                <a:cs typeface="Consolas" pitchFamily="34" charset="-120"/>
              </a:rPr>
              <a:t>100</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discount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FB923C"/>
                </a:solidFill>
                <a:latin typeface="Consolas" pitchFamily="34" charset="0"/>
                <a:ea typeface="Consolas" pitchFamily="34" charset="-122"/>
                <a:cs typeface="Consolas" pitchFamily="34" charset="-120"/>
              </a:rPr>
              <a:t>0.25</a:t>
            </a:r>
            <a:endParaRPr lang="en-US" sz="1600" dirty="0"/>
          </a:p>
          <a:p>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let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savings</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discount</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let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total</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savings</a:t>
            </a:r>
            <a:endParaRPr lang="en-US" sz="1600" dirty="0"/>
          </a:p>
          <a:p>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show</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total</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i="1" dirty="0">
                <a:solidFill>
                  <a:srgbClr val="6B7A89"/>
                </a:solidFill>
                <a:latin typeface="Consolas" pitchFamily="34" charset="0"/>
                <a:ea typeface="Consolas" pitchFamily="34" charset="-122"/>
                <a:cs typeface="Consolas" pitchFamily="34" charset="-120"/>
              </a:rPr>
              <a:t># total = 75.0</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explain</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total</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whatif</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FB923C"/>
                </a:solidFill>
                <a:latin typeface="Consolas" pitchFamily="34" charset="0"/>
                <a:ea typeface="Consolas" pitchFamily="34" charset="-122"/>
                <a:cs typeface="Consolas" pitchFamily="34" charset="-120"/>
              </a:rPr>
              <a:t>160</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show</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total</a:t>
            </a:r>
            <a:endParaRPr lang="en-US" sz="1600" dirty="0"/>
          </a:p>
          <a:p>
            <a:pPr indent="0" marL="0">
              <a:spcAft>
                <a:spcPts val="200"/>
              </a:spcAft>
              <a:buNone/>
            </a:pPr>
            <a:r>
              <a:rPr lang="en-US" sz="1500" b="1" dirty="0">
                <a:solidFill>
                  <a:srgbClr val="A78BFA"/>
                </a:solidFill>
                <a:latin typeface="Consolas" pitchFamily="34" charset="0"/>
                <a:ea typeface="Consolas" pitchFamily="34" charset="-122"/>
                <a:cs typeface="Consolas" pitchFamily="34" charset="-120"/>
              </a:rPr>
              <a:t>impact</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price</a:t>
            </a:r>
            <a:endParaRPr lang="en-US" sz="1600" dirty="0"/>
          </a:p>
        </p:txBody>
      </p:sp>
      <p:sp>
        <p:nvSpPr>
          <p:cNvPr id="23" name="card-125"/>
          <p:cNvSpPr/>
          <p:nvPr/>
        </p:nvSpPr>
        <p:spPr>
          <a:xfrm>
            <a:off x="548640" y="5623560"/>
            <a:ext cx="11091672" cy="640080"/>
          </a:xfrm>
          <a:prstGeom prst="roundRect">
            <a:avLst>
              <a:gd name="adj" fmla="val 11429"/>
            </a:avLst>
          </a:prstGeom>
          <a:solidFill>
            <a:srgbClr val="121214"/>
          </a:solidFill>
          <a:ln w="19050">
            <a:solidFill>
              <a:srgbClr val="22D3EE"/>
            </a:solidFill>
            <a:prstDash val="solid"/>
          </a:ln>
        </p:spPr>
      </p:sp>
      <p:sp>
        <p:nvSpPr>
          <p:cNvPr id="24" name="text-126"/>
          <p:cNvSpPr txBox="1"/>
          <p:nvPr/>
        </p:nvSpPr>
        <p:spPr>
          <a:xfrm>
            <a:off x="777240" y="5623560"/>
            <a:ext cx="10698480" cy="640080"/>
          </a:xfrm>
          <a:prstGeom prst="rect">
            <a:avLst/>
          </a:prstGeom>
          <a:noFill/>
          <a:ln/>
        </p:spPr>
        <p:txBody>
          <a:bodyPr wrap="square" lIns="0" tIns="0" rIns="0" bIns="0" rtlCol="0" anchor="ctr"/>
          <a:lstStyle/>
          <a:p>
            <a:pPr indent="0" marL="0">
              <a:buNone/>
            </a:pPr>
            <a:r>
              <a:rPr lang="en-US" sz="1500" b="1" dirty="0">
                <a:solidFill>
                  <a:srgbClr val="ECECEE"/>
                </a:solidFill>
                <a:latin typeface="Inter" pitchFamily="34" charset="0"/>
                <a:ea typeface="Inter" pitchFamily="34" charset="-122"/>
                <a:cs typeface="Inter" pitchFamily="34" charset="-120"/>
              </a:rPr>
              <a:t>A custom language and compiler (Python → C99 → native executable): not a Python library, not a graph viewer.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Related work and foundations</a:t>
            </a:r>
            <a:endParaRPr lang="en-US" sz="2800" dirty="0"/>
          </a:p>
        </p:txBody>
      </p:sp>
      <p:sp>
        <p:nvSpPr>
          <p:cNvPr id="3" name="text-127"/>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Problem and idea</a:t>
            </a:r>
            <a:endParaRPr lang="en-US" sz="1000" dirty="0"/>
          </a:p>
        </p:txBody>
      </p:sp>
      <p:sp>
        <p:nvSpPr>
          <p:cNvPr id="5" name="card-128"/>
          <p:cNvSpPr/>
          <p:nvPr/>
        </p:nvSpPr>
        <p:spPr>
          <a:xfrm>
            <a:off x="548640" y="1325880"/>
            <a:ext cx="2670048" cy="4160520"/>
          </a:xfrm>
          <a:prstGeom prst="roundRect">
            <a:avLst>
              <a:gd name="adj" fmla="val 2740"/>
            </a:avLst>
          </a:prstGeom>
          <a:solidFill>
            <a:srgbClr val="121214"/>
          </a:solidFill>
          <a:ln w="12700">
            <a:solidFill>
              <a:srgbClr val="2B2B31"/>
            </a:solidFill>
            <a:prstDash val="solid"/>
          </a:ln>
        </p:spPr>
      </p:sp>
      <p:sp>
        <p:nvSpPr>
          <p:cNvPr id="6" name="text-129"/>
          <p:cNvSpPr txBox="1"/>
          <p:nvPr/>
        </p:nvSpPr>
        <p:spPr>
          <a:xfrm>
            <a:off x="731520" y="1463040"/>
            <a:ext cx="2304288" cy="640080"/>
          </a:xfrm>
          <a:prstGeom prst="rect">
            <a:avLst/>
          </a:prstGeom>
          <a:noFill/>
          <a:ln/>
        </p:spPr>
        <p:txBody>
          <a:bodyPr wrap="square" lIns="0" tIns="0" rIns="0" bIns="0" rtlCol="0" anchor="t"/>
          <a:lstStyle/>
          <a:p>
            <a:pPr indent="0" marL="0">
              <a:buNone/>
            </a:pPr>
            <a:r>
              <a:rPr lang="en-US" sz="1700" b="1" dirty="0">
                <a:solidFill>
                  <a:srgbClr val="A78BFA"/>
                </a:solidFill>
                <a:latin typeface="Inter" pitchFamily="34" charset="0"/>
                <a:ea typeface="Inter" pitchFamily="34" charset="-122"/>
                <a:cs typeface="Inter" pitchFamily="34" charset="-120"/>
              </a:rPr>
              <a:t>Dependency analysis</a:t>
            </a:r>
            <a:endParaRPr lang="en-US" sz="1700" dirty="0"/>
          </a:p>
        </p:txBody>
      </p:sp>
      <p:sp>
        <p:nvSpPr>
          <p:cNvPr id="7" name="text-130"/>
          <p:cNvSpPr txBox="1"/>
          <p:nvPr/>
        </p:nvSpPr>
        <p:spPr>
          <a:xfrm>
            <a:off x="731520" y="2148840"/>
            <a:ext cx="2304288" cy="274320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[1] Weiser 1984</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program slicing</a:t>
            </a:r>
            <a:endParaRPr lang="en-US" sz="1600" dirty="0"/>
          </a:p>
          <a:p>
            <a:pPr indent="0" marL="0">
              <a:buNone/>
            </a:pPr>
            <a:r>
              <a:rPr lang="en-US" sz="1200" dirty="0">
                <a:solidFill>
                  <a:srgbClr val="8E8E96"/>
                </a:solidFill>
                <a:latin typeface="Inter" pitchFamily="34" charset="0"/>
                <a:ea typeface="Inter" pitchFamily="34" charset="-122"/>
                <a:cs typeface="Inter" pitchFamily="34" charset="-120"/>
              </a:rPr>
              <a:t>Foundational</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[2] Ferrante et al. 1987</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program dependence graph</a:t>
            </a:r>
            <a:endParaRPr lang="en-US" sz="1600" dirty="0"/>
          </a:p>
          <a:p>
            <a:pPr indent="0" marL="0">
              <a:buNone/>
            </a:pPr>
            <a:r>
              <a:rPr lang="en-US" sz="1200" dirty="0">
                <a:solidFill>
                  <a:srgbClr val="8E8E96"/>
                </a:solidFill>
                <a:latin typeface="Inter" pitchFamily="34" charset="0"/>
                <a:ea typeface="Inter" pitchFamily="34" charset="-122"/>
                <a:cs typeface="Inter" pitchFamily="34" charset="-120"/>
              </a:rPr>
              <a:t>Foundational</a:t>
            </a:r>
            <a:endParaRPr lang="en-US" sz="1600" dirty="0"/>
          </a:p>
        </p:txBody>
      </p:sp>
      <p:sp>
        <p:nvSpPr>
          <p:cNvPr id="8" name="text-131"/>
          <p:cNvSpPr txBox="1"/>
          <p:nvPr/>
        </p:nvSpPr>
        <p:spPr>
          <a:xfrm>
            <a:off x="731520" y="4846320"/>
            <a:ext cx="2304288" cy="502920"/>
          </a:xfrm>
          <a:prstGeom prst="rect">
            <a:avLst/>
          </a:prstGeom>
          <a:noFill/>
          <a:ln/>
        </p:spPr>
        <p:txBody>
          <a:bodyPr wrap="square" lIns="0" tIns="0" rIns="0" bIns="0" rtlCol="0" anchor="b"/>
          <a:lstStyle/>
          <a:p>
            <a:pPr indent="0" marL="0">
              <a:buNone/>
            </a:pPr>
            <a:r>
              <a:rPr lang="en-US" sz="1400" dirty="0">
                <a:solidFill>
                  <a:srgbClr val="ECECEE"/>
                </a:solidFill>
                <a:latin typeface="Inter" pitchFamily="34" charset="0"/>
                <a:ea typeface="Inter" pitchFamily="34" charset="-122"/>
                <a:cs typeface="Inter" pitchFamily="34" charset="-120"/>
              </a:rPr>
              <a:t>Which statements affect a value</a:t>
            </a:r>
            <a:endParaRPr lang="en-US" sz="1400" dirty="0"/>
          </a:p>
        </p:txBody>
      </p:sp>
      <p:sp>
        <p:nvSpPr>
          <p:cNvPr id="9" name="card-132"/>
          <p:cNvSpPr/>
          <p:nvPr/>
        </p:nvSpPr>
        <p:spPr>
          <a:xfrm>
            <a:off x="3337560" y="1325880"/>
            <a:ext cx="2670048" cy="4160520"/>
          </a:xfrm>
          <a:prstGeom prst="roundRect">
            <a:avLst>
              <a:gd name="adj" fmla="val 2740"/>
            </a:avLst>
          </a:prstGeom>
          <a:solidFill>
            <a:srgbClr val="121214"/>
          </a:solidFill>
          <a:ln w="12700">
            <a:solidFill>
              <a:srgbClr val="2B2B31"/>
            </a:solidFill>
            <a:prstDash val="solid"/>
          </a:ln>
        </p:spPr>
      </p:sp>
      <p:sp>
        <p:nvSpPr>
          <p:cNvPr id="10" name="text-133"/>
          <p:cNvSpPr txBox="1"/>
          <p:nvPr/>
        </p:nvSpPr>
        <p:spPr>
          <a:xfrm>
            <a:off x="3520440" y="1463040"/>
            <a:ext cx="2304288" cy="640080"/>
          </a:xfrm>
          <a:prstGeom prst="rect">
            <a:avLst/>
          </a:prstGeom>
          <a:noFill/>
          <a:ln/>
        </p:spPr>
        <p:txBody>
          <a:bodyPr wrap="square" lIns="0" tIns="0" rIns="0" bIns="0" rtlCol="0" anchor="t"/>
          <a:lstStyle/>
          <a:p>
            <a:pPr indent="0" marL="0">
              <a:buNone/>
            </a:pPr>
            <a:r>
              <a:rPr lang="en-US" sz="1700" b="1" dirty="0">
                <a:solidFill>
                  <a:srgbClr val="2DD4BF"/>
                </a:solidFill>
                <a:latin typeface="Inter" pitchFamily="34" charset="0"/>
                <a:ea typeface="Inter" pitchFamily="34" charset="-122"/>
                <a:cs typeface="Inter" pitchFamily="34" charset="-120"/>
              </a:rPr>
              <a:t>Provenance</a:t>
            </a:r>
            <a:endParaRPr lang="en-US" sz="1700" dirty="0"/>
          </a:p>
        </p:txBody>
      </p:sp>
      <p:sp>
        <p:nvSpPr>
          <p:cNvPr id="11" name="text-134"/>
          <p:cNvSpPr txBox="1"/>
          <p:nvPr/>
        </p:nvSpPr>
        <p:spPr>
          <a:xfrm>
            <a:off x="3520440" y="2148840"/>
            <a:ext cx="2304288" cy="274320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[3] Cheney et al. 2009</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why, how, where provenance</a:t>
            </a:r>
            <a:endParaRPr lang="en-US" sz="1600" dirty="0"/>
          </a:p>
          <a:p>
            <a:pPr indent="0" marL="0">
              <a:buNone/>
            </a:pPr>
            <a:r>
              <a:rPr lang="en-US" sz="1200" dirty="0">
                <a:solidFill>
                  <a:srgbClr val="22D3EE"/>
                </a:solidFill>
                <a:latin typeface="Inter" pitchFamily="34" charset="0"/>
                <a:ea typeface="Inter" pitchFamily="34" charset="-122"/>
                <a:cs typeface="Inter" pitchFamily="34" charset="-120"/>
              </a:rPr>
              <a:t>Directly related</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[4] Cheney et al. 2011</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provenance as dependency analysis</a:t>
            </a:r>
            <a:endParaRPr lang="en-US" sz="1600" dirty="0"/>
          </a:p>
          <a:p>
            <a:pPr indent="0" marL="0">
              <a:buNone/>
            </a:pPr>
            <a:r>
              <a:rPr lang="en-US" sz="1200" dirty="0">
                <a:solidFill>
                  <a:srgbClr val="22D3EE"/>
                </a:solidFill>
                <a:latin typeface="Inter" pitchFamily="34" charset="0"/>
                <a:ea typeface="Inter" pitchFamily="34" charset="-122"/>
                <a:cs typeface="Inter" pitchFamily="34" charset="-120"/>
              </a:rPr>
              <a:t>Directly related</a:t>
            </a:r>
            <a:endParaRPr lang="en-US" sz="1600" dirty="0"/>
          </a:p>
        </p:txBody>
      </p:sp>
      <p:sp>
        <p:nvSpPr>
          <p:cNvPr id="12" name="text-135"/>
          <p:cNvSpPr txBox="1"/>
          <p:nvPr/>
        </p:nvSpPr>
        <p:spPr>
          <a:xfrm>
            <a:off x="3520440" y="4846320"/>
            <a:ext cx="2304288" cy="502920"/>
          </a:xfrm>
          <a:prstGeom prst="rect">
            <a:avLst/>
          </a:prstGeom>
          <a:noFill/>
          <a:ln/>
        </p:spPr>
        <p:txBody>
          <a:bodyPr wrap="square" lIns="0" tIns="0" rIns="0" bIns="0" rtlCol="0" anchor="b"/>
          <a:lstStyle/>
          <a:p>
            <a:pPr indent="0" marL="0">
              <a:buNone/>
            </a:pPr>
            <a:r>
              <a:rPr lang="en-US" sz="1400" dirty="0">
                <a:solidFill>
                  <a:srgbClr val="ECECEE"/>
                </a:solidFill>
                <a:latin typeface="Inter" pitchFamily="34" charset="0"/>
                <a:ea typeface="Inter" pitchFamily="34" charset="-122"/>
                <a:cs typeface="Inter" pitchFamily="34" charset="-120"/>
              </a:rPr>
              <a:t>Dependencies explain results</a:t>
            </a:r>
            <a:endParaRPr lang="en-US" sz="1400" dirty="0"/>
          </a:p>
        </p:txBody>
      </p:sp>
      <p:sp>
        <p:nvSpPr>
          <p:cNvPr id="13" name="card-136"/>
          <p:cNvSpPr/>
          <p:nvPr/>
        </p:nvSpPr>
        <p:spPr>
          <a:xfrm>
            <a:off x="6126480" y="1325880"/>
            <a:ext cx="2670048" cy="4160520"/>
          </a:xfrm>
          <a:prstGeom prst="roundRect">
            <a:avLst>
              <a:gd name="adj" fmla="val 2740"/>
            </a:avLst>
          </a:prstGeom>
          <a:solidFill>
            <a:srgbClr val="121214"/>
          </a:solidFill>
          <a:ln w="12700">
            <a:solidFill>
              <a:srgbClr val="2B2B31"/>
            </a:solidFill>
            <a:prstDash val="solid"/>
          </a:ln>
        </p:spPr>
      </p:sp>
      <p:sp>
        <p:nvSpPr>
          <p:cNvPr id="14" name="text-137"/>
          <p:cNvSpPr txBox="1"/>
          <p:nvPr/>
        </p:nvSpPr>
        <p:spPr>
          <a:xfrm>
            <a:off x="6309360" y="1463040"/>
            <a:ext cx="2304288" cy="640080"/>
          </a:xfrm>
          <a:prstGeom prst="rect">
            <a:avLst/>
          </a:prstGeom>
          <a:noFill/>
          <a:ln/>
        </p:spPr>
        <p:txBody>
          <a:bodyPr wrap="square" lIns="0" tIns="0" rIns="0" bIns="0" rtlCol="0" anchor="t"/>
          <a:lstStyle/>
          <a:p>
            <a:pPr indent="0" marL="0">
              <a:buNone/>
            </a:pPr>
            <a:r>
              <a:rPr lang="en-US" sz="1700" b="1" dirty="0">
                <a:solidFill>
                  <a:srgbClr val="FB923C"/>
                </a:solidFill>
                <a:latin typeface="Inter" pitchFamily="34" charset="0"/>
                <a:ea typeface="Inter" pitchFamily="34" charset="-122"/>
                <a:cs typeface="Inter" pitchFamily="34" charset="-120"/>
              </a:rPr>
              <a:t>Explanations and counterfactuals</a:t>
            </a:r>
            <a:endParaRPr lang="en-US" sz="1700" dirty="0"/>
          </a:p>
        </p:txBody>
      </p:sp>
      <p:sp>
        <p:nvSpPr>
          <p:cNvPr id="15" name="text-138"/>
          <p:cNvSpPr txBox="1"/>
          <p:nvPr/>
        </p:nvSpPr>
        <p:spPr>
          <a:xfrm>
            <a:off x="6309360" y="2148840"/>
            <a:ext cx="2304288" cy="274320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[5] Ko &amp; Myers 2004</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Whyline: “why” questions</a:t>
            </a:r>
            <a:endParaRPr lang="en-US" sz="1600" dirty="0"/>
          </a:p>
          <a:p>
            <a:pPr indent="0" marL="0">
              <a:buNone/>
            </a:pPr>
            <a:r>
              <a:rPr lang="en-US" sz="1200" dirty="0">
                <a:solidFill>
                  <a:srgbClr val="22D3EE"/>
                </a:solidFill>
                <a:latin typeface="Inter" pitchFamily="34" charset="0"/>
                <a:ea typeface="Inter" pitchFamily="34" charset="-122"/>
                <a:cs typeface="Inter" pitchFamily="34" charset="-120"/>
              </a:rPr>
              <a:t>Directly related</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[6] Karimi et al. 2022</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counterfactual explanations survey</a:t>
            </a:r>
            <a:endParaRPr lang="en-US" sz="1600" dirty="0"/>
          </a:p>
          <a:p>
            <a:pPr indent="0" marL="0">
              <a:buNone/>
            </a:pPr>
            <a:r>
              <a:rPr lang="en-US" sz="1200" dirty="0">
                <a:solidFill>
                  <a:srgbClr val="A78BFA"/>
                </a:solidFill>
                <a:latin typeface="Inter" pitchFamily="34" charset="0"/>
                <a:ea typeface="Inter" pitchFamily="34" charset="-122"/>
                <a:cs typeface="Inter" pitchFamily="34" charset="-120"/>
              </a:rPr>
              <a:t>Recent · related</a:t>
            </a:r>
            <a:endParaRPr lang="en-US" sz="1600" dirty="0"/>
          </a:p>
        </p:txBody>
      </p:sp>
      <p:sp>
        <p:nvSpPr>
          <p:cNvPr id="16" name="text-139"/>
          <p:cNvSpPr txBox="1"/>
          <p:nvPr/>
        </p:nvSpPr>
        <p:spPr>
          <a:xfrm>
            <a:off x="6309360" y="4846320"/>
            <a:ext cx="2304288" cy="502920"/>
          </a:xfrm>
          <a:prstGeom prst="rect">
            <a:avLst/>
          </a:prstGeom>
          <a:noFill/>
          <a:ln/>
        </p:spPr>
        <p:txBody>
          <a:bodyPr wrap="square" lIns="0" tIns="0" rIns="0" bIns="0" rtlCol="0" anchor="b"/>
          <a:lstStyle/>
          <a:p>
            <a:pPr indent="0" marL="0">
              <a:buNone/>
            </a:pPr>
            <a:r>
              <a:rPr lang="en-US" sz="1400" dirty="0">
                <a:solidFill>
                  <a:srgbClr val="ECECEE"/>
                </a:solidFill>
                <a:latin typeface="Inter" pitchFamily="34" charset="0"/>
                <a:ea typeface="Inter" pitchFamily="34" charset="-122"/>
                <a:cs typeface="Inter" pitchFamily="34" charset="-120"/>
              </a:rPr>
              <a:t>Asking why, and what if</a:t>
            </a:r>
            <a:endParaRPr lang="en-US" sz="1400" dirty="0"/>
          </a:p>
        </p:txBody>
      </p:sp>
      <p:sp>
        <p:nvSpPr>
          <p:cNvPr id="17" name="card-140"/>
          <p:cNvSpPr/>
          <p:nvPr/>
        </p:nvSpPr>
        <p:spPr>
          <a:xfrm>
            <a:off x="8915400" y="1325880"/>
            <a:ext cx="2670048" cy="4160520"/>
          </a:xfrm>
          <a:prstGeom prst="roundRect">
            <a:avLst>
              <a:gd name="adj" fmla="val 2740"/>
            </a:avLst>
          </a:prstGeom>
          <a:solidFill>
            <a:srgbClr val="121214"/>
          </a:solidFill>
          <a:ln w="12700">
            <a:solidFill>
              <a:srgbClr val="2B2B31"/>
            </a:solidFill>
            <a:prstDash val="solid"/>
          </a:ln>
        </p:spPr>
      </p:sp>
      <p:sp>
        <p:nvSpPr>
          <p:cNvPr id="18" name="text-141"/>
          <p:cNvSpPr txBox="1"/>
          <p:nvPr/>
        </p:nvSpPr>
        <p:spPr>
          <a:xfrm>
            <a:off x="9098280" y="1463040"/>
            <a:ext cx="2304288" cy="640080"/>
          </a:xfrm>
          <a:prstGeom prst="rect">
            <a:avLst/>
          </a:prstGeom>
          <a:noFill/>
          <a:ln/>
        </p:spPr>
        <p:txBody>
          <a:bodyPr wrap="square" lIns="0" tIns="0" rIns="0" bIns="0" rtlCol="0" anchor="t"/>
          <a:lstStyle/>
          <a:p>
            <a:pPr indent="0" marL="0">
              <a:buNone/>
            </a:pPr>
            <a:r>
              <a:rPr lang="en-US" sz="1700" b="1" dirty="0">
                <a:solidFill>
                  <a:srgbClr val="60A5FA"/>
                </a:solidFill>
                <a:latin typeface="Inter" pitchFamily="34" charset="0"/>
                <a:ea typeface="Inter" pitchFamily="34" charset="-122"/>
                <a:cs typeface="Inter" pitchFamily="34" charset="-120"/>
              </a:rPr>
              <a:t>Compilers and testing</a:t>
            </a:r>
            <a:endParaRPr lang="en-US" sz="1700" dirty="0"/>
          </a:p>
        </p:txBody>
      </p:sp>
      <p:sp>
        <p:nvSpPr>
          <p:cNvPr id="19" name="text-142"/>
          <p:cNvSpPr txBox="1"/>
          <p:nvPr/>
        </p:nvSpPr>
        <p:spPr>
          <a:xfrm>
            <a:off x="9098280" y="2148840"/>
            <a:ext cx="2304288" cy="274320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[7] Lattner &amp; Adve 2004</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LLVM IR</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[8] Lattner et al. 2021</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MLIR</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[9] Chen et al. 2020</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compiler testing survey</a:t>
            </a:r>
            <a:endParaRPr lang="en-US" sz="1600" dirty="0"/>
          </a:p>
          <a:p>
            <a:pPr indent="0" marL="0">
              <a:buNone/>
            </a:pPr>
            <a:r>
              <a:rPr lang="en-US" sz="1000" dirty="0">
                <a:solidFill>
                  <a:srgbClr val="ECECEE"/>
                </a:solidFill>
                <a:latin typeface="Inter" pitchFamily="34" charset="0"/>
                <a:ea typeface="Inter" pitchFamily="34" charset="-122"/>
                <a:cs typeface="Inter" pitchFamily="34" charset="-120"/>
              </a:rPr>
              <a:t> </a:t>
            </a:r>
            <a:endParaRPr lang="en-US" sz="1600" dirty="0"/>
          </a:p>
          <a:p>
            <a:pPr indent="0" marL="0">
              <a:buNone/>
            </a:pPr>
            <a:r>
              <a:rPr lang="en-US" sz="1600" b="1" dirty="0">
                <a:solidFill>
                  <a:srgbClr val="ECECEE"/>
                </a:solidFill>
                <a:latin typeface="Inter" pitchFamily="34" charset="0"/>
                <a:ea typeface="Inter" pitchFamily="34" charset="-122"/>
                <a:cs typeface="Inter" pitchFamily="34" charset="-120"/>
              </a:rPr>
              <a:t>[10] Ma 2023 (preprint)</a:t>
            </a:r>
            <a:endParaRPr lang="en-US" sz="1600" dirty="0"/>
          </a:p>
          <a:p>
            <a:pPr indent="0" marL="0">
              <a:buNone/>
            </a:pPr>
            <a:r>
              <a:rPr lang="en-US" sz="1400" dirty="0">
                <a:solidFill>
                  <a:srgbClr val="8E8E96"/>
                </a:solidFill>
                <a:latin typeface="Inter" pitchFamily="34" charset="0"/>
                <a:ea typeface="Inter" pitchFamily="34" charset="-122"/>
                <a:cs typeface="Inter" pitchFamily="34" charset="-120"/>
              </a:rPr>
              <a:t>compiler fuzzing survey</a:t>
            </a:r>
            <a:endParaRPr lang="en-US" sz="1600" dirty="0"/>
          </a:p>
        </p:txBody>
      </p:sp>
      <p:sp>
        <p:nvSpPr>
          <p:cNvPr id="20" name="text-143"/>
          <p:cNvSpPr txBox="1"/>
          <p:nvPr/>
        </p:nvSpPr>
        <p:spPr>
          <a:xfrm>
            <a:off x="9098280" y="4846320"/>
            <a:ext cx="2304288" cy="502920"/>
          </a:xfrm>
          <a:prstGeom prst="rect">
            <a:avLst/>
          </a:prstGeom>
          <a:noFill/>
          <a:ln/>
        </p:spPr>
        <p:txBody>
          <a:bodyPr wrap="square" lIns="0" tIns="0" rIns="0" bIns="0" rtlCol="0" anchor="b"/>
          <a:lstStyle/>
          <a:p>
            <a:pPr indent="0" marL="0">
              <a:buNone/>
            </a:pPr>
            <a:r>
              <a:rPr lang="en-US" sz="1400" dirty="0">
                <a:solidFill>
                  <a:srgbClr val="ECECEE"/>
                </a:solidFill>
                <a:latin typeface="Inter" pitchFamily="34" charset="0"/>
                <a:ea typeface="Inter" pitchFamily="34" charset="-122"/>
                <a:cs typeface="Inter" pitchFamily="34" charset="-120"/>
              </a:rPr>
              <a:t>IR design and validation</a:t>
            </a:r>
            <a:endParaRPr lang="en-US" sz="1400" dirty="0"/>
          </a:p>
        </p:txBody>
      </p:sp>
      <p:sp>
        <p:nvSpPr>
          <p:cNvPr id="21" name="text-144"/>
          <p:cNvSpPr txBox="1"/>
          <p:nvPr/>
        </p:nvSpPr>
        <p:spPr>
          <a:xfrm>
            <a:off x="548640" y="5715000"/>
            <a:ext cx="11091672" cy="54864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CAUSA builds on established ideas; its contribution is integrating them into one language, compiler and runtime workflow.</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System architecture</a:t>
            </a:r>
            <a:endParaRPr lang="en-US" sz="2800" dirty="0"/>
          </a:p>
        </p:txBody>
      </p:sp>
      <p:sp>
        <p:nvSpPr>
          <p:cNvPr id="3" name="text-145"/>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Architecture</a:t>
            </a:r>
            <a:endParaRPr lang="en-US" sz="1000" dirty="0"/>
          </a:p>
        </p:txBody>
      </p:sp>
      <p:sp>
        <p:nvSpPr>
          <p:cNvPr id="5" name="panel-146"/>
          <p:cNvSpPr/>
          <p:nvPr/>
        </p:nvSpPr>
        <p:spPr>
          <a:xfrm>
            <a:off x="411480" y="1097280"/>
            <a:ext cx="11365992" cy="4526280"/>
          </a:xfrm>
          <a:prstGeom prst="roundRect">
            <a:avLst>
              <a:gd name="adj" fmla="val 1616"/>
            </a:avLst>
          </a:prstGeom>
          <a:solidFill>
            <a:srgbClr val="121214"/>
          </a:solidFill>
          <a:ln w="12700">
            <a:solidFill>
              <a:srgbClr val="121214"/>
            </a:solidFill>
            <a:prstDash val="solid"/>
          </a:ln>
        </p:spPr>
      </p:sp>
      <p:sp>
        <p:nvSpPr>
          <p:cNvPr id="6" name="dot-147"/>
          <p:cNvSpPr/>
          <p:nvPr/>
        </p:nvSpPr>
        <p:spPr>
          <a:xfrm>
            <a:off x="548640" y="1307592"/>
            <a:ext cx="146304" cy="146304"/>
          </a:xfrm>
          <a:prstGeom prst="ellipse">
            <a:avLst/>
          </a:prstGeom>
          <a:solidFill>
            <a:srgbClr val="22D3EE"/>
          </a:solidFill>
          <a:ln w="12700">
            <a:solidFill>
              <a:srgbClr val="22D3EE"/>
            </a:solidFill>
            <a:prstDash val="solid"/>
          </a:ln>
        </p:spPr>
      </p:sp>
      <p:sp>
        <p:nvSpPr>
          <p:cNvPr id="7" name="text-148"/>
          <p:cNvSpPr txBox="1"/>
          <p:nvPr/>
        </p:nvSpPr>
        <p:spPr>
          <a:xfrm>
            <a:off x="777240" y="1234440"/>
            <a:ext cx="3291840" cy="292608"/>
          </a:xfrm>
          <a:prstGeom prst="rect">
            <a:avLst/>
          </a:prstGeom>
          <a:noFill/>
          <a:ln/>
        </p:spPr>
        <p:txBody>
          <a:bodyPr wrap="square" lIns="0" tIns="0" rIns="0" bIns="0" rtlCol="0" anchor="ctr"/>
          <a:lstStyle/>
          <a:p>
            <a:pPr indent="0" marL="0">
              <a:buNone/>
            </a:pPr>
            <a:r>
              <a:rPr lang="en-US" sz="1300" dirty="0">
                <a:solidFill>
                  <a:srgbClr val="8E8E96"/>
                </a:solidFill>
                <a:latin typeface="Inter" pitchFamily="34" charset="0"/>
                <a:ea typeface="Inter" pitchFamily="34" charset="-122"/>
                <a:cs typeface="Inter" pitchFamily="34" charset="-120"/>
              </a:rPr>
              <a:t>Front end · Python</a:t>
            </a:r>
            <a:endParaRPr lang="en-US" sz="1300" dirty="0"/>
          </a:p>
        </p:txBody>
      </p:sp>
      <p:sp>
        <p:nvSpPr>
          <p:cNvPr id="8" name="dot-149"/>
          <p:cNvSpPr/>
          <p:nvPr/>
        </p:nvSpPr>
        <p:spPr>
          <a:xfrm>
            <a:off x="3200400" y="1307592"/>
            <a:ext cx="146304" cy="146304"/>
          </a:xfrm>
          <a:prstGeom prst="ellipse">
            <a:avLst/>
          </a:prstGeom>
          <a:solidFill>
            <a:srgbClr val="A78BFA"/>
          </a:solidFill>
          <a:ln w="12700">
            <a:solidFill>
              <a:srgbClr val="A78BFA"/>
            </a:solidFill>
            <a:prstDash val="solid"/>
          </a:ln>
        </p:spPr>
      </p:sp>
      <p:sp>
        <p:nvSpPr>
          <p:cNvPr id="9" name="text-150"/>
          <p:cNvSpPr txBox="1"/>
          <p:nvPr/>
        </p:nvSpPr>
        <p:spPr>
          <a:xfrm>
            <a:off x="3429000" y="1234440"/>
            <a:ext cx="3291840" cy="292608"/>
          </a:xfrm>
          <a:prstGeom prst="rect">
            <a:avLst/>
          </a:prstGeom>
          <a:noFill/>
          <a:ln/>
        </p:spPr>
        <p:txBody>
          <a:bodyPr wrap="square" lIns="0" tIns="0" rIns="0" bIns="0" rtlCol="0" anchor="ctr"/>
          <a:lstStyle/>
          <a:p>
            <a:pPr indent="0" marL="0">
              <a:buNone/>
            </a:pPr>
            <a:r>
              <a:rPr lang="en-US" sz="1300" dirty="0">
                <a:solidFill>
                  <a:srgbClr val="8E8E96"/>
                </a:solidFill>
                <a:latin typeface="Inter" pitchFamily="34" charset="0"/>
                <a:ea typeface="Inter" pitchFamily="34" charset="-122"/>
                <a:cs typeface="Inter" pitchFamily="34" charset="-120"/>
              </a:rPr>
              <a:t>Causal IR and optimizer · Python</a:t>
            </a:r>
            <a:endParaRPr lang="en-US" sz="1300" dirty="0"/>
          </a:p>
        </p:txBody>
      </p:sp>
      <p:sp>
        <p:nvSpPr>
          <p:cNvPr id="10" name="dot-151"/>
          <p:cNvSpPr/>
          <p:nvPr/>
        </p:nvSpPr>
        <p:spPr>
          <a:xfrm>
            <a:off x="6583680" y="1307592"/>
            <a:ext cx="146304" cy="146304"/>
          </a:xfrm>
          <a:prstGeom prst="ellipse">
            <a:avLst/>
          </a:prstGeom>
          <a:solidFill>
            <a:srgbClr val="2DD4BF"/>
          </a:solidFill>
          <a:ln w="12700">
            <a:solidFill>
              <a:srgbClr val="2DD4BF"/>
            </a:solidFill>
            <a:prstDash val="solid"/>
          </a:ln>
        </p:spPr>
      </p:sp>
      <p:sp>
        <p:nvSpPr>
          <p:cNvPr id="11" name="text-152"/>
          <p:cNvSpPr txBox="1"/>
          <p:nvPr/>
        </p:nvSpPr>
        <p:spPr>
          <a:xfrm>
            <a:off x="6812280" y="1234440"/>
            <a:ext cx="3291840" cy="292608"/>
          </a:xfrm>
          <a:prstGeom prst="rect">
            <a:avLst/>
          </a:prstGeom>
          <a:noFill/>
          <a:ln/>
        </p:spPr>
        <p:txBody>
          <a:bodyPr wrap="square" lIns="0" tIns="0" rIns="0" bIns="0" rtlCol="0" anchor="ctr"/>
          <a:lstStyle/>
          <a:p>
            <a:pPr indent="0" marL="0">
              <a:buNone/>
            </a:pPr>
            <a:r>
              <a:rPr lang="en-US" sz="1300" dirty="0">
                <a:solidFill>
                  <a:srgbClr val="8E8E96"/>
                </a:solidFill>
                <a:latin typeface="Inter" pitchFamily="34" charset="0"/>
                <a:ea typeface="Inter" pitchFamily="34" charset="-122"/>
                <a:cs typeface="Inter" pitchFamily="34" charset="-120"/>
              </a:rPr>
              <a:t>Back end · C</a:t>
            </a:r>
            <a:endParaRPr lang="en-US" sz="1300" dirty="0"/>
          </a:p>
        </p:txBody>
      </p:sp>
      <p:sp>
        <p:nvSpPr>
          <p:cNvPr id="12" name="node-153"/>
          <p:cNvSpPr/>
          <p:nvPr/>
        </p:nvSpPr>
        <p:spPr>
          <a:xfrm>
            <a:off x="548640" y="1828800"/>
            <a:ext cx="1554480" cy="777240"/>
          </a:xfrm>
          <a:prstGeom prst="roundRect">
            <a:avLst>
              <a:gd name="adj" fmla="val 7059"/>
            </a:avLst>
          </a:prstGeom>
          <a:solidFill>
            <a:srgbClr val="1C1C21"/>
          </a:solidFill>
          <a:ln w="19050">
            <a:solidFill>
              <a:srgbClr val="22D3EE"/>
            </a:solidFill>
            <a:prstDash val="solid"/>
          </a:ln>
        </p:spPr>
      </p:sp>
      <p:sp>
        <p:nvSpPr>
          <p:cNvPr id="13" name="text-154"/>
          <p:cNvSpPr txBox="1"/>
          <p:nvPr/>
        </p:nvSpPr>
        <p:spPr>
          <a:xfrm>
            <a:off x="548640" y="18288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CAUSA Source</a:t>
            </a:r>
            <a:endParaRPr lang="en-US" sz="1300" dirty="0"/>
          </a:p>
        </p:txBody>
      </p:sp>
      <p:sp>
        <p:nvSpPr>
          <p:cNvPr id="14" name="node-155"/>
          <p:cNvSpPr/>
          <p:nvPr/>
        </p:nvSpPr>
        <p:spPr>
          <a:xfrm>
            <a:off x="2395728" y="1828800"/>
            <a:ext cx="1554480" cy="777240"/>
          </a:xfrm>
          <a:prstGeom prst="roundRect">
            <a:avLst>
              <a:gd name="adj" fmla="val 7059"/>
            </a:avLst>
          </a:prstGeom>
          <a:solidFill>
            <a:srgbClr val="1C1C21"/>
          </a:solidFill>
          <a:ln w="19050">
            <a:solidFill>
              <a:srgbClr val="22D3EE"/>
            </a:solidFill>
            <a:prstDash val="solid"/>
          </a:ln>
        </p:spPr>
      </p:sp>
      <p:sp>
        <p:nvSpPr>
          <p:cNvPr id="15" name="text-156"/>
          <p:cNvSpPr txBox="1"/>
          <p:nvPr/>
        </p:nvSpPr>
        <p:spPr>
          <a:xfrm>
            <a:off x="2395728" y="18288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Lexer</a:t>
            </a:r>
            <a:endParaRPr lang="en-US" sz="1300" dirty="0"/>
          </a:p>
        </p:txBody>
      </p:sp>
      <p:sp>
        <p:nvSpPr>
          <p:cNvPr id="16" name="arrow-157"/>
          <p:cNvSpPr/>
          <p:nvPr/>
        </p:nvSpPr>
        <p:spPr>
          <a:xfrm>
            <a:off x="2121408" y="2217420"/>
            <a:ext cx="256032" cy="0"/>
          </a:xfrm>
          <a:prstGeom prst="line">
            <a:avLst/>
          </a:prstGeom>
          <a:noFill/>
          <a:ln w="19050">
            <a:solidFill>
              <a:srgbClr val="8E8E96"/>
            </a:solidFill>
            <a:prstDash val="solid"/>
            <a:tailEnd type="triangle"/>
          </a:ln>
        </p:spPr>
      </p:sp>
      <p:sp>
        <p:nvSpPr>
          <p:cNvPr id="17" name="node-158"/>
          <p:cNvSpPr/>
          <p:nvPr/>
        </p:nvSpPr>
        <p:spPr>
          <a:xfrm>
            <a:off x="4242816" y="1828800"/>
            <a:ext cx="1554480" cy="777240"/>
          </a:xfrm>
          <a:prstGeom prst="roundRect">
            <a:avLst>
              <a:gd name="adj" fmla="val 7059"/>
            </a:avLst>
          </a:prstGeom>
          <a:solidFill>
            <a:srgbClr val="1C1C21"/>
          </a:solidFill>
          <a:ln w="19050">
            <a:solidFill>
              <a:srgbClr val="22D3EE"/>
            </a:solidFill>
            <a:prstDash val="solid"/>
          </a:ln>
        </p:spPr>
      </p:sp>
      <p:sp>
        <p:nvSpPr>
          <p:cNvPr id="18" name="text-159"/>
          <p:cNvSpPr txBox="1"/>
          <p:nvPr/>
        </p:nvSpPr>
        <p:spPr>
          <a:xfrm>
            <a:off x="4242816" y="18288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Parser</a:t>
            </a:r>
            <a:endParaRPr lang="en-US" sz="1300" dirty="0"/>
          </a:p>
        </p:txBody>
      </p:sp>
      <p:sp>
        <p:nvSpPr>
          <p:cNvPr id="19" name="arrow-160"/>
          <p:cNvSpPr/>
          <p:nvPr/>
        </p:nvSpPr>
        <p:spPr>
          <a:xfrm>
            <a:off x="3968496" y="2217420"/>
            <a:ext cx="256032" cy="0"/>
          </a:xfrm>
          <a:prstGeom prst="line">
            <a:avLst/>
          </a:prstGeom>
          <a:noFill/>
          <a:ln w="19050">
            <a:solidFill>
              <a:srgbClr val="8E8E96"/>
            </a:solidFill>
            <a:prstDash val="solid"/>
            <a:tailEnd type="triangle"/>
          </a:ln>
        </p:spPr>
      </p:sp>
      <p:sp>
        <p:nvSpPr>
          <p:cNvPr id="20" name="node-161"/>
          <p:cNvSpPr/>
          <p:nvPr/>
        </p:nvSpPr>
        <p:spPr>
          <a:xfrm>
            <a:off x="6089904" y="1828800"/>
            <a:ext cx="1554480" cy="777240"/>
          </a:xfrm>
          <a:prstGeom prst="roundRect">
            <a:avLst>
              <a:gd name="adj" fmla="val 7059"/>
            </a:avLst>
          </a:prstGeom>
          <a:solidFill>
            <a:srgbClr val="1C1C21"/>
          </a:solidFill>
          <a:ln w="19050">
            <a:solidFill>
              <a:srgbClr val="22D3EE"/>
            </a:solidFill>
            <a:prstDash val="solid"/>
          </a:ln>
        </p:spPr>
      </p:sp>
      <p:sp>
        <p:nvSpPr>
          <p:cNvPr id="21" name="text-162"/>
          <p:cNvSpPr txBox="1"/>
          <p:nvPr/>
        </p:nvSpPr>
        <p:spPr>
          <a:xfrm>
            <a:off x="6089904" y="18288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Abstract Syntax Tree</a:t>
            </a:r>
            <a:endParaRPr lang="en-US" sz="1300" dirty="0"/>
          </a:p>
        </p:txBody>
      </p:sp>
      <p:sp>
        <p:nvSpPr>
          <p:cNvPr id="22" name="arrow-163"/>
          <p:cNvSpPr/>
          <p:nvPr/>
        </p:nvSpPr>
        <p:spPr>
          <a:xfrm>
            <a:off x="5815584" y="2217420"/>
            <a:ext cx="256032" cy="0"/>
          </a:xfrm>
          <a:prstGeom prst="line">
            <a:avLst/>
          </a:prstGeom>
          <a:noFill/>
          <a:ln w="19050">
            <a:solidFill>
              <a:srgbClr val="8E8E96"/>
            </a:solidFill>
            <a:prstDash val="solid"/>
            <a:tailEnd type="triangle"/>
          </a:ln>
        </p:spPr>
      </p:sp>
      <p:sp>
        <p:nvSpPr>
          <p:cNvPr id="23" name="node-164"/>
          <p:cNvSpPr/>
          <p:nvPr/>
        </p:nvSpPr>
        <p:spPr>
          <a:xfrm>
            <a:off x="7936992" y="1828800"/>
            <a:ext cx="1554480" cy="777240"/>
          </a:xfrm>
          <a:prstGeom prst="roundRect">
            <a:avLst>
              <a:gd name="adj" fmla="val 7059"/>
            </a:avLst>
          </a:prstGeom>
          <a:solidFill>
            <a:srgbClr val="1C1C21"/>
          </a:solidFill>
          <a:ln w="19050">
            <a:solidFill>
              <a:srgbClr val="22D3EE"/>
            </a:solidFill>
            <a:prstDash val="solid"/>
          </a:ln>
        </p:spPr>
      </p:sp>
      <p:sp>
        <p:nvSpPr>
          <p:cNvPr id="24" name="text-165"/>
          <p:cNvSpPr txBox="1"/>
          <p:nvPr/>
        </p:nvSpPr>
        <p:spPr>
          <a:xfrm>
            <a:off x="7936992" y="18288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Semantic Analysis</a:t>
            </a:r>
            <a:endParaRPr lang="en-US" sz="1300" dirty="0"/>
          </a:p>
        </p:txBody>
      </p:sp>
      <p:sp>
        <p:nvSpPr>
          <p:cNvPr id="25" name="arrow-166"/>
          <p:cNvSpPr/>
          <p:nvPr/>
        </p:nvSpPr>
        <p:spPr>
          <a:xfrm>
            <a:off x="7662672" y="2217420"/>
            <a:ext cx="256032" cy="0"/>
          </a:xfrm>
          <a:prstGeom prst="line">
            <a:avLst/>
          </a:prstGeom>
          <a:noFill/>
          <a:ln w="19050">
            <a:solidFill>
              <a:srgbClr val="8E8E96"/>
            </a:solidFill>
            <a:prstDash val="solid"/>
            <a:tailEnd type="triangle"/>
          </a:ln>
        </p:spPr>
      </p:sp>
      <p:sp>
        <p:nvSpPr>
          <p:cNvPr id="26" name="node-167"/>
          <p:cNvSpPr/>
          <p:nvPr/>
        </p:nvSpPr>
        <p:spPr>
          <a:xfrm>
            <a:off x="548640" y="3429000"/>
            <a:ext cx="1554480" cy="777240"/>
          </a:xfrm>
          <a:prstGeom prst="roundRect">
            <a:avLst>
              <a:gd name="adj" fmla="val 7059"/>
            </a:avLst>
          </a:prstGeom>
          <a:solidFill>
            <a:srgbClr val="1C1C21"/>
          </a:solidFill>
          <a:ln w="19050">
            <a:solidFill>
              <a:srgbClr val="A78BFA"/>
            </a:solidFill>
            <a:prstDash val="solid"/>
          </a:ln>
        </p:spPr>
      </p:sp>
      <p:sp>
        <p:nvSpPr>
          <p:cNvPr id="27" name="text-168"/>
          <p:cNvSpPr txBox="1"/>
          <p:nvPr/>
        </p:nvSpPr>
        <p:spPr>
          <a:xfrm>
            <a:off x="548640"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Causal IR</a:t>
            </a:r>
            <a:endParaRPr lang="en-US" sz="1300" dirty="0"/>
          </a:p>
        </p:txBody>
      </p:sp>
      <p:sp>
        <p:nvSpPr>
          <p:cNvPr id="28" name="node-169"/>
          <p:cNvSpPr/>
          <p:nvPr/>
        </p:nvSpPr>
        <p:spPr>
          <a:xfrm>
            <a:off x="2395728" y="3429000"/>
            <a:ext cx="1554480" cy="777240"/>
          </a:xfrm>
          <a:prstGeom prst="roundRect">
            <a:avLst>
              <a:gd name="adj" fmla="val 7059"/>
            </a:avLst>
          </a:prstGeom>
          <a:solidFill>
            <a:srgbClr val="1C1C21"/>
          </a:solidFill>
          <a:ln w="19050">
            <a:solidFill>
              <a:srgbClr val="A78BFA"/>
            </a:solidFill>
            <a:prstDash val="solid"/>
          </a:ln>
        </p:spPr>
      </p:sp>
      <p:sp>
        <p:nvSpPr>
          <p:cNvPr id="29" name="text-170"/>
          <p:cNvSpPr txBox="1"/>
          <p:nvPr/>
        </p:nvSpPr>
        <p:spPr>
          <a:xfrm>
            <a:off x="2395728"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Optimizer</a:t>
            </a:r>
            <a:endParaRPr lang="en-US" sz="1300" dirty="0"/>
          </a:p>
        </p:txBody>
      </p:sp>
      <p:sp>
        <p:nvSpPr>
          <p:cNvPr id="30" name="arrow-171"/>
          <p:cNvSpPr/>
          <p:nvPr/>
        </p:nvSpPr>
        <p:spPr>
          <a:xfrm>
            <a:off x="2121408" y="3817620"/>
            <a:ext cx="256032" cy="0"/>
          </a:xfrm>
          <a:prstGeom prst="line">
            <a:avLst/>
          </a:prstGeom>
          <a:noFill/>
          <a:ln w="19050">
            <a:solidFill>
              <a:srgbClr val="8E8E96"/>
            </a:solidFill>
            <a:prstDash val="solid"/>
            <a:tailEnd type="triangle"/>
          </a:ln>
        </p:spPr>
      </p:sp>
      <p:sp>
        <p:nvSpPr>
          <p:cNvPr id="31" name="node-172"/>
          <p:cNvSpPr/>
          <p:nvPr/>
        </p:nvSpPr>
        <p:spPr>
          <a:xfrm>
            <a:off x="4242816" y="3429000"/>
            <a:ext cx="1554480" cy="777240"/>
          </a:xfrm>
          <a:prstGeom prst="roundRect">
            <a:avLst>
              <a:gd name="adj" fmla="val 7059"/>
            </a:avLst>
          </a:prstGeom>
          <a:solidFill>
            <a:srgbClr val="1C1C21"/>
          </a:solidFill>
          <a:ln w="19050">
            <a:solidFill>
              <a:srgbClr val="2DD4BF"/>
            </a:solidFill>
            <a:prstDash val="solid"/>
          </a:ln>
        </p:spPr>
      </p:sp>
      <p:sp>
        <p:nvSpPr>
          <p:cNvPr id="32" name="text-173"/>
          <p:cNvSpPr txBox="1"/>
          <p:nvPr/>
        </p:nvSpPr>
        <p:spPr>
          <a:xfrm>
            <a:off x="4242816"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C Code Generator</a:t>
            </a:r>
            <a:endParaRPr lang="en-US" sz="1300" dirty="0"/>
          </a:p>
        </p:txBody>
      </p:sp>
      <p:sp>
        <p:nvSpPr>
          <p:cNvPr id="33" name="arrow-174"/>
          <p:cNvSpPr/>
          <p:nvPr/>
        </p:nvSpPr>
        <p:spPr>
          <a:xfrm>
            <a:off x="3968496" y="3817620"/>
            <a:ext cx="256032" cy="0"/>
          </a:xfrm>
          <a:prstGeom prst="line">
            <a:avLst/>
          </a:prstGeom>
          <a:noFill/>
          <a:ln w="19050">
            <a:solidFill>
              <a:srgbClr val="8E8E96"/>
            </a:solidFill>
            <a:prstDash val="solid"/>
            <a:tailEnd type="triangle"/>
          </a:ln>
        </p:spPr>
      </p:sp>
      <p:sp>
        <p:nvSpPr>
          <p:cNvPr id="34" name="node-175"/>
          <p:cNvSpPr/>
          <p:nvPr/>
        </p:nvSpPr>
        <p:spPr>
          <a:xfrm>
            <a:off x="6089904" y="3429000"/>
            <a:ext cx="1554480" cy="777240"/>
          </a:xfrm>
          <a:prstGeom prst="roundRect">
            <a:avLst>
              <a:gd name="adj" fmla="val 7059"/>
            </a:avLst>
          </a:prstGeom>
          <a:solidFill>
            <a:srgbClr val="1C1C21"/>
          </a:solidFill>
          <a:ln w="19050">
            <a:solidFill>
              <a:srgbClr val="2DD4BF"/>
            </a:solidFill>
            <a:prstDash val="solid"/>
          </a:ln>
        </p:spPr>
      </p:sp>
      <p:sp>
        <p:nvSpPr>
          <p:cNvPr id="35" name="text-176"/>
          <p:cNvSpPr txBox="1"/>
          <p:nvPr/>
        </p:nvSpPr>
        <p:spPr>
          <a:xfrm>
            <a:off x="6089904"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Generated C + Runtime</a:t>
            </a:r>
            <a:endParaRPr lang="en-US" sz="1300" dirty="0"/>
          </a:p>
        </p:txBody>
      </p:sp>
      <p:sp>
        <p:nvSpPr>
          <p:cNvPr id="36" name="arrow-177"/>
          <p:cNvSpPr/>
          <p:nvPr/>
        </p:nvSpPr>
        <p:spPr>
          <a:xfrm>
            <a:off x="5815584" y="3817620"/>
            <a:ext cx="256032" cy="0"/>
          </a:xfrm>
          <a:prstGeom prst="line">
            <a:avLst/>
          </a:prstGeom>
          <a:noFill/>
          <a:ln w="19050">
            <a:solidFill>
              <a:srgbClr val="8E8E96"/>
            </a:solidFill>
            <a:prstDash val="solid"/>
            <a:tailEnd type="triangle"/>
          </a:ln>
        </p:spPr>
      </p:sp>
      <p:sp>
        <p:nvSpPr>
          <p:cNvPr id="37" name="node-178"/>
          <p:cNvSpPr/>
          <p:nvPr/>
        </p:nvSpPr>
        <p:spPr>
          <a:xfrm>
            <a:off x="7936992" y="3429000"/>
            <a:ext cx="1554480" cy="777240"/>
          </a:xfrm>
          <a:prstGeom prst="roundRect">
            <a:avLst>
              <a:gd name="adj" fmla="val 7059"/>
            </a:avLst>
          </a:prstGeom>
          <a:solidFill>
            <a:srgbClr val="1C1C21"/>
          </a:solidFill>
          <a:ln w="19050">
            <a:solidFill>
              <a:srgbClr val="2DD4BF"/>
            </a:solidFill>
            <a:prstDash val="solid"/>
          </a:ln>
        </p:spPr>
      </p:sp>
      <p:sp>
        <p:nvSpPr>
          <p:cNvPr id="38" name="text-179"/>
          <p:cNvSpPr txBox="1"/>
          <p:nvPr/>
        </p:nvSpPr>
        <p:spPr>
          <a:xfrm>
            <a:off x="7936992"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System C Compiler</a:t>
            </a:r>
            <a:endParaRPr lang="en-US" sz="1300" dirty="0"/>
          </a:p>
        </p:txBody>
      </p:sp>
      <p:sp>
        <p:nvSpPr>
          <p:cNvPr id="39" name="arrow-180"/>
          <p:cNvSpPr/>
          <p:nvPr/>
        </p:nvSpPr>
        <p:spPr>
          <a:xfrm>
            <a:off x="7662672" y="3817620"/>
            <a:ext cx="256032" cy="0"/>
          </a:xfrm>
          <a:prstGeom prst="line">
            <a:avLst/>
          </a:prstGeom>
          <a:noFill/>
          <a:ln w="19050">
            <a:solidFill>
              <a:srgbClr val="8E8E96"/>
            </a:solidFill>
            <a:prstDash val="solid"/>
            <a:tailEnd type="triangle"/>
          </a:ln>
        </p:spPr>
      </p:sp>
      <p:sp>
        <p:nvSpPr>
          <p:cNvPr id="40" name="node-181"/>
          <p:cNvSpPr/>
          <p:nvPr/>
        </p:nvSpPr>
        <p:spPr>
          <a:xfrm>
            <a:off x="9784080" y="3429000"/>
            <a:ext cx="1554480" cy="777240"/>
          </a:xfrm>
          <a:prstGeom prst="roundRect">
            <a:avLst>
              <a:gd name="adj" fmla="val 7059"/>
            </a:avLst>
          </a:prstGeom>
          <a:solidFill>
            <a:srgbClr val="1C1C21"/>
          </a:solidFill>
          <a:ln w="19050">
            <a:solidFill>
              <a:srgbClr val="2DD4BF"/>
            </a:solidFill>
            <a:prstDash val="solid"/>
          </a:ln>
        </p:spPr>
      </p:sp>
      <p:sp>
        <p:nvSpPr>
          <p:cNvPr id="41" name="text-182"/>
          <p:cNvSpPr txBox="1"/>
          <p:nvPr/>
        </p:nvSpPr>
        <p:spPr>
          <a:xfrm>
            <a:off x="9784080" y="3429000"/>
            <a:ext cx="1554480" cy="777240"/>
          </a:xfrm>
          <a:prstGeom prst="rect">
            <a:avLst/>
          </a:prstGeom>
          <a:noFill/>
          <a:ln/>
        </p:spPr>
        <p:txBody>
          <a:bodyPr wrap="square" lIns="0" tIns="0" rIns="0" bIns="0" rtlCol="0" anchor="ctr"/>
          <a:lstStyle/>
          <a:p>
            <a:pPr algn="ctr" indent="0" marL="0">
              <a:buNone/>
            </a:pPr>
            <a:r>
              <a:rPr lang="en-US" sz="1300" b="1" dirty="0">
                <a:solidFill>
                  <a:srgbClr val="ECECEE"/>
                </a:solidFill>
                <a:latin typeface="Consolas" pitchFamily="34" charset="0"/>
                <a:ea typeface="Consolas" pitchFamily="34" charset="-122"/>
                <a:cs typeface="Consolas" pitchFamily="34" charset="-120"/>
              </a:rPr>
              <a:t>Native Executable</a:t>
            </a:r>
            <a:endParaRPr lang="en-US" sz="1300" dirty="0"/>
          </a:p>
        </p:txBody>
      </p:sp>
      <p:sp>
        <p:nvSpPr>
          <p:cNvPr id="42" name="arrow-183"/>
          <p:cNvSpPr/>
          <p:nvPr/>
        </p:nvSpPr>
        <p:spPr>
          <a:xfrm>
            <a:off x="9509760" y="3817620"/>
            <a:ext cx="256032" cy="0"/>
          </a:xfrm>
          <a:prstGeom prst="line">
            <a:avLst/>
          </a:prstGeom>
          <a:noFill/>
          <a:ln w="19050">
            <a:solidFill>
              <a:srgbClr val="8E8E96"/>
            </a:solidFill>
            <a:prstDash val="solid"/>
            <a:tailEnd type="triangle"/>
          </a:ln>
        </p:spPr>
      </p:sp>
      <p:sp>
        <p:nvSpPr>
          <p:cNvPr id="43" name="arrow-184"/>
          <p:cNvSpPr/>
          <p:nvPr/>
        </p:nvSpPr>
        <p:spPr>
          <a:xfrm>
            <a:off x="8714232" y="2606040"/>
            <a:ext cx="0" cy="411480"/>
          </a:xfrm>
          <a:prstGeom prst="line">
            <a:avLst/>
          </a:prstGeom>
          <a:noFill/>
          <a:ln w="19050">
            <a:solidFill>
              <a:srgbClr val="8E8E96"/>
            </a:solidFill>
            <a:prstDash val="solid"/>
          </a:ln>
        </p:spPr>
      </p:sp>
      <p:sp>
        <p:nvSpPr>
          <p:cNvPr id="44" name="arrow-185"/>
          <p:cNvSpPr/>
          <p:nvPr/>
        </p:nvSpPr>
        <p:spPr>
          <a:xfrm flipH="1">
            <a:off x="1325880" y="3017520"/>
            <a:ext cx="7388352" cy="0"/>
          </a:xfrm>
          <a:prstGeom prst="line">
            <a:avLst/>
          </a:prstGeom>
          <a:noFill/>
          <a:ln w="19050">
            <a:solidFill>
              <a:srgbClr val="8E8E96"/>
            </a:solidFill>
            <a:prstDash val="solid"/>
          </a:ln>
        </p:spPr>
      </p:sp>
      <p:sp>
        <p:nvSpPr>
          <p:cNvPr id="45" name="arrow-186"/>
          <p:cNvSpPr/>
          <p:nvPr/>
        </p:nvSpPr>
        <p:spPr>
          <a:xfrm>
            <a:off x="1325880" y="3017520"/>
            <a:ext cx="0" cy="411480"/>
          </a:xfrm>
          <a:prstGeom prst="line">
            <a:avLst/>
          </a:prstGeom>
          <a:noFill/>
          <a:ln w="19050">
            <a:solidFill>
              <a:srgbClr val="8E8E96"/>
            </a:solidFill>
            <a:prstDash val="solid"/>
            <a:tailEnd type="triangle"/>
          </a:ln>
        </p:spPr>
      </p:sp>
      <p:sp>
        <p:nvSpPr>
          <p:cNvPr id="46" name="text-187"/>
          <p:cNvSpPr txBox="1"/>
          <p:nvPr/>
        </p:nvSpPr>
        <p:spPr>
          <a:xfrm>
            <a:off x="548640" y="4983480"/>
            <a:ext cx="1737360" cy="274320"/>
          </a:xfrm>
          <a:prstGeom prst="rect">
            <a:avLst/>
          </a:prstGeom>
          <a:noFill/>
          <a:ln/>
        </p:spPr>
        <p:txBody>
          <a:bodyPr wrap="square" lIns="0" tIns="0" rIns="0" bIns="0" rtlCol="0" anchor="t"/>
          <a:lstStyle/>
          <a:p>
            <a:pPr indent="0" marL="0">
              <a:buNone/>
            </a:pPr>
            <a:r>
              <a:rPr lang="en-US" sz="1300" b="1" dirty="0">
                <a:solidFill>
                  <a:srgbClr val="2DD4BF"/>
                </a:solidFill>
                <a:latin typeface="Inter" pitchFamily="34" charset="0"/>
                <a:ea typeface="Inter" pitchFamily="34" charset="-122"/>
                <a:cs typeface="Inter" pitchFamily="34" charset="-120"/>
              </a:rPr>
              <a:t>Runtime library</a:t>
            </a:r>
            <a:endParaRPr lang="en-US" sz="1300" dirty="0"/>
          </a:p>
        </p:txBody>
      </p:sp>
      <p:sp>
        <p:nvSpPr>
          <p:cNvPr id="47" name="text-188"/>
          <p:cNvSpPr txBox="1"/>
          <p:nvPr/>
        </p:nvSpPr>
        <p:spPr>
          <a:xfrm>
            <a:off x="548640" y="5257800"/>
            <a:ext cx="1737360" cy="274320"/>
          </a:xfrm>
          <a:prstGeom prst="rect">
            <a:avLst/>
          </a:prstGeom>
          <a:noFill/>
          <a:ln/>
        </p:spPr>
        <p:txBody>
          <a:bodyPr wrap="square" lIns="0" tIns="0" rIns="0" bIns="0" rtlCol="0" anchor="t"/>
          <a:lstStyle/>
          <a:p>
            <a:pPr indent="0" marL="0">
              <a:buNone/>
            </a:pPr>
            <a:r>
              <a:rPr lang="en-US" sz="1100" dirty="0">
                <a:solidFill>
                  <a:srgbClr val="8E8E96"/>
                </a:solidFill>
                <a:latin typeface="Consolas" pitchFamily="34" charset="0"/>
                <a:ea typeface="Consolas" pitchFamily="34" charset="-122"/>
                <a:cs typeface="Consolas" pitchFamily="34" charset="-120"/>
              </a:rPr>
              <a:t>causa_runtime.h / .c</a:t>
            </a:r>
            <a:endParaRPr lang="en-US" sz="1100" dirty="0"/>
          </a:p>
        </p:txBody>
      </p:sp>
      <p:sp>
        <p:nvSpPr>
          <p:cNvPr id="48" name="arrow-189"/>
          <p:cNvSpPr/>
          <p:nvPr/>
        </p:nvSpPr>
        <p:spPr>
          <a:xfrm>
            <a:off x="6867144" y="4206240"/>
            <a:ext cx="0" cy="640080"/>
          </a:xfrm>
          <a:prstGeom prst="line">
            <a:avLst/>
          </a:prstGeom>
          <a:noFill/>
          <a:ln w="19050">
            <a:solidFill>
              <a:srgbClr val="2DD4BF"/>
            </a:solidFill>
            <a:prstDash val="solid"/>
          </a:ln>
        </p:spPr>
      </p:sp>
      <p:sp>
        <p:nvSpPr>
          <p:cNvPr id="49" name="rule-190"/>
          <p:cNvSpPr/>
          <p:nvPr/>
        </p:nvSpPr>
        <p:spPr>
          <a:xfrm>
            <a:off x="2651760" y="4846320"/>
            <a:ext cx="8421624" cy="0"/>
          </a:xfrm>
          <a:prstGeom prst="line">
            <a:avLst/>
          </a:prstGeom>
          <a:noFill/>
          <a:ln w="19050">
            <a:solidFill>
              <a:srgbClr val="2DD4BF"/>
            </a:solidFill>
            <a:prstDash val="solid"/>
          </a:ln>
        </p:spPr>
      </p:sp>
      <p:sp>
        <p:nvSpPr>
          <p:cNvPr id="50" name="arrow-191"/>
          <p:cNvSpPr/>
          <p:nvPr/>
        </p:nvSpPr>
        <p:spPr>
          <a:xfrm>
            <a:off x="3310128" y="4846320"/>
            <a:ext cx="0" cy="228600"/>
          </a:xfrm>
          <a:prstGeom prst="line">
            <a:avLst/>
          </a:prstGeom>
          <a:noFill/>
          <a:ln w="15240">
            <a:solidFill>
              <a:srgbClr val="2DD4BF"/>
            </a:solidFill>
            <a:prstDash val="solid"/>
          </a:ln>
        </p:spPr>
      </p:sp>
      <p:sp>
        <p:nvSpPr>
          <p:cNvPr id="51" name="chip-192"/>
          <p:cNvSpPr/>
          <p:nvPr/>
        </p:nvSpPr>
        <p:spPr>
          <a:xfrm>
            <a:off x="2651760" y="5074920"/>
            <a:ext cx="1325880" cy="365760"/>
          </a:xfrm>
          <a:prstGeom prst="roundRect">
            <a:avLst>
              <a:gd name="adj" fmla="val 50000"/>
            </a:avLst>
          </a:prstGeom>
          <a:solidFill>
            <a:srgbClr val="121214"/>
          </a:solidFill>
          <a:ln w="12700">
            <a:solidFill>
              <a:srgbClr val="2DD4BF"/>
            </a:solidFill>
            <a:prstDash val="solid"/>
          </a:ln>
        </p:spPr>
      </p:sp>
      <p:sp>
        <p:nvSpPr>
          <p:cNvPr id="52" name="text-193"/>
          <p:cNvSpPr txBox="1"/>
          <p:nvPr/>
        </p:nvSpPr>
        <p:spPr>
          <a:xfrm>
            <a:off x="2651760"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explain</a:t>
            </a:r>
            <a:endParaRPr lang="en-US" sz="1200" dirty="0"/>
          </a:p>
        </p:txBody>
      </p:sp>
      <p:sp>
        <p:nvSpPr>
          <p:cNvPr id="53" name="arrow-194"/>
          <p:cNvSpPr/>
          <p:nvPr/>
        </p:nvSpPr>
        <p:spPr>
          <a:xfrm>
            <a:off x="4791456" y="4846320"/>
            <a:ext cx="0" cy="228600"/>
          </a:xfrm>
          <a:prstGeom prst="line">
            <a:avLst/>
          </a:prstGeom>
          <a:noFill/>
          <a:ln w="15240">
            <a:solidFill>
              <a:srgbClr val="2DD4BF"/>
            </a:solidFill>
            <a:prstDash val="solid"/>
          </a:ln>
        </p:spPr>
      </p:sp>
      <p:sp>
        <p:nvSpPr>
          <p:cNvPr id="54" name="chip-195"/>
          <p:cNvSpPr/>
          <p:nvPr/>
        </p:nvSpPr>
        <p:spPr>
          <a:xfrm>
            <a:off x="4133088" y="5074920"/>
            <a:ext cx="1325880" cy="365760"/>
          </a:xfrm>
          <a:prstGeom prst="roundRect">
            <a:avLst>
              <a:gd name="adj" fmla="val 50000"/>
            </a:avLst>
          </a:prstGeom>
          <a:solidFill>
            <a:srgbClr val="121214"/>
          </a:solidFill>
          <a:ln w="12700">
            <a:solidFill>
              <a:srgbClr val="2DD4BF"/>
            </a:solidFill>
            <a:prstDash val="solid"/>
          </a:ln>
        </p:spPr>
      </p:sp>
      <p:sp>
        <p:nvSpPr>
          <p:cNvPr id="55" name="text-196"/>
          <p:cNvSpPr txBox="1"/>
          <p:nvPr/>
        </p:nvSpPr>
        <p:spPr>
          <a:xfrm>
            <a:off x="4133088"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impact</a:t>
            </a:r>
            <a:endParaRPr lang="en-US" sz="1200" dirty="0"/>
          </a:p>
        </p:txBody>
      </p:sp>
      <p:sp>
        <p:nvSpPr>
          <p:cNvPr id="56" name="arrow-197"/>
          <p:cNvSpPr/>
          <p:nvPr/>
        </p:nvSpPr>
        <p:spPr>
          <a:xfrm>
            <a:off x="6272784" y="4846320"/>
            <a:ext cx="0" cy="228600"/>
          </a:xfrm>
          <a:prstGeom prst="line">
            <a:avLst/>
          </a:prstGeom>
          <a:noFill/>
          <a:ln w="15240">
            <a:solidFill>
              <a:srgbClr val="2DD4BF"/>
            </a:solidFill>
            <a:prstDash val="solid"/>
          </a:ln>
        </p:spPr>
      </p:sp>
      <p:sp>
        <p:nvSpPr>
          <p:cNvPr id="57" name="chip-198"/>
          <p:cNvSpPr/>
          <p:nvPr/>
        </p:nvSpPr>
        <p:spPr>
          <a:xfrm>
            <a:off x="5614416" y="5074920"/>
            <a:ext cx="1325880" cy="365760"/>
          </a:xfrm>
          <a:prstGeom prst="roundRect">
            <a:avLst>
              <a:gd name="adj" fmla="val 50000"/>
            </a:avLst>
          </a:prstGeom>
          <a:solidFill>
            <a:srgbClr val="121214"/>
          </a:solidFill>
          <a:ln w="12700">
            <a:solidFill>
              <a:srgbClr val="2DD4BF"/>
            </a:solidFill>
            <a:prstDash val="solid"/>
          </a:ln>
        </p:spPr>
      </p:sp>
      <p:sp>
        <p:nvSpPr>
          <p:cNvPr id="58" name="text-199"/>
          <p:cNvSpPr txBox="1"/>
          <p:nvPr/>
        </p:nvSpPr>
        <p:spPr>
          <a:xfrm>
            <a:off x="5614416"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whatif</a:t>
            </a:r>
            <a:endParaRPr lang="en-US" sz="1200" dirty="0"/>
          </a:p>
        </p:txBody>
      </p:sp>
      <p:sp>
        <p:nvSpPr>
          <p:cNvPr id="59" name="arrow-200"/>
          <p:cNvSpPr/>
          <p:nvPr/>
        </p:nvSpPr>
        <p:spPr>
          <a:xfrm>
            <a:off x="7754112" y="4846320"/>
            <a:ext cx="0" cy="228600"/>
          </a:xfrm>
          <a:prstGeom prst="line">
            <a:avLst/>
          </a:prstGeom>
          <a:noFill/>
          <a:ln w="15240">
            <a:solidFill>
              <a:srgbClr val="2DD4BF"/>
            </a:solidFill>
            <a:prstDash val="solid"/>
          </a:ln>
        </p:spPr>
      </p:sp>
      <p:sp>
        <p:nvSpPr>
          <p:cNvPr id="60" name="chip-201"/>
          <p:cNvSpPr/>
          <p:nvPr/>
        </p:nvSpPr>
        <p:spPr>
          <a:xfrm>
            <a:off x="7095744" y="5074920"/>
            <a:ext cx="1325880" cy="365760"/>
          </a:xfrm>
          <a:prstGeom prst="roundRect">
            <a:avLst>
              <a:gd name="adj" fmla="val 50000"/>
            </a:avLst>
          </a:prstGeom>
          <a:solidFill>
            <a:srgbClr val="121214"/>
          </a:solidFill>
          <a:ln w="12700">
            <a:solidFill>
              <a:srgbClr val="2DD4BF"/>
            </a:solidFill>
            <a:prstDash val="solid"/>
          </a:ln>
        </p:spPr>
      </p:sp>
      <p:sp>
        <p:nvSpPr>
          <p:cNvPr id="61" name="text-202"/>
          <p:cNvSpPr txBox="1"/>
          <p:nvPr/>
        </p:nvSpPr>
        <p:spPr>
          <a:xfrm>
            <a:off x="7095744"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assert</a:t>
            </a:r>
            <a:endParaRPr lang="en-US" sz="1200" dirty="0"/>
          </a:p>
        </p:txBody>
      </p:sp>
      <p:sp>
        <p:nvSpPr>
          <p:cNvPr id="62" name="arrow-203"/>
          <p:cNvSpPr/>
          <p:nvPr/>
        </p:nvSpPr>
        <p:spPr>
          <a:xfrm>
            <a:off x="9235440" y="4846320"/>
            <a:ext cx="0" cy="228600"/>
          </a:xfrm>
          <a:prstGeom prst="line">
            <a:avLst/>
          </a:prstGeom>
          <a:noFill/>
          <a:ln w="15240">
            <a:solidFill>
              <a:srgbClr val="2DD4BF"/>
            </a:solidFill>
            <a:prstDash val="solid"/>
          </a:ln>
        </p:spPr>
      </p:sp>
      <p:sp>
        <p:nvSpPr>
          <p:cNvPr id="63" name="chip-204"/>
          <p:cNvSpPr/>
          <p:nvPr/>
        </p:nvSpPr>
        <p:spPr>
          <a:xfrm>
            <a:off x="8577072" y="5074920"/>
            <a:ext cx="1325880" cy="365760"/>
          </a:xfrm>
          <a:prstGeom prst="roundRect">
            <a:avLst>
              <a:gd name="adj" fmla="val 50000"/>
            </a:avLst>
          </a:prstGeom>
          <a:solidFill>
            <a:srgbClr val="121214"/>
          </a:solidFill>
          <a:ln w="12700">
            <a:solidFill>
              <a:srgbClr val="2DD4BF"/>
            </a:solidFill>
            <a:prstDash val="solid"/>
          </a:ln>
        </p:spPr>
      </p:sp>
      <p:sp>
        <p:nvSpPr>
          <p:cNvPr id="64" name="text-205"/>
          <p:cNvSpPr txBox="1"/>
          <p:nvPr/>
        </p:nvSpPr>
        <p:spPr>
          <a:xfrm>
            <a:off x="8577072"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checked math</a:t>
            </a:r>
            <a:endParaRPr lang="en-US" sz="1200" dirty="0"/>
          </a:p>
        </p:txBody>
      </p:sp>
      <p:sp>
        <p:nvSpPr>
          <p:cNvPr id="65" name="arrow-206"/>
          <p:cNvSpPr/>
          <p:nvPr/>
        </p:nvSpPr>
        <p:spPr>
          <a:xfrm>
            <a:off x="10716768" y="4846320"/>
            <a:ext cx="0" cy="228600"/>
          </a:xfrm>
          <a:prstGeom prst="line">
            <a:avLst/>
          </a:prstGeom>
          <a:noFill/>
          <a:ln w="15240">
            <a:solidFill>
              <a:srgbClr val="2DD4BF"/>
            </a:solidFill>
            <a:prstDash val="solid"/>
          </a:ln>
        </p:spPr>
      </p:sp>
      <p:sp>
        <p:nvSpPr>
          <p:cNvPr id="66" name="chip-207"/>
          <p:cNvSpPr/>
          <p:nvPr/>
        </p:nvSpPr>
        <p:spPr>
          <a:xfrm>
            <a:off x="10058400" y="5074920"/>
            <a:ext cx="1325880" cy="365760"/>
          </a:xfrm>
          <a:prstGeom prst="roundRect">
            <a:avLst>
              <a:gd name="adj" fmla="val 50000"/>
            </a:avLst>
          </a:prstGeom>
          <a:solidFill>
            <a:srgbClr val="121214"/>
          </a:solidFill>
          <a:ln w="12700">
            <a:solidFill>
              <a:srgbClr val="2DD4BF"/>
            </a:solidFill>
            <a:prstDash val="solid"/>
          </a:ln>
        </p:spPr>
      </p:sp>
      <p:sp>
        <p:nvSpPr>
          <p:cNvPr id="67" name="text-208"/>
          <p:cNvSpPr txBox="1"/>
          <p:nvPr/>
        </p:nvSpPr>
        <p:spPr>
          <a:xfrm>
            <a:off x="10058400" y="5074920"/>
            <a:ext cx="1325880" cy="365760"/>
          </a:xfrm>
          <a:prstGeom prst="rect">
            <a:avLst/>
          </a:prstGeom>
          <a:noFill/>
          <a:ln/>
        </p:spPr>
        <p:txBody>
          <a:bodyPr wrap="square" lIns="0" tIns="0" rIns="0" bIns="0" rtlCol="0" anchor="ctr"/>
          <a:lstStyle/>
          <a:p>
            <a:pPr algn="ctr" indent="0" marL="0">
              <a:buNone/>
            </a:pPr>
            <a:r>
              <a:rPr lang="en-US" sz="1200" b="1" dirty="0">
                <a:solidFill>
                  <a:srgbClr val="2DD4BF"/>
                </a:solidFill>
                <a:latin typeface="Consolas" pitchFamily="34" charset="0"/>
                <a:ea typeface="Consolas" pitchFamily="34" charset="-122"/>
                <a:cs typeface="Consolas" pitchFamily="34" charset="-120"/>
              </a:rPr>
              <a:t>--set check</a:t>
            </a:r>
            <a:endParaRPr lang="en-US" sz="1200" dirty="0"/>
          </a:p>
        </p:txBody>
      </p:sp>
      <p:sp>
        <p:nvSpPr>
          <p:cNvPr id="68" name="text-209"/>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500" dirty="0">
                <a:solidFill>
                  <a:srgbClr val="7C7C84"/>
                </a:solidFill>
                <a:latin typeface="Inter" pitchFamily="34" charset="0"/>
                <a:ea typeface="Inter" pitchFamily="34" charset="-122"/>
                <a:cs typeface="Inter" pitchFamily="34" charset="-120"/>
              </a:rPr>
              <a:t>Dependencies are computed at compile time and embedded as metadata; the executable records values.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Language example: a pricing model</a:t>
            </a:r>
            <a:endParaRPr lang="en-US" sz="2800" dirty="0"/>
          </a:p>
        </p:txBody>
      </p:sp>
      <p:sp>
        <p:nvSpPr>
          <p:cNvPr id="3" name="text-21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Demonstration</a:t>
            </a:r>
            <a:endParaRPr lang="en-US" sz="1000" dirty="0"/>
          </a:p>
        </p:txBody>
      </p:sp>
      <p:sp>
        <p:nvSpPr>
          <p:cNvPr id="5" name="panel-211"/>
          <p:cNvSpPr/>
          <p:nvPr/>
        </p:nvSpPr>
        <p:spPr>
          <a:xfrm>
            <a:off x="6263640" y="1234440"/>
            <a:ext cx="5376672" cy="4526280"/>
          </a:xfrm>
          <a:prstGeom prst="roundRect">
            <a:avLst>
              <a:gd name="adj" fmla="val 1616"/>
            </a:avLst>
          </a:prstGeom>
          <a:solidFill>
            <a:srgbClr val="121214"/>
          </a:solidFill>
          <a:ln w="12700">
            <a:solidFill>
              <a:srgbClr val="121214"/>
            </a:solidFill>
            <a:prstDash val="solid"/>
          </a:ln>
        </p:spPr>
      </p:sp>
      <p:sp>
        <p:nvSpPr>
          <p:cNvPr id="6" name="panel-212"/>
          <p:cNvSpPr/>
          <p:nvPr/>
        </p:nvSpPr>
        <p:spPr>
          <a:xfrm>
            <a:off x="548640" y="1371600"/>
            <a:ext cx="5394960" cy="4297680"/>
          </a:xfrm>
          <a:prstGeom prst="roundRect">
            <a:avLst>
              <a:gd name="adj" fmla="val 1702"/>
            </a:avLst>
          </a:prstGeom>
          <a:solidFill>
            <a:srgbClr val="121214"/>
          </a:solidFill>
          <a:ln w="12700">
            <a:solidFill>
              <a:srgbClr val="121214"/>
            </a:solidFill>
            <a:prstDash val="solid"/>
          </a:ln>
        </p:spPr>
      </p:sp>
      <p:sp>
        <p:nvSpPr>
          <p:cNvPr id="7" name="text-213"/>
          <p:cNvSpPr txBox="1"/>
          <p:nvPr/>
        </p:nvSpPr>
        <p:spPr>
          <a:xfrm>
            <a:off x="777240" y="1508760"/>
            <a:ext cx="4937760"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pricing.cau (excerpt)</a:t>
            </a:r>
            <a:endParaRPr lang="en-US" sz="1100" dirty="0"/>
          </a:p>
        </p:txBody>
      </p:sp>
      <p:sp>
        <p:nvSpPr>
          <p:cNvPr id="8" name="text-214"/>
          <p:cNvSpPr txBox="1"/>
          <p:nvPr/>
        </p:nvSpPr>
        <p:spPr>
          <a:xfrm>
            <a:off x="777240" y="1828800"/>
            <a:ext cx="4937760" cy="3703320"/>
          </a:xfrm>
          <a:prstGeom prst="rect">
            <a:avLst/>
          </a:prstGeom>
          <a:noFill/>
          <a:ln/>
        </p:spPr>
        <p:txBody>
          <a:bodyPr wrap="square" lIns="0" tIns="0" rIns="0" bIns="0" rtlCol="0" anchor="t"/>
          <a:lstStyle/>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FB923C"/>
                </a:solidFill>
                <a:latin typeface="Consolas" pitchFamily="34" charset="0"/>
                <a:ea typeface="Consolas" pitchFamily="34" charset="-122"/>
                <a:cs typeface="Consolas" pitchFamily="34" charset="-120"/>
              </a:rPr>
              <a:t>100</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discount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FB923C"/>
                </a:solidFill>
                <a:latin typeface="Consolas" pitchFamily="34" charset="0"/>
                <a:ea typeface="Consolas" pitchFamily="34" charset="-122"/>
                <a:cs typeface="Consolas" pitchFamily="34" charset="-120"/>
              </a:rPr>
              <a:t>0.25</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tax</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FB923C"/>
                </a:solidFill>
                <a:latin typeface="Consolas" pitchFamily="34" charset="0"/>
                <a:ea typeface="Consolas" pitchFamily="34" charset="-122"/>
                <a:cs typeface="Consolas" pitchFamily="34" charset="-120"/>
              </a:rPr>
              <a:t>0.125</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input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fee</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FB923C"/>
                </a:solidFill>
                <a:latin typeface="Consolas" pitchFamily="34" charset="0"/>
                <a:ea typeface="Consolas" pitchFamily="34" charset="-122"/>
                <a:cs typeface="Consolas" pitchFamily="34" charset="-120"/>
              </a:rPr>
              <a:t>4</a:t>
            </a:r>
            <a:endParaRPr lang="en-US" sz="1600" dirty="0"/>
          </a:p>
          <a:p>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let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savings</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discount</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let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subtotal</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price</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savings</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let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total</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subtotal</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FB923C"/>
                </a:solidFill>
                <a:latin typeface="Consolas" pitchFamily="34" charset="0"/>
                <a:ea typeface="Consolas" pitchFamily="34" charset="-122"/>
                <a:cs typeface="Consolas" pitchFamily="34" charset="-120"/>
              </a:rPr>
              <a:t>1</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tax</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22D3EE"/>
                </a:solidFill>
                <a:latin typeface="Consolas" pitchFamily="34" charset="0"/>
                <a:ea typeface="Consolas" pitchFamily="34" charset="-122"/>
                <a:cs typeface="Consolas" pitchFamily="34" charset="-120"/>
              </a:rPr>
              <a:t>+</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fee</a:t>
            </a:r>
            <a:endParaRPr lang="en-US" sz="1600" dirty="0"/>
          </a:p>
          <a:p>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600" b="1" dirty="0">
                <a:solidFill>
                  <a:srgbClr val="A78BFA"/>
                </a:solidFill>
                <a:latin typeface="Consolas" pitchFamily="34" charset="0"/>
                <a:ea typeface="Consolas" pitchFamily="34" charset="-122"/>
                <a:cs typeface="Consolas" pitchFamily="34" charset="-120"/>
              </a:rPr>
              <a:t>show</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 </a:t>
            </a:r>
            <a:pPr indent="0" marL="0">
              <a:spcAft>
                <a:spcPts val="200"/>
              </a:spcAft>
              <a:buNone/>
            </a:pPr>
            <a:r>
              <a:rPr lang="en-US" sz="1600" dirty="0">
                <a:solidFill>
                  <a:srgbClr val="ECECEE"/>
                </a:solidFill>
                <a:latin typeface="Consolas" pitchFamily="34" charset="0"/>
                <a:ea typeface="Consolas" pitchFamily="34" charset="-122"/>
                <a:cs typeface="Consolas" pitchFamily="34" charset="-120"/>
              </a:rPr>
              <a:t>total</a:t>
            </a:r>
            <a:endParaRPr lang="en-US" sz="1600" dirty="0"/>
          </a:p>
        </p:txBody>
      </p:sp>
      <p:sp>
        <p:nvSpPr>
          <p:cNvPr id="9" name="card-215"/>
          <p:cNvSpPr/>
          <p:nvPr/>
        </p:nvSpPr>
        <p:spPr>
          <a:xfrm>
            <a:off x="6400800" y="1371600"/>
            <a:ext cx="5239512" cy="914400"/>
          </a:xfrm>
          <a:prstGeom prst="roundRect">
            <a:avLst>
              <a:gd name="adj" fmla="val 8000"/>
            </a:avLst>
          </a:prstGeom>
          <a:solidFill>
            <a:srgbClr val="1C1C21"/>
          </a:solidFill>
          <a:ln w="19050">
            <a:solidFill>
              <a:srgbClr val="86EFAC"/>
            </a:solidFill>
            <a:prstDash val="solid"/>
          </a:ln>
        </p:spPr>
      </p:sp>
      <p:sp>
        <p:nvSpPr>
          <p:cNvPr id="10" name="text-216"/>
          <p:cNvSpPr txBox="1"/>
          <p:nvPr/>
        </p:nvSpPr>
        <p:spPr>
          <a:xfrm>
            <a:off x="6629400" y="1463040"/>
            <a:ext cx="1828800" cy="365760"/>
          </a:xfrm>
          <a:prstGeom prst="rect">
            <a:avLst/>
          </a:prstGeom>
          <a:noFill/>
          <a:ln/>
        </p:spPr>
        <p:txBody>
          <a:bodyPr wrap="square" lIns="0" tIns="0" rIns="0" bIns="0" rtlCol="0" anchor="t"/>
          <a:lstStyle/>
          <a:p>
            <a:pPr indent="0" marL="0">
              <a:buNone/>
            </a:pPr>
            <a:r>
              <a:rPr lang="en-US" sz="1600" b="1" dirty="0">
                <a:solidFill>
                  <a:srgbClr val="86EFAC"/>
                </a:solidFill>
                <a:latin typeface="Consolas" pitchFamily="34" charset="0"/>
                <a:ea typeface="Consolas" pitchFamily="34" charset="-122"/>
                <a:cs typeface="Consolas" pitchFamily="34" charset="-120"/>
              </a:rPr>
              <a:t>price</a:t>
            </a:r>
            <a:endParaRPr lang="en-US" sz="1600" dirty="0"/>
          </a:p>
        </p:txBody>
      </p:sp>
      <p:sp>
        <p:nvSpPr>
          <p:cNvPr id="11" name="text-217"/>
          <p:cNvSpPr txBox="1"/>
          <p:nvPr/>
        </p:nvSpPr>
        <p:spPr>
          <a:xfrm>
            <a:off x="6629400" y="1874520"/>
            <a:ext cx="3108960" cy="320040"/>
          </a:xfrm>
          <a:prstGeom prst="rect">
            <a:avLst/>
          </a:prstGeom>
          <a:noFill/>
          <a:ln/>
        </p:spPr>
        <p:txBody>
          <a:bodyPr wrap="square" lIns="0" tIns="0" rIns="0" bIns="0" rtlCol="0" anchor="t"/>
          <a:lstStyle/>
          <a:p>
            <a:pPr indent="0" marL="0">
              <a:buNone/>
            </a:pPr>
            <a:r>
              <a:rPr lang="en-US" sz="1200" dirty="0">
                <a:solidFill>
                  <a:srgbClr val="8E8E96"/>
                </a:solidFill>
                <a:latin typeface="Consolas" pitchFamily="34" charset="0"/>
                <a:ea typeface="Consolas" pitchFamily="34" charset="-122"/>
                <a:cs typeface="Consolas" pitchFamily="34" charset="-120"/>
              </a:rPr>
              <a:t>input</a:t>
            </a:r>
            <a:endParaRPr lang="en-US" sz="1200" dirty="0"/>
          </a:p>
        </p:txBody>
      </p:sp>
      <p:sp>
        <p:nvSpPr>
          <p:cNvPr id="12" name="text-218"/>
          <p:cNvSpPr txBox="1"/>
          <p:nvPr/>
        </p:nvSpPr>
        <p:spPr>
          <a:xfrm>
            <a:off x="9052560" y="1371600"/>
            <a:ext cx="2377440" cy="914400"/>
          </a:xfrm>
          <a:prstGeom prst="rect">
            <a:avLst/>
          </a:prstGeom>
          <a:noFill/>
          <a:ln/>
        </p:spPr>
        <p:txBody>
          <a:bodyPr wrap="square" lIns="0" tIns="0" rIns="0" bIns="0" rtlCol="0" anchor="ctr"/>
          <a:lstStyle/>
          <a:p>
            <a:pPr algn="r" indent="0" marL="0">
              <a:buNone/>
            </a:pPr>
            <a:r>
              <a:rPr lang="en-US" sz="3000" b="1" dirty="0">
                <a:solidFill>
                  <a:srgbClr val="ECECEE"/>
                </a:solidFill>
                <a:latin typeface="Consolas" pitchFamily="34" charset="0"/>
                <a:ea typeface="Consolas" pitchFamily="34" charset="-122"/>
                <a:cs typeface="Consolas" pitchFamily="34" charset="-120"/>
              </a:rPr>
              <a:t>100</a:t>
            </a:r>
            <a:endParaRPr lang="en-US" sz="3000" dirty="0"/>
          </a:p>
        </p:txBody>
      </p:sp>
      <p:sp>
        <p:nvSpPr>
          <p:cNvPr id="13" name="arrow-219"/>
          <p:cNvSpPr/>
          <p:nvPr/>
        </p:nvSpPr>
        <p:spPr>
          <a:xfrm>
            <a:off x="9006840" y="2286000"/>
            <a:ext cx="0" cy="201168"/>
          </a:xfrm>
          <a:prstGeom prst="line">
            <a:avLst/>
          </a:prstGeom>
          <a:noFill/>
          <a:ln w="19050">
            <a:solidFill>
              <a:srgbClr val="8E8E96"/>
            </a:solidFill>
            <a:prstDash val="solid"/>
            <a:tailEnd type="triangle"/>
          </a:ln>
        </p:spPr>
      </p:sp>
      <p:sp>
        <p:nvSpPr>
          <p:cNvPr id="14" name="card-220"/>
          <p:cNvSpPr/>
          <p:nvPr/>
        </p:nvSpPr>
        <p:spPr>
          <a:xfrm>
            <a:off x="6400800" y="2487168"/>
            <a:ext cx="5239512" cy="914400"/>
          </a:xfrm>
          <a:prstGeom prst="roundRect">
            <a:avLst>
              <a:gd name="adj" fmla="val 8000"/>
            </a:avLst>
          </a:prstGeom>
          <a:solidFill>
            <a:srgbClr val="1C1C21"/>
          </a:solidFill>
          <a:ln w="19050">
            <a:solidFill>
              <a:srgbClr val="60A5FA"/>
            </a:solidFill>
            <a:prstDash val="solid"/>
          </a:ln>
        </p:spPr>
      </p:sp>
      <p:sp>
        <p:nvSpPr>
          <p:cNvPr id="15" name="text-221"/>
          <p:cNvSpPr txBox="1"/>
          <p:nvPr/>
        </p:nvSpPr>
        <p:spPr>
          <a:xfrm>
            <a:off x="6629400" y="2578608"/>
            <a:ext cx="1828800" cy="365760"/>
          </a:xfrm>
          <a:prstGeom prst="rect">
            <a:avLst/>
          </a:prstGeom>
          <a:noFill/>
          <a:ln/>
        </p:spPr>
        <p:txBody>
          <a:bodyPr wrap="square" lIns="0" tIns="0" rIns="0" bIns="0" rtlCol="0" anchor="t"/>
          <a:lstStyle/>
          <a:p>
            <a:pPr indent="0" marL="0">
              <a:buNone/>
            </a:pPr>
            <a:r>
              <a:rPr lang="en-US" sz="1600" b="1" dirty="0">
                <a:solidFill>
                  <a:srgbClr val="60A5FA"/>
                </a:solidFill>
                <a:latin typeface="Consolas" pitchFamily="34" charset="0"/>
                <a:ea typeface="Consolas" pitchFamily="34" charset="-122"/>
                <a:cs typeface="Consolas" pitchFamily="34" charset="-120"/>
              </a:rPr>
              <a:t>savings</a:t>
            </a:r>
            <a:endParaRPr lang="en-US" sz="1600" dirty="0"/>
          </a:p>
        </p:txBody>
      </p:sp>
      <p:sp>
        <p:nvSpPr>
          <p:cNvPr id="16" name="text-222"/>
          <p:cNvSpPr txBox="1"/>
          <p:nvPr/>
        </p:nvSpPr>
        <p:spPr>
          <a:xfrm>
            <a:off x="6629400" y="2990088"/>
            <a:ext cx="3108960" cy="320040"/>
          </a:xfrm>
          <a:prstGeom prst="rect">
            <a:avLst/>
          </a:prstGeom>
          <a:noFill/>
          <a:ln/>
        </p:spPr>
        <p:txBody>
          <a:bodyPr wrap="square" lIns="0" tIns="0" rIns="0" bIns="0" rtlCol="0" anchor="t"/>
          <a:lstStyle/>
          <a:p>
            <a:pPr indent="0" marL="0">
              <a:buNone/>
            </a:pPr>
            <a:r>
              <a:rPr lang="en-US" sz="1200" dirty="0">
                <a:solidFill>
                  <a:srgbClr val="8E8E96"/>
                </a:solidFill>
                <a:latin typeface="Consolas" pitchFamily="34" charset="0"/>
                <a:ea typeface="Consolas" pitchFamily="34" charset="-122"/>
                <a:cs typeface="Consolas" pitchFamily="34" charset="-120"/>
              </a:rPr>
              <a:t>price * discount</a:t>
            </a:r>
            <a:endParaRPr lang="en-US" sz="1200" dirty="0"/>
          </a:p>
        </p:txBody>
      </p:sp>
      <p:sp>
        <p:nvSpPr>
          <p:cNvPr id="17" name="text-223"/>
          <p:cNvSpPr txBox="1"/>
          <p:nvPr/>
        </p:nvSpPr>
        <p:spPr>
          <a:xfrm>
            <a:off x="9052560" y="2487168"/>
            <a:ext cx="2377440" cy="914400"/>
          </a:xfrm>
          <a:prstGeom prst="rect">
            <a:avLst/>
          </a:prstGeom>
          <a:noFill/>
          <a:ln/>
        </p:spPr>
        <p:txBody>
          <a:bodyPr wrap="square" lIns="0" tIns="0" rIns="0" bIns="0" rtlCol="0" anchor="ctr"/>
          <a:lstStyle/>
          <a:p>
            <a:pPr algn="r" indent="0" marL="0">
              <a:buNone/>
            </a:pPr>
            <a:r>
              <a:rPr lang="en-US" sz="3000" b="1" dirty="0">
                <a:solidFill>
                  <a:srgbClr val="ECECEE"/>
                </a:solidFill>
                <a:latin typeface="Consolas" pitchFamily="34" charset="0"/>
                <a:ea typeface="Consolas" pitchFamily="34" charset="-122"/>
                <a:cs typeface="Consolas" pitchFamily="34" charset="-120"/>
              </a:rPr>
              <a:t>25.0</a:t>
            </a:r>
            <a:endParaRPr lang="en-US" sz="3000" dirty="0"/>
          </a:p>
        </p:txBody>
      </p:sp>
      <p:sp>
        <p:nvSpPr>
          <p:cNvPr id="18" name="arrow-224"/>
          <p:cNvSpPr/>
          <p:nvPr/>
        </p:nvSpPr>
        <p:spPr>
          <a:xfrm>
            <a:off x="9006840" y="3401568"/>
            <a:ext cx="0" cy="201168"/>
          </a:xfrm>
          <a:prstGeom prst="line">
            <a:avLst/>
          </a:prstGeom>
          <a:noFill/>
          <a:ln w="19050">
            <a:solidFill>
              <a:srgbClr val="8E8E96"/>
            </a:solidFill>
            <a:prstDash val="solid"/>
            <a:tailEnd type="triangle"/>
          </a:ln>
        </p:spPr>
      </p:sp>
      <p:sp>
        <p:nvSpPr>
          <p:cNvPr id="19" name="card-225"/>
          <p:cNvSpPr/>
          <p:nvPr/>
        </p:nvSpPr>
        <p:spPr>
          <a:xfrm>
            <a:off x="6400800" y="3602736"/>
            <a:ext cx="5239512" cy="914400"/>
          </a:xfrm>
          <a:prstGeom prst="roundRect">
            <a:avLst>
              <a:gd name="adj" fmla="val 8000"/>
            </a:avLst>
          </a:prstGeom>
          <a:solidFill>
            <a:srgbClr val="1C1C21"/>
          </a:solidFill>
          <a:ln w="19050">
            <a:solidFill>
              <a:srgbClr val="60A5FA"/>
            </a:solidFill>
            <a:prstDash val="solid"/>
          </a:ln>
        </p:spPr>
      </p:sp>
      <p:sp>
        <p:nvSpPr>
          <p:cNvPr id="20" name="text-226"/>
          <p:cNvSpPr txBox="1"/>
          <p:nvPr/>
        </p:nvSpPr>
        <p:spPr>
          <a:xfrm>
            <a:off x="6629400" y="3694176"/>
            <a:ext cx="1828800" cy="365760"/>
          </a:xfrm>
          <a:prstGeom prst="rect">
            <a:avLst/>
          </a:prstGeom>
          <a:noFill/>
          <a:ln/>
        </p:spPr>
        <p:txBody>
          <a:bodyPr wrap="square" lIns="0" tIns="0" rIns="0" bIns="0" rtlCol="0" anchor="t"/>
          <a:lstStyle/>
          <a:p>
            <a:pPr indent="0" marL="0">
              <a:buNone/>
            </a:pPr>
            <a:r>
              <a:rPr lang="en-US" sz="1600" b="1" dirty="0">
                <a:solidFill>
                  <a:srgbClr val="60A5FA"/>
                </a:solidFill>
                <a:latin typeface="Consolas" pitchFamily="34" charset="0"/>
                <a:ea typeface="Consolas" pitchFamily="34" charset="-122"/>
                <a:cs typeface="Consolas" pitchFamily="34" charset="-120"/>
              </a:rPr>
              <a:t>subtotal</a:t>
            </a:r>
            <a:endParaRPr lang="en-US" sz="1600" dirty="0"/>
          </a:p>
        </p:txBody>
      </p:sp>
      <p:sp>
        <p:nvSpPr>
          <p:cNvPr id="21" name="text-227"/>
          <p:cNvSpPr txBox="1"/>
          <p:nvPr/>
        </p:nvSpPr>
        <p:spPr>
          <a:xfrm>
            <a:off x="6629400" y="4105656"/>
            <a:ext cx="3108960" cy="320040"/>
          </a:xfrm>
          <a:prstGeom prst="rect">
            <a:avLst/>
          </a:prstGeom>
          <a:noFill/>
          <a:ln/>
        </p:spPr>
        <p:txBody>
          <a:bodyPr wrap="square" lIns="0" tIns="0" rIns="0" bIns="0" rtlCol="0" anchor="t"/>
          <a:lstStyle/>
          <a:p>
            <a:pPr indent="0" marL="0">
              <a:buNone/>
            </a:pPr>
            <a:r>
              <a:rPr lang="en-US" sz="1200" dirty="0">
                <a:solidFill>
                  <a:srgbClr val="8E8E96"/>
                </a:solidFill>
                <a:latin typeface="Consolas" pitchFamily="34" charset="0"/>
                <a:ea typeface="Consolas" pitchFamily="34" charset="-122"/>
                <a:cs typeface="Consolas" pitchFamily="34" charset="-120"/>
              </a:rPr>
              <a:t>price - savings</a:t>
            </a:r>
            <a:endParaRPr lang="en-US" sz="1200" dirty="0"/>
          </a:p>
        </p:txBody>
      </p:sp>
      <p:sp>
        <p:nvSpPr>
          <p:cNvPr id="22" name="text-228"/>
          <p:cNvSpPr txBox="1"/>
          <p:nvPr/>
        </p:nvSpPr>
        <p:spPr>
          <a:xfrm>
            <a:off x="9052560" y="3602736"/>
            <a:ext cx="2377440" cy="914400"/>
          </a:xfrm>
          <a:prstGeom prst="rect">
            <a:avLst/>
          </a:prstGeom>
          <a:noFill/>
          <a:ln/>
        </p:spPr>
        <p:txBody>
          <a:bodyPr wrap="square" lIns="0" tIns="0" rIns="0" bIns="0" rtlCol="0" anchor="ctr"/>
          <a:lstStyle/>
          <a:p>
            <a:pPr algn="r" indent="0" marL="0">
              <a:buNone/>
            </a:pPr>
            <a:r>
              <a:rPr lang="en-US" sz="3000" b="1" dirty="0">
                <a:solidFill>
                  <a:srgbClr val="ECECEE"/>
                </a:solidFill>
                <a:latin typeface="Consolas" pitchFamily="34" charset="0"/>
                <a:ea typeface="Consolas" pitchFamily="34" charset="-122"/>
                <a:cs typeface="Consolas" pitchFamily="34" charset="-120"/>
              </a:rPr>
              <a:t>75.0</a:t>
            </a:r>
            <a:endParaRPr lang="en-US" sz="3000" dirty="0"/>
          </a:p>
        </p:txBody>
      </p:sp>
      <p:sp>
        <p:nvSpPr>
          <p:cNvPr id="23" name="arrow-229"/>
          <p:cNvSpPr/>
          <p:nvPr/>
        </p:nvSpPr>
        <p:spPr>
          <a:xfrm>
            <a:off x="9006840" y="4517136"/>
            <a:ext cx="0" cy="201168"/>
          </a:xfrm>
          <a:prstGeom prst="line">
            <a:avLst/>
          </a:prstGeom>
          <a:noFill/>
          <a:ln w="19050">
            <a:solidFill>
              <a:srgbClr val="8E8E96"/>
            </a:solidFill>
            <a:prstDash val="solid"/>
            <a:tailEnd type="triangle"/>
          </a:ln>
        </p:spPr>
      </p:sp>
      <p:sp>
        <p:nvSpPr>
          <p:cNvPr id="24" name="card-230"/>
          <p:cNvSpPr/>
          <p:nvPr/>
        </p:nvSpPr>
        <p:spPr>
          <a:xfrm>
            <a:off x="6400800" y="4718304"/>
            <a:ext cx="5239512" cy="914400"/>
          </a:xfrm>
          <a:prstGeom prst="roundRect">
            <a:avLst>
              <a:gd name="adj" fmla="val 8000"/>
            </a:avLst>
          </a:prstGeom>
          <a:solidFill>
            <a:srgbClr val="1C1C21"/>
          </a:solidFill>
          <a:ln w="19050">
            <a:solidFill>
              <a:srgbClr val="22D3EE"/>
            </a:solidFill>
            <a:prstDash val="solid"/>
          </a:ln>
        </p:spPr>
      </p:sp>
      <p:sp>
        <p:nvSpPr>
          <p:cNvPr id="25" name="text-231"/>
          <p:cNvSpPr txBox="1"/>
          <p:nvPr/>
        </p:nvSpPr>
        <p:spPr>
          <a:xfrm>
            <a:off x="6629400" y="4809744"/>
            <a:ext cx="1828800" cy="365760"/>
          </a:xfrm>
          <a:prstGeom prst="rect">
            <a:avLst/>
          </a:prstGeom>
          <a:noFill/>
          <a:ln/>
        </p:spPr>
        <p:txBody>
          <a:bodyPr wrap="square" lIns="0" tIns="0" rIns="0" bIns="0" rtlCol="0" anchor="t"/>
          <a:lstStyle/>
          <a:p>
            <a:pPr indent="0" marL="0">
              <a:buNone/>
            </a:pPr>
            <a:r>
              <a:rPr lang="en-US" sz="1600" b="1" dirty="0">
                <a:solidFill>
                  <a:srgbClr val="22D3EE"/>
                </a:solidFill>
                <a:latin typeface="Consolas" pitchFamily="34" charset="0"/>
                <a:ea typeface="Consolas" pitchFamily="34" charset="-122"/>
                <a:cs typeface="Consolas" pitchFamily="34" charset="-120"/>
              </a:rPr>
              <a:t>total</a:t>
            </a:r>
            <a:endParaRPr lang="en-US" sz="1600" dirty="0"/>
          </a:p>
        </p:txBody>
      </p:sp>
      <p:sp>
        <p:nvSpPr>
          <p:cNvPr id="26" name="text-232"/>
          <p:cNvSpPr txBox="1"/>
          <p:nvPr/>
        </p:nvSpPr>
        <p:spPr>
          <a:xfrm>
            <a:off x="6629400" y="5221224"/>
            <a:ext cx="3108960" cy="320040"/>
          </a:xfrm>
          <a:prstGeom prst="rect">
            <a:avLst/>
          </a:prstGeom>
          <a:noFill/>
          <a:ln/>
        </p:spPr>
        <p:txBody>
          <a:bodyPr wrap="square" lIns="0" tIns="0" rIns="0" bIns="0" rtlCol="0" anchor="t"/>
          <a:lstStyle/>
          <a:p>
            <a:pPr indent="0" marL="0">
              <a:buNone/>
            </a:pPr>
            <a:r>
              <a:rPr lang="en-US" sz="1200" dirty="0">
                <a:solidFill>
                  <a:srgbClr val="8E8E96"/>
                </a:solidFill>
                <a:latin typeface="Consolas" pitchFamily="34" charset="0"/>
                <a:ea typeface="Consolas" pitchFamily="34" charset="-122"/>
                <a:cs typeface="Consolas" pitchFamily="34" charset="-120"/>
              </a:rPr>
              <a:t>subtotal * (1 + tax) + fee</a:t>
            </a:r>
            <a:endParaRPr lang="en-US" sz="1200" dirty="0"/>
          </a:p>
        </p:txBody>
      </p:sp>
      <p:sp>
        <p:nvSpPr>
          <p:cNvPr id="27" name="text-233"/>
          <p:cNvSpPr txBox="1"/>
          <p:nvPr/>
        </p:nvSpPr>
        <p:spPr>
          <a:xfrm>
            <a:off x="9052560" y="4718304"/>
            <a:ext cx="2377440" cy="914400"/>
          </a:xfrm>
          <a:prstGeom prst="rect">
            <a:avLst/>
          </a:prstGeom>
          <a:noFill/>
          <a:ln/>
        </p:spPr>
        <p:txBody>
          <a:bodyPr wrap="square" lIns="0" tIns="0" rIns="0" bIns="0" rtlCol="0" anchor="ctr"/>
          <a:lstStyle/>
          <a:p>
            <a:pPr algn="r" indent="0" marL="0">
              <a:buNone/>
            </a:pPr>
            <a:r>
              <a:rPr lang="en-US" sz="3000" b="1" dirty="0">
                <a:solidFill>
                  <a:srgbClr val="ECECEE"/>
                </a:solidFill>
                <a:latin typeface="Consolas" pitchFamily="34" charset="0"/>
                <a:ea typeface="Consolas" pitchFamily="34" charset="-122"/>
                <a:cs typeface="Consolas" pitchFamily="34" charset="-120"/>
              </a:rPr>
              <a:t>88.375</a:t>
            </a:r>
            <a:endParaRPr lang="en-US" sz="3000" dirty="0"/>
          </a:p>
        </p:txBody>
      </p:sp>
      <p:sp>
        <p:nvSpPr>
          <p:cNvPr id="28" name="text-234"/>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600" b="1" dirty="0">
                <a:solidFill>
                  <a:srgbClr val="22D3EE"/>
                </a:solidFill>
                <a:latin typeface="Consolas" pitchFamily="34" charset="0"/>
                <a:ea typeface="Consolas" pitchFamily="34" charset="-122"/>
                <a:cs typeface="Consolas" pitchFamily="34" charset="-120"/>
              </a:rPr>
              <a:t>100  →  25.0 savings  →  75.0 subtotal  →  88.375 total</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The dependency graph: 11 bindings, 11 edges</a:t>
            </a:r>
            <a:endParaRPr lang="en-US" sz="2800" dirty="0"/>
          </a:p>
        </p:txBody>
      </p:sp>
      <p:sp>
        <p:nvSpPr>
          <p:cNvPr id="3" name="text-235"/>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Demonstration</a:t>
            </a:r>
            <a:endParaRPr lang="en-US" sz="1000" dirty="0"/>
          </a:p>
        </p:txBody>
      </p:sp>
      <p:sp>
        <p:nvSpPr>
          <p:cNvPr id="5" name="panel-236"/>
          <p:cNvSpPr/>
          <p:nvPr/>
        </p:nvSpPr>
        <p:spPr>
          <a:xfrm>
            <a:off x="411480" y="1234440"/>
            <a:ext cx="11365992" cy="4526280"/>
          </a:xfrm>
          <a:prstGeom prst="roundRect">
            <a:avLst>
              <a:gd name="adj" fmla="val 1616"/>
            </a:avLst>
          </a:prstGeom>
          <a:solidFill>
            <a:srgbClr val="121214"/>
          </a:solidFill>
          <a:ln w="12700">
            <a:solidFill>
              <a:srgbClr val="121214"/>
            </a:solidFill>
            <a:prstDash val="solid"/>
          </a:ln>
        </p:spPr>
      </p:sp>
      <p:sp>
        <p:nvSpPr>
          <p:cNvPr id="6" name="arrow-237"/>
          <p:cNvSpPr/>
          <p:nvPr/>
        </p:nvSpPr>
        <p:spPr>
          <a:xfrm>
            <a:off x="1874520" y="1700784"/>
            <a:ext cx="627278" cy="822960"/>
          </a:xfrm>
          <a:prstGeom prst="line">
            <a:avLst/>
          </a:prstGeom>
          <a:noFill/>
          <a:ln w="19050">
            <a:solidFill>
              <a:srgbClr val="5B6B7B"/>
            </a:solidFill>
            <a:prstDash val="solid"/>
            <a:tailEnd type="triangle"/>
          </a:ln>
        </p:spPr>
      </p:sp>
      <p:sp>
        <p:nvSpPr>
          <p:cNvPr id="7" name="arrow-238"/>
          <p:cNvSpPr/>
          <p:nvPr/>
        </p:nvSpPr>
        <p:spPr>
          <a:xfrm>
            <a:off x="1874520" y="2523744"/>
            <a:ext cx="627278" cy="0"/>
          </a:xfrm>
          <a:prstGeom prst="line">
            <a:avLst/>
          </a:prstGeom>
          <a:noFill/>
          <a:ln w="19050">
            <a:solidFill>
              <a:srgbClr val="5B6B7B"/>
            </a:solidFill>
            <a:prstDash val="solid"/>
            <a:tailEnd type="triangle"/>
          </a:ln>
        </p:spPr>
      </p:sp>
      <p:sp>
        <p:nvSpPr>
          <p:cNvPr id="8" name="arrow-239"/>
          <p:cNvSpPr/>
          <p:nvPr/>
        </p:nvSpPr>
        <p:spPr>
          <a:xfrm>
            <a:off x="1874520" y="1700784"/>
            <a:ext cx="2580437" cy="182880"/>
          </a:xfrm>
          <a:prstGeom prst="line">
            <a:avLst/>
          </a:prstGeom>
          <a:noFill/>
          <a:ln w="19050">
            <a:solidFill>
              <a:srgbClr val="5B6B7B"/>
            </a:solidFill>
            <a:prstDash val="solid"/>
            <a:tailEnd type="triangle"/>
          </a:ln>
        </p:spPr>
      </p:sp>
      <p:sp>
        <p:nvSpPr>
          <p:cNvPr id="9" name="arrow-240"/>
          <p:cNvSpPr/>
          <p:nvPr/>
        </p:nvSpPr>
        <p:spPr>
          <a:xfrm flipV="1">
            <a:off x="3827678" y="1883664"/>
            <a:ext cx="627278" cy="640080"/>
          </a:xfrm>
          <a:prstGeom prst="line">
            <a:avLst/>
          </a:prstGeom>
          <a:noFill/>
          <a:ln w="19050">
            <a:solidFill>
              <a:srgbClr val="5B6B7B"/>
            </a:solidFill>
            <a:prstDash val="solid"/>
            <a:tailEnd type="triangle"/>
          </a:ln>
        </p:spPr>
      </p:sp>
      <p:sp>
        <p:nvSpPr>
          <p:cNvPr id="10" name="arrow-241"/>
          <p:cNvSpPr/>
          <p:nvPr/>
        </p:nvSpPr>
        <p:spPr>
          <a:xfrm>
            <a:off x="1874520" y="3346704"/>
            <a:ext cx="4533595" cy="91440"/>
          </a:xfrm>
          <a:prstGeom prst="line">
            <a:avLst/>
          </a:prstGeom>
          <a:noFill/>
          <a:ln w="19050">
            <a:solidFill>
              <a:srgbClr val="5B6B7B"/>
            </a:solidFill>
            <a:prstDash val="solid"/>
            <a:tailEnd type="triangle"/>
          </a:ln>
        </p:spPr>
      </p:sp>
      <p:sp>
        <p:nvSpPr>
          <p:cNvPr id="11" name="arrow-242"/>
          <p:cNvSpPr/>
          <p:nvPr/>
        </p:nvSpPr>
        <p:spPr>
          <a:xfrm flipV="1">
            <a:off x="1874520" y="3438144"/>
            <a:ext cx="4533595" cy="731520"/>
          </a:xfrm>
          <a:prstGeom prst="line">
            <a:avLst/>
          </a:prstGeom>
          <a:noFill/>
          <a:ln w="19050">
            <a:solidFill>
              <a:srgbClr val="5B6B7B"/>
            </a:solidFill>
            <a:prstDash val="solid"/>
            <a:tailEnd type="triangle"/>
          </a:ln>
        </p:spPr>
      </p:sp>
      <p:sp>
        <p:nvSpPr>
          <p:cNvPr id="12" name="arrow-243"/>
          <p:cNvSpPr/>
          <p:nvPr/>
        </p:nvSpPr>
        <p:spPr>
          <a:xfrm>
            <a:off x="5780837" y="1883664"/>
            <a:ext cx="627278" cy="1554480"/>
          </a:xfrm>
          <a:prstGeom prst="line">
            <a:avLst/>
          </a:prstGeom>
          <a:noFill/>
          <a:ln w="19050">
            <a:solidFill>
              <a:srgbClr val="5B6B7B"/>
            </a:solidFill>
            <a:prstDash val="solid"/>
            <a:tailEnd type="triangle"/>
          </a:ln>
        </p:spPr>
      </p:sp>
      <p:sp>
        <p:nvSpPr>
          <p:cNvPr id="13" name="arrow-244"/>
          <p:cNvSpPr/>
          <p:nvPr/>
        </p:nvSpPr>
        <p:spPr>
          <a:xfrm flipV="1">
            <a:off x="7733995" y="2706624"/>
            <a:ext cx="627278" cy="731520"/>
          </a:xfrm>
          <a:prstGeom prst="line">
            <a:avLst/>
          </a:prstGeom>
          <a:noFill/>
          <a:ln w="19050">
            <a:solidFill>
              <a:srgbClr val="5B6B7B"/>
            </a:solidFill>
            <a:prstDash val="solid"/>
            <a:tailEnd type="triangle"/>
          </a:ln>
        </p:spPr>
      </p:sp>
      <p:sp>
        <p:nvSpPr>
          <p:cNvPr id="14" name="arrow-245"/>
          <p:cNvSpPr/>
          <p:nvPr/>
        </p:nvSpPr>
        <p:spPr>
          <a:xfrm flipV="1">
            <a:off x="1874520" y="4169664"/>
            <a:ext cx="6486754" cy="822960"/>
          </a:xfrm>
          <a:prstGeom prst="line">
            <a:avLst/>
          </a:prstGeom>
          <a:noFill/>
          <a:ln w="19050">
            <a:solidFill>
              <a:srgbClr val="5B6B7B"/>
            </a:solidFill>
            <a:prstDash val="solid"/>
            <a:tailEnd type="triangle"/>
          </a:ln>
        </p:spPr>
      </p:sp>
      <p:sp>
        <p:nvSpPr>
          <p:cNvPr id="15" name="arrow-246"/>
          <p:cNvSpPr/>
          <p:nvPr/>
        </p:nvSpPr>
        <p:spPr>
          <a:xfrm>
            <a:off x="7733995" y="3438144"/>
            <a:ext cx="627278" cy="731520"/>
          </a:xfrm>
          <a:prstGeom prst="line">
            <a:avLst/>
          </a:prstGeom>
          <a:noFill/>
          <a:ln w="19050">
            <a:solidFill>
              <a:srgbClr val="5B6B7B"/>
            </a:solidFill>
            <a:prstDash val="solid"/>
            <a:tailEnd type="triangle"/>
          </a:ln>
        </p:spPr>
      </p:sp>
      <p:sp>
        <p:nvSpPr>
          <p:cNvPr id="16" name="arrow-247"/>
          <p:cNvSpPr/>
          <p:nvPr/>
        </p:nvSpPr>
        <p:spPr>
          <a:xfrm>
            <a:off x="9687154" y="4169664"/>
            <a:ext cx="627278" cy="0"/>
          </a:xfrm>
          <a:prstGeom prst="line">
            <a:avLst/>
          </a:prstGeom>
          <a:noFill/>
          <a:ln w="19050">
            <a:solidFill>
              <a:srgbClr val="5B6B7B"/>
            </a:solidFill>
            <a:prstDash val="solid"/>
            <a:tailEnd type="triangle"/>
          </a:ln>
        </p:spPr>
      </p:sp>
      <p:sp>
        <p:nvSpPr>
          <p:cNvPr id="17" name="node-248"/>
          <p:cNvSpPr/>
          <p:nvPr/>
        </p:nvSpPr>
        <p:spPr>
          <a:xfrm>
            <a:off x="548640" y="1417320"/>
            <a:ext cx="1325880" cy="566928"/>
          </a:xfrm>
          <a:prstGeom prst="roundRect">
            <a:avLst>
              <a:gd name="adj" fmla="val 9677"/>
            </a:avLst>
          </a:prstGeom>
          <a:solidFill>
            <a:srgbClr val="1C1C21"/>
          </a:solidFill>
          <a:ln w="19050">
            <a:solidFill>
              <a:srgbClr val="86EFAC"/>
            </a:solidFill>
            <a:prstDash val="solid"/>
          </a:ln>
        </p:spPr>
      </p:sp>
      <p:sp>
        <p:nvSpPr>
          <p:cNvPr id="18" name="text-249"/>
          <p:cNvSpPr txBox="1"/>
          <p:nvPr/>
        </p:nvSpPr>
        <p:spPr>
          <a:xfrm>
            <a:off x="548640" y="146304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price</a:t>
            </a:r>
            <a:endParaRPr lang="en-US" sz="1500" dirty="0"/>
          </a:p>
        </p:txBody>
      </p:sp>
      <p:sp>
        <p:nvSpPr>
          <p:cNvPr id="19" name="text-250"/>
          <p:cNvSpPr txBox="1"/>
          <p:nvPr/>
        </p:nvSpPr>
        <p:spPr>
          <a:xfrm>
            <a:off x="548640" y="172913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input · int</a:t>
            </a:r>
            <a:endParaRPr lang="en-US" sz="1100" dirty="0"/>
          </a:p>
        </p:txBody>
      </p:sp>
      <p:sp>
        <p:nvSpPr>
          <p:cNvPr id="20" name="node-251"/>
          <p:cNvSpPr/>
          <p:nvPr/>
        </p:nvSpPr>
        <p:spPr>
          <a:xfrm>
            <a:off x="548640" y="2240280"/>
            <a:ext cx="1325880" cy="566928"/>
          </a:xfrm>
          <a:prstGeom prst="roundRect">
            <a:avLst>
              <a:gd name="adj" fmla="val 9677"/>
            </a:avLst>
          </a:prstGeom>
          <a:solidFill>
            <a:srgbClr val="1C1C21"/>
          </a:solidFill>
          <a:ln w="19050">
            <a:solidFill>
              <a:srgbClr val="86EFAC"/>
            </a:solidFill>
            <a:prstDash val="solid"/>
          </a:ln>
        </p:spPr>
      </p:sp>
      <p:sp>
        <p:nvSpPr>
          <p:cNvPr id="21" name="text-252"/>
          <p:cNvSpPr txBox="1"/>
          <p:nvPr/>
        </p:nvSpPr>
        <p:spPr>
          <a:xfrm>
            <a:off x="548640" y="228600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discount</a:t>
            </a:r>
            <a:endParaRPr lang="en-US" sz="1500" dirty="0"/>
          </a:p>
        </p:txBody>
      </p:sp>
      <p:sp>
        <p:nvSpPr>
          <p:cNvPr id="22" name="text-253"/>
          <p:cNvSpPr txBox="1"/>
          <p:nvPr/>
        </p:nvSpPr>
        <p:spPr>
          <a:xfrm>
            <a:off x="548640" y="255209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input · float</a:t>
            </a:r>
            <a:endParaRPr lang="en-US" sz="1100" dirty="0"/>
          </a:p>
        </p:txBody>
      </p:sp>
      <p:sp>
        <p:nvSpPr>
          <p:cNvPr id="23" name="node-254"/>
          <p:cNvSpPr/>
          <p:nvPr/>
        </p:nvSpPr>
        <p:spPr>
          <a:xfrm>
            <a:off x="548640" y="3063240"/>
            <a:ext cx="1325880" cy="566928"/>
          </a:xfrm>
          <a:prstGeom prst="roundRect">
            <a:avLst>
              <a:gd name="adj" fmla="val 9677"/>
            </a:avLst>
          </a:prstGeom>
          <a:solidFill>
            <a:srgbClr val="1C1C21"/>
          </a:solidFill>
          <a:ln w="19050">
            <a:solidFill>
              <a:srgbClr val="86EFAC"/>
            </a:solidFill>
            <a:prstDash val="solid"/>
          </a:ln>
        </p:spPr>
      </p:sp>
      <p:sp>
        <p:nvSpPr>
          <p:cNvPr id="24" name="text-255"/>
          <p:cNvSpPr txBox="1"/>
          <p:nvPr/>
        </p:nvSpPr>
        <p:spPr>
          <a:xfrm>
            <a:off x="548640" y="310896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tax</a:t>
            </a:r>
            <a:endParaRPr lang="en-US" sz="1500" dirty="0"/>
          </a:p>
        </p:txBody>
      </p:sp>
      <p:sp>
        <p:nvSpPr>
          <p:cNvPr id="25" name="text-256"/>
          <p:cNvSpPr txBox="1"/>
          <p:nvPr/>
        </p:nvSpPr>
        <p:spPr>
          <a:xfrm>
            <a:off x="548640" y="337505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input · float</a:t>
            </a:r>
            <a:endParaRPr lang="en-US" sz="1100" dirty="0"/>
          </a:p>
        </p:txBody>
      </p:sp>
      <p:sp>
        <p:nvSpPr>
          <p:cNvPr id="26" name="node-257"/>
          <p:cNvSpPr/>
          <p:nvPr/>
        </p:nvSpPr>
        <p:spPr>
          <a:xfrm>
            <a:off x="548640" y="3886200"/>
            <a:ext cx="1325880" cy="566928"/>
          </a:xfrm>
          <a:prstGeom prst="roundRect">
            <a:avLst>
              <a:gd name="adj" fmla="val 9677"/>
            </a:avLst>
          </a:prstGeom>
          <a:solidFill>
            <a:srgbClr val="1C1C21"/>
          </a:solidFill>
          <a:ln w="19050">
            <a:solidFill>
              <a:srgbClr val="86EFAC"/>
            </a:solidFill>
            <a:prstDash val="solid"/>
          </a:ln>
        </p:spPr>
      </p:sp>
      <p:sp>
        <p:nvSpPr>
          <p:cNvPr id="27" name="text-258"/>
          <p:cNvSpPr txBox="1"/>
          <p:nvPr/>
        </p:nvSpPr>
        <p:spPr>
          <a:xfrm>
            <a:off x="548640" y="393192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fee</a:t>
            </a:r>
            <a:endParaRPr lang="en-US" sz="1500" dirty="0"/>
          </a:p>
        </p:txBody>
      </p:sp>
      <p:sp>
        <p:nvSpPr>
          <p:cNvPr id="28" name="text-259"/>
          <p:cNvSpPr txBox="1"/>
          <p:nvPr/>
        </p:nvSpPr>
        <p:spPr>
          <a:xfrm>
            <a:off x="548640" y="419801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input · int</a:t>
            </a:r>
            <a:endParaRPr lang="en-US" sz="1100" dirty="0"/>
          </a:p>
        </p:txBody>
      </p:sp>
      <p:sp>
        <p:nvSpPr>
          <p:cNvPr id="29" name="node-260"/>
          <p:cNvSpPr/>
          <p:nvPr/>
        </p:nvSpPr>
        <p:spPr>
          <a:xfrm>
            <a:off x="548640" y="4709160"/>
            <a:ext cx="1325880" cy="566928"/>
          </a:xfrm>
          <a:prstGeom prst="roundRect">
            <a:avLst>
              <a:gd name="adj" fmla="val 9677"/>
            </a:avLst>
          </a:prstGeom>
          <a:solidFill>
            <a:srgbClr val="1C1C21"/>
          </a:solidFill>
          <a:ln w="19050">
            <a:solidFill>
              <a:srgbClr val="86EFAC"/>
            </a:solidFill>
            <a:prstDash val="solid"/>
          </a:ln>
        </p:spPr>
      </p:sp>
      <p:sp>
        <p:nvSpPr>
          <p:cNvPr id="30" name="text-261"/>
          <p:cNvSpPr txBox="1"/>
          <p:nvPr/>
        </p:nvSpPr>
        <p:spPr>
          <a:xfrm>
            <a:off x="548640" y="475488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units</a:t>
            </a:r>
            <a:endParaRPr lang="en-US" sz="1500" dirty="0"/>
          </a:p>
        </p:txBody>
      </p:sp>
      <p:sp>
        <p:nvSpPr>
          <p:cNvPr id="31" name="text-262"/>
          <p:cNvSpPr txBox="1"/>
          <p:nvPr/>
        </p:nvSpPr>
        <p:spPr>
          <a:xfrm>
            <a:off x="548640" y="502097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input · int</a:t>
            </a:r>
            <a:endParaRPr lang="en-US" sz="1100" dirty="0"/>
          </a:p>
        </p:txBody>
      </p:sp>
      <p:sp>
        <p:nvSpPr>
          <p:cNvPr id="32" name="node-263"/>
          <p:cNvSpPr/>
          <p:nvPr/>
        </p:nvSpPr>
        <p:spPr>
          <a:xfrm>
            <a:off x="2501798" y="2240280"/>
            <a:ext cx="1325880" cy="566928"/>
          </a:xfrm>
          <a:prstGeom prst="roundRect">
            <a:avLst>
              <a:gd name="adj" fmla="val 9677"/>
            </a:avLst>
          </a:prstGeom>
          <a:solidFill>
            <a:srgbClr val="1C1C21"/>
          </a:solidFill>
          <a:ln w="19050">
            <a:solidFill>
              <a:srgbClr val="60A5FA"/>
            </a:solidFill>
            <a:prstDash val="solid"/>
          </a:ln>
        </p:spPr>
      </p:sp>
      <p:sp>
        <p:nvSpPr>
          <p:cNvPr id="33" name="text-264"/>
          <p:cNvSpPr txBox="1"/>
          <p:nvPr/>
        </p:nvSpPr>
        <p:spPr>
          <a:xfrm>
            <a:off x="2501798" y="228600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savings</a:t>
            </a:r>
            <a:endParaRPr lang="en-US" sz="1500" dirty="0"/>
          </a:p>
        </p:txBody>
      </p:sp>
      <p:sp>
        <p:nvSpPr>
          <p:cNvPr id="34" name="text-265"/>
          <p:cNvSpPr txBox="1"/>
          <p:nvPr/>
        </p:nvSpPr>
        <p:spPr>
          <a:xfrm>
            <a:off x="2501798" y="255209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float</a:t>
            </a:r>
            <a:endParaRPr lang="en-US" sz="1100" dirty="0"/>
          </a:p>
        </p:txBody>
      </p:sp>
      <p:sp>
        <p:nvSpPr>
          <p:cNvPr id="35" name="node-266"/>
          <p:cNvSpPr/>
          <p:nvPr/>
        </p:nvSpPr>
        <p:spPr>
          <a:xfrm>
            <a:off x="4454957" y="1600200"/>
            <a:ext cx="1325880" cy="566928"/>
          </a:xfrm>
          <a:prstGeom prst="roundRect">
            <a:avLst>
              <a:gd name="adj" fmla="val 9677"/>
            </a:avLst>
          </a:prstGeom>
          <a:solidFill>
            <a:srgbClr val="1C1C21"/>
          </a:solidFill>
          <a:ln w="19050">
            <a:solidFill>
              <a:srgbClr val="60A5FA"/>
            </a:solidFill>
            <a:prstDash val="solid"/>
          </a:ln>
        </p:spPr>
      </p:sp>
      <p:sp>
        <p:nvSpPr>
          <p:cNvPr id="36" name="text-267"/>
          <p:cNvSpPr txBox="1"/>
          <p:nvPr/>
        </p:nvSpPr>
        <p:spPr>
          <a:xfrm>
            <a:off x="4454957" y="164592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subtotal</a:t>
            </a:r>
            <a:endParaRPr lang="en-US" sz="1500" dirty="0"/>
          </a:p>
        </p:txBody>
      </p:sp>
      <p:sp>
        <p:nvSpPr>
          <p:cNvPr id="37" name="text-268"/>
          <p:cNvSpPr txBox="1"/>
          <p:nvPr/>
        </p:nvSpPr>
        <p:spPr>
          <a:xfrm>
            <a:off x="4454957" y="191201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float</a:t>
            </a:r>
            <a:endParaRPr lang="en-US" sz="1100" dirty="0"/>
          </a:p>
        </p:txBody>
      </p:sp>
      <p:sp>
        <p:nvSpPr>
          <p:cNvPr id="38" name="node-269"/>
          <p:cNvSpPr/>
          <p:nvPr/>
        </p:nvSpPr>
        <p:spPr>
          <a:xfrm>
            <a:off x="6408115" y="3154680"/>
            <a:ext cx="1325880" cy="566928"/>
          </a:xfrm>
          <a:prstGeom prst="roundRect">
            <a:avLst>
              <a:gd name="adj" fmla="val 9677"/>
            </a:avLst>
          </a:prstGeom>
          <a:solidFill>
            <a:srgbClr val="1C1C21"/>
          </a:solidFill>
          <a:ln w="19050">
            <a:solidFill>
              <a:srgbClr val="60A5FA"/>
            </a:solidFill>
            <a:prstDash val="solid"/>
          </a:ln>
        </p:spPr>
      </p:sp>
      <p:sp>
        <p:nvSpPr>
          <p:cNvPr id="39" name="text-270"/>
          <p:cNvSpPr txBox="1"/>
          <p:nvPr/>
        </p:nvSpPr>
        <p:spPr>
          <a:xfrm>
            <a:off x="6408115" y="320040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total</a:t>
            </a:r>
            <a:endParaRPr lang="en-US" sz="1500" dirty="0"/>
          </a:p>
        </p:txBody>
      </p:sp>
      <p:sp>
        <p:nvSpPr>
          <p:cNvPr id="40" name="text-271"/>
          <p:cNvSpPr txBox="1"/>
          <p:nvPr/>
        </p:nvSpPr>
        <p:spPr>
          <a:xfrm>
            <a:off x="6408115" y="346649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float</a:t>
            </a:r>
            <a:endParaRPr lang="en-US" sz="1100" dirty="0"/>
          </a:p>
        </p:txBody>
      </p:sp>
      <p:sp>
        <p:nvSpPr>
          <p:cNvPr id="41" name="node-272"/>
          <p:cNvSpPr/>
          <p:nvPr/>
        </p:nvSpPr>
        <p:spPr>
          <a:xfrm>
            <a:off x="8361274" y="2423160"/>
            <a:ext cx="1325880" cy="566928"/>
          </a:xfrm>
          <a:prstGeom prst="roundRect">
            <a:avLst>
              <a:gd name="adj" fmla="val 9677"/>
            </a:avLst>
          </a:prstGeom>
          <a:solidFill>
            <a:srgbClr val="1C1C21"/>
          </a:solidFill>
          <a:ln w="19050">
            <a:solidFill>
              <a:srgbClr val="60A5FA"/>
            </a:solidFill>
            <a:prstDash val="solid"/>
          </a:ln>
        </p:spPr>
      </p:sp>
      <p:sp>
        <p:nvSpPr>
          <p:cNvPr id="42" name="text-273"/>
          <p:cNvSpPr txBox="1"/>
          <p:nvPr/>
        </p:nvSpPr>
        <p:spPr>
          <a:xfrm>
            <a:off x="8361274" y="246888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expensive</a:t>
            </a:r>
            <a:endParaRPr lang="en-US" sz="1500" dirty="0"/>
          </a:p>
        </p:txBody>
      </p:sp>
      <p:sp>
        <p:nvSpPr>
          <p:cNvPr id="43" name="text-274"/>
          <p:cNvSpPr txBox="1"/>
          <p:nvPr/>
        </p:nvSpPr>
        <p:spPr>
          <a:xfrm>
            <a:off x="8361274" y="273497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bool</a:t>
            </a:r>
            <a:endParaRPr lang="en-US" sz="1100" dirty="0"/>
          </a:p>
        </p:txBody>
      </p:sp>
      <p:sp>
        <p:nvSpPr>
          <p:cNvPr id="44" name="node-275"/>
          <p:cNvSpPr/>
          <p:nvPr/>
        </p:nvSpPr>
        <p:spPr>
          <a:xfrm>
            <a:off x="8361274" y="3886200"/>
            <a:ext cx="1325880" cy="566928"/>
          </a:xfrm>
          <a:prstGeom prst="roundRect">
            <a:avLst>
              <a:gd name="adj" fmla="val 9677"/>
            </a:avLst>
          </a:prstGeom>
          <a:solidFill>
            <a:srgbClr val="1C1C21"/>
          </a:solidFill>
          <a:ln w="19050">
            <a:solidFill>
              <a:srgbClr val="60A5FA"/>
            </a:solidFill>
            <a:prstDash val="solid"/>
          </a:ln>
        </p:spPr>
      </p:sp>
      <p:sp>
        <p:nvSpPr>
          <p:cNvPr id="45" name="text-276"/>
          <p:cNvSpPr txBox="1"/>
          <p:nvPr/>
        </p:nvSpPr>
        <p:spPr>
          <a:xfrm>
            <a:off x="8361274" y="393192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per_unit</a:t>
            </a:r>
            <a:endParaRPr lang="en-US" sz="1500" dirty="0"/>
          </a:p>
        </p:txBody>
      </p:sp>
      <p:sp>
        <p:nvSpPr>
          <p:cNvPr id="46" name="text-277"/>
          <p:cNvSpPr txBox="1"/>
          <p:nvPr/>
        </p:nvSpPr>
        <p:spPr>
          <a:xfrm>
            <a:off x="8361274" y="419801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float</a:t>
            </a:r>
            <a:endParaRPr lang="en-US" sz="1100" dirty="0"/>
          </a:p>
        </p:txBody>
      </p:sp>
      <p:sp>
        <p:nvSpPr>
          <p:cNvPr id="47" name="node-278"/>
          <p:cNvSpPr/>
          <p:nvPr/>
        </p:nvSpPr>
        <p:spPr>
          <a:xfrm>
            <a:off x="10314432" y="3886200"/>
            <a:ext cx="1325880" cy="566928"/>
          </a:xfrm>
          <a:prstGeom prst="roundRect">
            <a:avLst>
              <a:gd name="adj" fmla="val 9677"/>
            </a:avLst>
          </a:prstGeom>
          <a:solidFill>
            <a:srgbClr val="1C1C21"/>
          </a:solidFill>
          <a:ln w="19050">
            <a:solidFill>
              <a:srgbClr val="60A5FA"/>
            </a:solidFill>
            <a:prstDash val="solid"/>
          </a:ln>
        </p:spPr>
      </p:sp>
      <p:sp>
        <p:nvSpPr>
          <p:cNvPr id="48" name="text-279"/>
          <p:cNvSpPr txBox="1"/>
          <p:nvPr/>
        </p:nvSpPr>
        <p:spPr>
          <a:xfrm>
            <a:off x="10314432" y="3931920"/>
            <a:ext cx="1325880" cy="311810"/>
          </a:xfrm>
          <a:prstGeom prst="rect">
            <a:avLst/>
          </a:prstGeom>
          <a:noFill/>
          <a:ln/>
        </p:spPr>
        <p:txBody>
          <a:bodyPr wrap="square" lIns="0" tIns="0" rIns="0" bIns="0" rtlCol="0" anchor="ctr"/>
          <a:lstStyle/>
          <a:p>
            <a:pPr algn="ctr" indent="0" marL="0">
              <a:buNone/>
            </a:pPr>
            <a:r>
              <a:rPr lang="en-US" sz="1500" b="1" dirty="0">
                <a:solidFill>
                  <a:srgbClr val="ECECEE"/>
                </a:solidFill>
                <a:latin typeface="Consolas" pitchFamily="34" charset="0"/>
                <a:ea typeface="Consolas" pitchFamily="34" charset="-122"/>
                <a:cs typeface="Consolas" pitchFamily="34" charset="-120"/>
              </a:rPr>
              <a:t>bulk</a:t>
            </a:r>
            <a:endParaRPr lang="en-US" sz="1500" dirty="0"/>
          </a:p>
        </p:txBody>
      </p:sp>
      <p:sp>
        <p:nvSpPr>
          <p:cNvPr id="49" name="text-280"/>
          <p:cNvSpPr txBox="1"/>
          <p:nvPr/>
        </p:nvSpPr>
        <p:spPr>
          <a:xfrm>
            <a:off x="10314432" y="4198010"/>
            <a:ext cx="1325880" cy="226771"/>
          </a:xfrm>
          <a:prstGeom prst="rect">
            <a:avLst/>
          </a:prstGeom>
          <a:noFill/>
          <a:ln/>
        </p:spPr>
        <p:txBody>
          <a:bodyPr wrap="square" lIns="0" tIns="0" rIns="0" bIns="0" rtlCol="0" anchor="t"/>
          <a:lstStyle/>
          <a:p>
            <a:pPr algn="ctr" indent="0" marL="0">
              <a:buNone/>
            </a:pPr>
            <a:r>
              <a:rPr lang="en-US" sz="1100" dirty="0">
                <a:solidFill>
                  <a:srgbClr val="8E8E96"/>
                </a:solidFill>
                <a:latin typeface="Inter" pitchFamily="34" charset="0"/>
                <a:ea typeface="Inter" pitchFamily="34" charset="-122"/>
                <a:cs typeface="Inter" pitchFamily="34" charset="-120"/>
              </a:rPr>
              <a:t>let · bool</a:t>
            </a:r>
            <a:endParaRPr lang="en-US" sz="1100" dirty="0"/>
          </a:p>
        </p:txBody>
      </p:sp>
      <p:sp>
        <p:nvSpPr>
          <p:cNvPr id="50" name="key-281"/>
          <p:cNvSpPr/>
          <p:nvPr/>
        </p:nvSpPr>
        <p:spPr>
          <a:xfrm>
            <a:off x="548640" y="5486400"/>
            <a:ext cx="274320" cy="201168"/>
          </a:xfrm>
          <a:prstGeom prst="roundRect">
            <a:avLst>
              <a:gd name="adj" fmla="val 18182"/>
            </a:avLst>
          </a:prstGeom>
          <a:solidFill>
            <a:srgbClr val="1C1C21"/>
          </a:solidFill>
          <a:ln w="19050">
            <a:solidFill>
              <a:srgbClr val="86EFAC"/>
            </a:solidFill>
            <a:prstDash val="solid"/>
          </a:ln>
        </p:spPr>
      </p:sp>
      <p:sp>
        <p:nvSpPr>
          <p:cNvPr id="51" name="text-282"/>
          <p:cNvSpPr txBox="1"/>
          <p:nvPr/>
        </p:nvSpPr>
        <p:spPr>
          <a:xfrm>
            <a:off x="914400" y="5431536"/>
            <a:ext cx="1554480" cy="310896"/>
          </a:xfrm>
          <a:prstGeom prst="rect">
            <a:avLst/>
          </a:prstGeom>
          <a:noFill/>
          <a:ln/>
        </p:spPr>
        <p:txBody>
          <a:bodyPr wrap="square" lIns="0" tIns="0" rIns="0" bIns="0" rtlCol="0" anchor="ctr"/>
          <a:lstStyle/>
          <a:p>
            <a:pPr indent="0" marL="0">
              <a:buNone/>
            </a:pPr>
            <a:r>
              <a:rPr lang="en-US" sz="1300" dirty="0">
                <a:solidFill>
                  <a:srgbClr val="8E8E96"/>
                </a:solidFill>
                <a:latin typeface="Inter" pitchFamily="34" charset="0"/>
                <a:ea typeface="Inter" pitchFamily="34" charset="-122"/>
                <a:cs typeface="Inter" pitchFamily="34" charset="-120"/>
              </a:rPr>
              <a:t>input</a:t>
            </a:r>
            <a:endParaRPr lang="en-US" sz="1300" dirty="0"/>
          </a:p>
        </p:txBody>
      </p:sp>
      <p:sp>
        <p:nvSpPr>
          <p:cNvPr id="52" name="key-283"/>
          <p:cNvSpPr/>
          <p:nvPr/>
        </p:nvSpPr>
        <p:spPr>
          <a:xfrm>
            <a:off x="2286000" y="5486400"/>
            <a:ext cx="274320" cy="201168"/>
          </a:xfrm>
          <a:prstGeom prst="roundRect">
            <a:avLst>
              <a:gd name="adj" fmla="val 18182"/>
            </a:avLst>
          </a:prstGeom>
          <a:solidFill>
            <a:srgbClr val="1C1C21"/>
          </a:solidFill>
          <a:ln w="19050">
            <a:solidFill>
              <a:srgbClr val="60A5FA"/>
            </a:solidFill>
            <a:prstDash val="solid"/>
          </a:ln>
        </p:spPr>
      </p:sp>
      <p:sp>
        <p:nvSpPr>
          <p:cNvPr id="53" name="text-284"/>
          <p:cNvSpPr txBox="1"/>
          <p:nvPr/>
        </p:nvSpPr>
        <p:spPr>
          <a:xfrm>
            <a:off x="2651760" y="5431536"/>
            <a:ext cx="1554480" cy="310896"/>
          </a:xfrm>
          <a:prstGeom prst="rect">
            <a:avLst/>
          </a:prstGeom>
          <a:noFill/>
          <a:ln/>
        </p:spPr>
        <p:txBody>
          <a:bodyPr wrap="square" lIns="0" tIns="0" rIns="0" bIns="0" rtlCol="0" anchor="ctr"/>
          <a:lstStyle/>
          <a:p>
            <a:pPr indent="0" marL="0">
              <a:buNone/>
            </a:pPr>
            <a:r>
              <a:rPr lang="en-US" sz="1300" dirty="0">
                <a:solidFill>
                  <a:srgbClr val="8E8E96"/>
                </a:solidFill>
                <a:latin typeface="Inter" pitchFamily="34" charset="0"/>
                <a:ea typeface="Inter" pitchFamily="34" charset="-122"/>
                <a:cs typeface="Inter" pitchFamily="34" charset="-120"/>
              </a:rPr>
              <a:t>let (computed)</a:t>
            </a:r>
            <a:endParaRPr lang="en-US" sz="1300" dirty="0"/>
          </a:p>
        </p:txBody>
      </p:sp>
      <p:sp>
        <p:nvSpPr>
          <p:cNvPr id="54" name="text-285"/>
          <p:cNvSpPr txBox="1"/>
          <p:nvPr/>
        </p:nvSpPr>
        <p:spPr>
          <a:xfrm>
            <a:off x="4114800" y="5440680"/>
            <a:ext cx="7498080" cy="320040"/>
          </a:xfrm>
          <a:prstGeom prst="rect">
            <a:avLst/>
          </a:prstGeom>
          <a:noFill/>
          <a:ln/>
        </p:spPr>
        <p:txBody>
          <a:bodyPr wrap="square" lIns="0" tIns="0" rIns="0" bIns="0" rtlCol="0" anchor="t"/>
          <a:lstStyle/>
          <a:p>
            <a:pPr indent="0" marL="0">
              <a:buNone/>
            </a:pPr>
            <a:r>
              <a:rPr lang="en-US" sz="1100" dirty="0">
                <a:solidFill>
                  <a:srgbClr val="8E8E96"/>
                </a:solidFill>
                <a:latin typeface="Inter" pitchFamily="34" charset="0"/>
                <a:ea typeface="Inter" pitchFamily="34" charset="-122"/>
                <a:cs typeface="Inter" pitchFamily="34" charset="-120"/>
              </a:rPr>
              <a:t>Arrow: a value flows from a binding to the bindings that use it. The compiler stores the reverse (binding → names it uses).</a:t>
            </a:r>
            <a:endParaRPr lang="en-US" sz="1100" dirty="0"/>
          </a:p>
        </p:txBody>
      </p:sp>
      <p:sp>
        <p:nvSpPr>
          <p:cNvPr id="55" name="card-286"/>
          <p:cNvSpPr/>
          <p:nvPr/>
        </p:nvSpPr>
        <p:spPr>
          <a:xfrm>
            <a:off x="548640" y="5870448"/>
            <a:ext cx="11091672" cy="457200"/>
          </a:xfrm>
          <a:prstGeom prst="roundRect">
            <a:avLst>
              <a:gd name="adj" fmla="val 16000"/>
            </a:avLst>
          </a:prstGeom>
          <a:solidFill>
            <a:srgbClr val="121214"/>
          </a:solidFill>
          <a:ln w="19050">
            <a:solidFill>
              <a:srgbClr val="22D3EE"/>
            </a:solidFill>
            <a:prstDash val="solid"/>
          </a:ln>
        </p:spPr>
      </p:sp>
      <p:sp>
        <p:nvSpPr>
          <p:cNvPr id="56" name="text-287"/>
          <p:cNvSpPr txBox="1"/>
          <p:nvPr/>
        </p:nvSpPr>
        <p:spPr>
          <a:xfrm>
            <a:off x="777240" y="5870448"/>
            <a:ext cx="10698480" cy="457200"/>
          </a:xfrm>
          <a:prstGeom prst="rect">
            <a:avLst/>
          </a:prstGeom>
          <a:noFill/>
          <a:ln/>
        </p:spPr>
        <p:txBody>
          <a:bodyPr wrap="square" lIns="0" tIns="0" rIns="0" bIns="0" rtlCol="0" anchor="ctr"/>
          <a:lstStyle/>
          <a:p>
            <a:pPr indent="0" marL="0">
              <a:buNone/>
            </a:pPr>
            <a:r>
              <a:rPr lang="en-US" sz="1500" b="1" dirty="0">
                <a:solidFill>
                  <a:srgbClr val="ECECEE"/>
                </a:solidFill>
                <a:latin typeface="Inter" pitchFamily="34" charset="0"/>
                <a:ea typeface="Inter" pitchFamily="34" charset="-122"/>
                <a:cs typeface="Inter" pitchFamily="34" charset="-120"/>
              </a:rPr>
              <a:t>Dependencies are derived from source expressions, not from whether the current numerical output changes.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explain: why did this value occur?</a:t>
            </a:r>
            <a:endParaRPr lang="en-US" sz="2800" dirty="0"/>
          </a:p>
        </p:txBody>
      </p:sp>
      <p:sp>
        <p:nvSpPr>
          <p:cNvPr id="3" name="text-288"/>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Demonstration</a:t>
            </a:r>
            <a:endParaRPr lang="en-US" sz="1000" dirty="0"/>
          </a:p>
        </p:txBody>
      </p:sp>
      <p:sp>
        <p:nvSpPr>
          <p:cNvPr id="5" name="panel-289"/>
          <p:cNvSpPr/>
          <p:nvPr/>
        </p:nvSpPr>
        <p:spPr>
          <a:xfrm>
            <a:off x="548640" y="1371600"/>
            <a:ext cx="6583680" cy="4572000"/>
          </a:xfrm>
          <a:prstGeom prst="roundRect">
            <a:avLst>
              <a:gd name="adj" fmla="val 1600"/>
            </a:avLst>
          </a:prstGeom>
          <a:solidFill>
            <a:srgbClr val="121214"/>
          </a:solidFill>
          <a:ln w="12700">
            <a:solidFill>
              <a:srgbClr val="121214"/>
            </a:solidFill>
            <a:prstDash val="solid"/>
          </a:ln>
        </p:spPr>
      </p:sp>
      <p:sp>
        <p:nvSpPr>
          <p:cNvPr id="6" name="text-290"/>
          <p:cNvSpPr txBox="1"/>
          <p:nvPr/>
        </p:nvSpPr>
        <p:spPr>
          <a:xfrm>
            <a:off x="777240" y="1508760"/>
            <a:ext cx="6126480"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 ./build/pricing      (output of  explain total)</a:t>
            </a:r>
            <a:endParaRPr lang="en-US" sz="1100" dirty="0"/>
          </a:p>
        </p:txBody>
      </p:sp>
      <p:sp>
        <p:nvSpPr>
          <p:cNvPr id="7" name="text-291"/>
          <p:cNvSpPr txBox="1"/>
          <p:nvPr/>
        </p:nvSpPr>
        <p:spPr>
          <a:xfrm>
            <a:off x="777240" y="1828800"/>
            <a:ext cx="6126480" cy="3977640"/>
          </a:xfrm>
          <a:prstGeom prst="rect">
            <a:avLst/>
          </a:prstGeom>
          <a:noFill/>
          <a:ln/>
        </p:spPr>
        <p:txBody>
          <a:bodyPr wrap="square" lIns="0" tIns="0" rIns="0" bIns="0" rtlCol="0" anchor="t"/>
          <a:lstStyle/>
          <a:p>
            <a:pPr indent="0" marL="0">
              <a:spcAft>
                <a:spcPts val="200"/>
              </a:spcAft>
              <a:buNone/>
            </a:pPr>
            <a:r>
              <a:rPr lang="en-US" sz="1400" dirty="0">
                <a:solidFill>
                  <a:srgbClr val="A78BFA"/>
                </a:solidFill>
                <a:latin typeface="Consolas" pitchFamily="34" charset="0"/>
                <a:ea typeface="Consolas" pitchFamily="34" charset="-122"/>
                <a:cs typeface="Consolas" pitchFamily="34" charset="-120"/>
              </a:rPr>
              <a:t>explain total</a:t>
            </a:r>
            <a:endParaRPr lang="en-US" sz="1600" dirty="0"/>
          </a:p>
          <a:p>
            <a:pPr indent="0" marL="0">
              <a:spcAft>
                <a:spcPts val="200"/>
              </a:spcAft>
              <a:buNone/>
            </a:pPr>
            <a:r>
              <a:rPr lang="en-US" sz="1400" dirty="0">
                <a:solidFill>
                  <a:srgbClr val="ECECEE"/>
                </a:solidFill>
                <a:latin typeface="Consolas" pitchFamily="34" charset="0"/>
                <a:ea typeface="Consolas" pitchFamily="34" charset="-122"/>
                <a:cs typeface="Consolas" pitchFamily="34" charset="-120"/>
              </a:rPr>
              <a:t>  total = 88.375  [let: subtotal * (1 + tax) + fee]</a:t>
            </a:r>
            <a:endParaRPr lang="en-US" sz="1600" dirty="0"/>
          </a:p>
          <a:p>
            <a:pPr indent="0" marL="0">
              <a:spcAft>
                <a:spcPts val="200"/>
              </a:spcAft>
              <a:buNone/>
            </a:pPr>
            <a:r>
              <a:rPr lang="en-US" sz="1400" dirty="0">
                <a:solidFill>
                  <a:srgbClr val="ECECEE"/>
                </a:solidFill>
                <a:latin typeface="Consolas" pitchFamily="34" charset="0"/>
                <a:ea typeface="Consolas" pitchFamily="34" charset="-122"/>
                <a:cs typeface="Consolas" pitchFamily="34" charset="-120"/>
              </a:rPr>
              <a:t>    subtotal = 75.0  [let: price - savings]</a:t>
            </a:r>
            <a:endParaRPr lang="en-US" sz="1600" dirty="0"/>
          </a:p>
          <a:p>
            <a:pPr indent="0" marL="0">
              <a:spcAft>
                <a:spcPts val="200"/>
              </a:spcAft>
              <a:buNone/>
            </a:pPr>
            <a:r>
              <a:rPr lang="en-US" sz="1400" dirty="0">
                <a:solidFill>
                  <a:srgbClr val="86EFAC"/>
                </a:solidFill>
                <a:latin typeface="Consolas" pitchFamily="34" charset="0"/>
                <a:ea typeface="Consolas" pitchFamily="34" charset="-122"/>
                <a:cs typeface="Consolas" pitchFamily="34" charset="-120"/>
              </a:rPr>
              <a:t>      price = 100  [input]</a:t>
            </a:r>
            <a:endParaRPr lang="en-US" sz="1600" dirty="0"/>
          </a:p>
          <a:p>
            <a:pPr indent="0" marL="0">
              <a:spcAft>
                <a:spcPts val="200"/>
              </a:spcAft>
              <a:buNone/>
            </a:pPr>
            <a:r>
              <a:rPr lang="en-US" sz="1400" dirty="0">
                <a:solidFill>
                  <a:srgbClr val="ECECEE"/>
                </a:solidFill>
                <a:latin typeface="Consolas" pitchFamily="34" charset="0"/>
                <a:ea typeface="Consolas" pitchFamily="34" charset="-122"/>
                <a:cs typeface="Consolas" pitchFamily="34" charset="-120"/>
              </a:rPr>
              <a:t>      savings = 25.0  [let: price * discount]</a:t>
            </a:r>
            <a:endParaRPr lang="en-US" sz="1600" dirty="0"/>
          </a:p>
          <a:p>
            <a:pPr indent="0" marL="0">
              <a:spcAft>
                <a:spcPts val="200"/>
              </a:spcAft>
              <a:buNone/>
            </a:pPr>
            <a:r>
              <a:rPr lang="en-US" sz="1400" dirty="0">
                <a:solidFill>
                  <a:srgbClr val="86EFAC"/>
                </a:solidFill>
                <a:latin typeface="Consolas" pitchFamily="34" charset="0"/>
                <a:ea typeface="Consolas" pitchFamily="34" charset="-122"/>
                <a:cs typeface="Consolas" pitchFamily="34" charset="-120"/>
              </a:rPr>
              <a:t>        price = 100  [input, see above]</a:t>
            </a:r>
            <a:endParaRPr lang="en-US" sz="1600" dirty="0"/>
          </a:p>
          <a:p>
            <a:pPr indent="0" marL="0">
              <a:spcAft>
                <a:spcPts val="200"/>
              </a:spcAft>
              <a:buNone/>
            </a:pPr>
            <a:r>
              <a:rPr lang="en-US" sz="1400" dirty="0">
                <a:solidFill>
                  <a:srgbClr val="86EFAC"/>
                </a:solidFill>
                <a:latin typeface="Consolas" pitchFamily="34" charset="0"/>
                <a:ea typeface="Consolas" pitchFamily="34" charset="-122"/>
                <a:cs typeface="Consolas" pitchFamily="34" charset="-120"/>
              </a:rPr>
              <a:t>        discount = 0.25  [input]</a:t>
            </a:r>
            <a:endParaRPr lang="en-US" sz="1600" dirty="0"/>
          </a:p>
          <a:p>
            <a:pPr indent="0" marL="0">
              <a:spcAft>
                <a:spcPts val="200"/>
              </a:spcAft>
              <a:buNone/>
            </a:pPr>
            <a:r>
              <a:rPr lang="en-US" sz="1400" dirty="0">
                <a:solidFill>
                  <a:srgbClr val="86EFAC"/>
                </a:solidFill>
                <a:latin typeface="Consolas" pitchFamily="34" charset="0"/>
                <a:ea typeface="Consolas" pitchFamily="34" charset="-122"/>
                <a:cs typeface="Consolas" pitchFamily="34" charset="-120"/>
              </a:rPr>
              <a:t>    tax = 0.125  [input]</a:t>
            </a:r>
            <a:endParaRPr lang="en-US" sz="1600" dirty="0"/>
          </a:p>
          <a:p>
            <a:pPr indent="0" marL="0">
              <a:spcAft>
                <a:spcPts val="200"/>
              </a:spcAft>
              <a:buNone/>
            </a:pPr>
            <a:r>
              <a:rPr lang="en-US" sz="1400" dirty="0">
                <a:solidFill>
                  <a:srgbClr val="86EFAC"/>
                </a:solidFill>
                <a:latin typeface="Consolas" pitchFamily="34" charset="0"/>
                <a:ea typeface="Consolas" pitchFamily="34" charset="-122"/>
                <a:cs typeface="Consolas" pitchFamily="34" charset="-120"/>
              </a:rPr>
              <a:t>    fee = 4  [input]</a:t>
            </a:r>
            <a:endParaRPr lang="en-US" sz="1600" dirty="0"/>
          </a:p>
          <a:p>
            <a:pPr indent="0" marL="0">
              <a:spcAft>
                <a:spcPts val="200"/>
              </a:spcAft>
              <a:buNone/>
            </a:pPr>
            <a:r>
              <a:rPr lang="en-US" sz="1400" dirty="0">
                <a:solidFill>
                  <a:srgbClr val="8E8E96"/>
                </a:solidFill>
                <a:latin typeface="Consolas" pitchFamily="34" charset="0"/>
                <a:ea typeface="Consolas" pitchFamily="34" charset="-122"/>
                <a:cs typeface="Consolas" pitchFamily="34" charset="-120"/>
              </a:rPr>
              <a:t>  direct dependencies: tax, fee, subtotal</a:t>
            </a:r>
            <a:endParaRPr lang="en-US" sz="1600" dirty="0"/>
          </a:p>
          <a:p>
            <a:pPr indent="0" marL="0">
              <a:spcAft>
                <a:spcPts val="200"/>
              </a:spcAft>
              <a:buNone/>
            </a:pPr>
            <a:r>
              <a:rPr lang="en-US" sz="1400" dirty="0">
                <a:solidFill>
                  <a:srgbClr val="8E8E96"/>
                </a:solidFill>
                <a:latin typeface="Consolas" pitchFamily="34" charset="0"/>
                <a:ea typeface="Consolas" pitchFamily="34" charset="-122"/>
                <a:cs typeface="Consolas" pitchFamily="34" charset="-120"/>
              </a:rPr>
              <a:t>  transitive dependencies: price, discount, tax,</a:t>
            </a:r>
            <a:endParaRPr lang="en-US" sz="1600" dirty="0"/>
          </a:p>
          <a:p>
            <a:pPr indent="0" marL="0">
              <a:spcAft>
                <a:spcPts val="200"/>
              </a:spcAft>
              <a:buNone/>
            </a:pPr>
            <a:r>
              <a:rPr lang="en-US" sz="1400" dirty="0">
                <a:solidFill>
                  <a:srgbClr val="8E8E96"/>
                </a:solidFill>
                <a:latin typeface="Consolas" pitchFamily="34" charset="0"/>
                <a:ea typeface="Consolas" pitchFamily="34" charset="-122"/>
                <a:cs typeface="Consolas" pitchFamily="34" charset="-120"/>
              </a:rPr>
              <a:t>      fee, savings, subtotal</a:t>
            </a:r>
            <a:endParaRPr lang="en-US" sz="1600" dirty="0"/>
          </a:p>
          <a:p>
            <a:pPr indent="0" marL="0">
              <a:spcAft>
                <a:spcPts val="200"/>
              </a:spcAft>
              <a:buNone/>
            </a:pPr>
            <a:r>
              <a:rPr lang="en-US" sz="1400" dirty="0">
                <a:solidFill>
                  <a:srgbClr val="8E8E96"/>
                </a:solidFill>
                <a:latin typeface="Consolas" pitchFamily="34" charset="0"/>
                <a:ea typeface="Consolas" pitchFamily="34" charset="-122"/>
                <a:cs typeface="Consolas" pitchFamily="34" charset="-120"/>
              </a:rPr>
              <a:t>  inputs: price, discount, tax, fee</a:t>
            </a:r>
            <a:endParaRPr lang="en-US" sz="1600" dirty="0"/>
          </a:p>
          <a:p>
            <a:pPr indent="0" marL="0">
              <a:spcAft>
                <a:spcPts val="200"/>
              </a:spcAft>
              <a:buNone/>
            </a:pPr>
            <a:r>
              <a:rPr lang="en-US" sz="1400" dirty="0">
                <a:solidFill>
                  <a:srgbClr val="8E8E96"/>
                </a:solidFill>
                <a:latin typeface="Consolas" pitchFamily="34" charset="0"/>
                <a:ea typeface="Consolas" pitchFamily="34" charset="-122"/>
                <a:cs typeface="Consolas" pitchFamily="34" charset="-120"/>
              </a:rPr>
              <a:t>  intermediates: savings, subtotal</a:t>
            </a:r>
            <a:endParaRPr lang="en-US" sz="1600" dirty="0"/>
          </a:p>
        </p:txBody>
      </p:sp>
      <p:sp>
        <p:nvSpPr>
          <p:cNvPr id="8" name="panel-292"/>
          <p:cNvSpPr/>
          <p:nvPr/>
        </p:nvSpPr>
        <p:spPr>
          <a:xfrm>
            <a:off x="7406640" y="1280160"/>
            <a:ext cx="4233672" cy="4663440"/>
          </a:xfrm>
          <a:prstGeom prst="roundRect">
            <a:avLst>
              <a:gd name="adj" fmla="val 1728"/>
            </a:avLst>
          </a:prstGeom>
          <a:solidFill>
            <a:srgbClr val="121214"/>
          </a:solidFill>
          <a:ln w="12700">
            <a:solidFill>
              <a:srgbClr val="121214"/>
            </a:solidFill>
            <a:prstDash val="solid"/>
          </a:ln>
        </p:spPr>
      </p:sp>
      <p:sp>
        <p:nvSpPr>
          <p:cNvPr id="9" name="text-293"/>
          <p:cNvSpPr txBox="1"/>
          <p:nvPr/>
        </p:nvSpPr>
        <p:spPr>
          <a:xfrm>
            <a:off x="7589520" y="1371600"/>
            <a:ext cx="1828800" cy="274320"/>
          </a:xfrm>
          <a:prstGeom prst="rect">
            <a:avLst/>
          </a:prstGeom>
          <a:noFill/>
          <a:ln/>
        </p:spPr>
        <p:txBody>
          <a:bodyPr wrap="square" lIns="0" tIns="0" rIns="0" bIns="0" rtlCol="0" anchor="t"/>
          <a:lstStyle/>
          <a:p>
            <a:pPr indent="0" marL="0">
              <a:buNone/>
            </a:pPr>
            <a:r>
              <a:rPr lang="en-US" sz="1200" b="1" dirty="0">
                <a:solidFill>
                  <a:srgbClr val="8E8E96"/>
                </a:solidFill>
                <a:latin typeface="Inter" pitchFamily="34" charset="0"/>
                <a:ea typeface="Inter" pitchFamily="34" charset="-122"/>
                <a:cs typeface="Inter" pitchFamily="34" charset="-120"/>
              </a:rPr>
              <a:t>depends on</a:t>
            </a:r>
            <a:endParaRPr lang="en-US" sz="1200" dirty="0"/>
          </a:p>
        </p:txBody>
      </p:sp>
      <p:sp>
        <p:nvSpPr>
          <p:cNvPr id="10" name="arrow-294"/>
          <p:cNvSpPr/>
          <p:nvPr/>
        </p:nvSpPr>
        <p:spPr>
          <a:xfrm flipH="1">
            <a:off x="8275320" y="2286000"/>
            <a:ext cx="1325880" cy="548640"/>
          </a:xfrm>
          <a:prstGeom prst="line">
            <a:avLst/>
          </a:prstGeom>
          <a:noFill/>
          <a:ln w="17780">
            <a:solidFill>
              <a:srgbClr val="5B6B7B"/>
            </a:solidFill>
            <a:prstDash val="solid"/>
            <a:tailEnd type="triangle"/>
          </a:ln>
        </p:spPr>
      </p:sp>
      <p:sp>
        <p:nvSpPr>
          <p:cNvPr id="11" name="arrow-295"/>
          <p:cNvSpPr/>
          <p:nvPr/>
        </p:nvSpPr>
        <p:spPr>
          <a:xfrm>
            <a:off x="9601200" y="2286000"/>
            <a:ext cx="91440" cy="548640"/>
          </a:xfrm>
          <a:prstGeom prst="line">
            <a:avLst/>
          </a:prstGeom>
          <a:noFill/>
          <a:ln w="17780">
            <a:solidFill>
              <a:srgbClr val="5B6B7B"/>
            </a:solidFill>
            <a:prstDash val="solid"/>
            <a:tailEnd type="triangle"/>
          </a:ln>
        </p:spPr>
      </p:sp>
      <p:sp>
        <p:nvSpPr>
          <p:cNvPr id="12" name="arrow-296"/>
          <p:cNvSpPr/>
          <p:nvPr/>
        </p:nvSpPr>
        <p:spPr>
          <a:xfrm>
            <a:off x="9601200" y="2286000"/>
            <a:ext cx="1417320" cy="548640"/>
          </a:xfrm>
          <a:prstGeom prst="line">
            <a:avLst/>
          </a:prstGeom>
          <a:noFill/>
          <a:ln w="17780">
            <a:solidFill>
              <a:srgbClr val="5B6B7B"/>
            </a:solidFill>
            <a:prstDash val="solid"/>
            <a:tailEnd type="triangle"/>
          </a:ln>
        </p:spPr>
      </p:sp>
      <p:sp>
        <p:nvSpPr>
          <p:cNvPr id="13" name="arrow-297"/>
          <p:cNvSpPr/>
          <p:nvPr/>
        </p:nvSpPr>
        <p:spPr>
          <a:xfrm flipH="1">
            <a:off x="8183880" y="3337560"/>
            <a:ext cx="91440" cy="594360"/>
          </a:xfrm>
          <a:prstGeom prst="line">
            <a:avLst/>
          </a:prstGeom>
          <a:noFill/>
          <a:ln w="17780">
            <a:solidFill>
              <a:srgbClr val="5B6B7B"/>
            </a:solidFill>
            <a:prstDash val="solid"/>
            <a:tailEnd type="triangle"/>
          </a:ln>
        </p:spPr>
      </p:sp>
      <p:sp>
        <p:nvSpPr>
          <p:cNvPr id="14" name="arrow-298"/>
          <p:cNvSpPr/>
          <p:nvPr/>
        </p:nvSpPr>
        <p:spPr>
          <a:xfrm>
            <a:off x="8275320" y="3337560"/>
            <a:ext cx="1371600" cy="594360"/>
          </a:xfrm>
          <a:prstGeom prst="line">
            <a:avLst/>
          </a:prstGeom>
          <a:noFill/>
          <a:ln w="17780">
            <a:solidFill>
              <a:srgbClr val="5B6B7B"/>
            </a:solidFill>
            <a:prstDash val="solid"/>
            <a:tailEnd type="triangle"/>
          </a:ln>
        </p:spPr>
      </p:sp>
      <p:sp>
        <p:nvSpPr>
          <p:cNvPr id="15" name="arrow-299"/>
          <p:cNvSpPr/>
          <p:nvPr/>
        </p:nvSpPr>
        <p:spPr>
          <a:xfrm flipH="1">
            <a:off x="8915400" y="4434840"/>
            <a:ext cx="731520" cy="548640"/>
          </a:xfrm>
          <a:prstGeom prst="line">
            <a:avLst/>
          </a:prstGeom>
          <a:noFill/>
          <a:ln w="17780">
            <a:solidFill>
              <a:srgbClr val="5B6B7B"/>
            </a:solidFill>
            <a:prstDash val="solid"/>
            <a:tailEnd type="triangle"/>
          </a:ln>
        </p:spPr>
      </p:sp>
      <p:sp>
        <p:nvSpPr>
          <p:cNvPr id="16" name="arrow-300"/>
          <p:cNvSpPr/>
          <p:nvPr/>
        </p:nvSpPr>
        <p:spPr>
          <a:xfrm>
            <a:off x="9646920" y="4434840"/>
            <a:ext cx="731520" cy="548640"/>
          </a:xfrm>
          <a:prstGeom prst="line">
            <a:avLst/>
          </a:prstGeom>
          <a:noFill/>
          <a:ln w="17780">
            <a:solidFill>
              <a:srgbClr val="5B6B7B"/>
            </a:solidFill>
            <a:prstDash val="solid"/>
            <a:tailEnd type="triangle"/>
          </a:ln>
        </p:spPr>
      </p:sp>
      <p:sp>
        <p:nvSpPr>
          <p:cNvPr id="17" name="node-301"/>
          <p:cNvSpPr/>
          <p:nvPr/>
        </p:nvSpPr>
        <p:spPr>
          <a:xfrm>
            <a:off x="9006840" y="1783080"/>
            <a:ext cx="1188720" cy="502920"/>
          </a:xfrm>
          <a:prstGeom prst="roundRect">
            <a:avLst>
              <a:gd name="adj" fmla="val 10909"/>
            </a:avLst>
          </a:prstGeom>
          <a:solidFill>
            <a:srgbClr val="1C1C21"/>
          </a:solidFill>
          <a:ln w="19050">
            <a:solidFill>
              <a:srgbClr val="60A5FA"/>
            </a:solidFill>
            <a:prstDash val="solid"/>
          </a:ln>
        </p:spPr>
      </p:sp>
      <p:sp>
        <p:nvSpPr>
          <p:cNvPr id="18" name="text-302"/>
          <p:cNvSpPr txBox="1"/>
          <p:nvPr/>
        </p:nvSpPr>
        <p:spPr>
          <a:xfrm>
            <a:off x="9006840" y="178308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total</a:t>
            </a:r>
            <a:endParaRPr lang="en-US" sz="1400" dirty="0"/>
          </a:p>
        </p:txBody>
      </p:sp>
      <p:sp>
        <p:nvSpPr>
          <p:cNvPr id="19" name="node-303"/>
          <p:cNvSpPr/>
          <p:nvPr/>
        </p:nvSpPr>
        <p:spPr>
          <a:xfrm>
            <a:off x="7680960" y="2834640"/>
            <a:ext cx="1188720" cy="502920"/>
          </a:xfrm>
          <a:prstGeom prst="roundRect">
            <a:avLst>
              <a:gd name="adj" fmla="val 10909"/>
            </a:avLst>
          </a:prstGeom>
          <a:solidFill>
            <a:srgbClr val="1C1C21"/>
          </a:solidFill>
          <a:ln w="19050">
            <a:solidFill>
              <a:srgbClr val="60A5FA"/>
            </a:solidFill>
            <a:prstDash val="solid"/>
          </a:ln>
        </p:spPr>
      </p:sp>
      <p:sp>
        <p:nvSpPr>
          <p:cNvPr id="20" name="text-304"/>
          <p:cNvSpPr txBox="1"/>
          <p:nvPr/>
        </p:nvSpPr>
        <p:spPr>
          <a:xfrm>
            <a:off x="7680960" y="283464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subtotal</a:t>
            </a:r>
            <a:endParaRPr lang="en-US" sz="1400" dirty="0"/>
          </a:p>
        </p:txBody>
      </p:sp>
      <p:sp>
        <p:nvSpPr>
          <p:cNvPr id="21" name="node-305"/>
          <p:cNvSpPr/>
          <p:nvPr/>
        </p:nvSpPr>
        <p:spPr>
          <a:xfrm>
            <a:off x="9098280" y="2834640"/>
            <a:ext cx="1188720" cy="502920"/>
          </a:xfrm>
          <a:prstGeom prst="roundRect">
            <a:avLst>
              <a:gd name="adj" fmla="val 10909"/>
            </a:avLst>
          </a:prstGeom>
          <a:solidFill>
            <a:srgbClr val="1C1C21"/>
          </a:solidFill>
          <a:ln w="19050">
            <a:solidFill>
              <a:srgbClr val="86EFAC"/>
            </a:solidFill>
            <a:prstDash val="solid"/>
          </a:ln>
        </p:spPr>
      </p:sp>
      <p:sp>
        <p:nvSpPr>
          <p:cNvPr id="22" name="text-306"/>
          <p:cNvSpPr txBox="1"/>
          <p:nvPr/>
        </p:nvSpPr>
        <p:spPr>
          <a:xfrm>
            <a:off x="9098280" y="283464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tax</a:t>
            </a:r>
            <a:endParaRPr lang="en-US" sz="1400" dirty="0"/>
          </a:p>
        </p:txBody>
      </p:sp>
      <p:sp>
        <p:nvSpPr>
          <p:cNvPr id="23" name="node-307"/>
          <p:cNvSpPr/>
          <p:nvPr/>
        </p:nvSpPr>
        <p:spPr>
          <a:xfrm>
            <a:off x="10424160" y="2834640"/>
            <a:ext cx="1188720" cy="502920"/>
          </a:xfrm>
          <a:prstGeom prst="roundRect">
            <a:avLst>
              <a:gd name="adj" fmla="val 10909"/>
            </a:avLst>
          </a:prstGeom>
          <a:solidFill>
            <a:srgbClr val="1C1C21"/>
          </a:solidFill>
          <a:ln w="19050">
            <a:solidFill>
              <a:srgbClr val="86EFAC"/>
            </a:solidFill>
            <a:prstDash val="solid"/>
          </a:ln>
        </p:spPr>
      </p:sp>
      <p:sp>
        <p:nvSpPr>
          <p:cNvPr id="24" name="text-308"/>
          <p:cNvSpPr txBox="1"/>
          <p:nvPr/>
        </p:nvSpPr>
        <p:spPr>
          <a:xfrm>
            <a:off x="10424160" y="283464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fee</a:t>
            </a:r>
            <a:endParaRPr lang="en-US" sz="1400" dirty="0"/>
          </a:p>
        </p:txBody>
      </p:sp>
      <p:sp>
        <p:nvSpPr>
          <p:cNvPr id="25" name="node-309"/>
          <p:cNvSpPr/>
          <p:nvPr/>
        </p:nvSpPr>
        <p:spPr>
          <a:xfrm>
            <a:off x="7589520" y="3931920"/>
            <a:ext cx="1188720" cy="502920"/>
          </a:xfrm>
          <a:prstGeom prst="roundRect">
            <a:avLst>
              <a:gd name="adj" fmla="val 10909"/>
            </a:avLst>
          </a:prstGeom>
          <a:solidFill>
            <a:srgbClr val="1C1C21"/>
          </a:solidFill>
          <a:ln w="19050">
            <a:solidFill>
              <a:srgbClr val="86EFAC"/>
            </a:solidFill>
            <a:prstDash val="solid"/>
          </a:ln>
        </p:spPr>
      </p:sp>
      <p:sp>
        <p:nvSpPr>
          <p:cNvPr id="26" name="text-310"/>
          <p:cNvSpPr txBox="1"/>
          <p:nvPr/>
        </p:nvSpPr>
        <p:spPr>
          <a:xfrm>
            <a:off x="7589520" y="393192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price</a:t>
            </a:r>
            <a:endParaRPr lang="en-US" sz="1400" dirty="0"/>
          </a:p>
        </p:txBody>
      </p:sp>
      <p:sp>
        <p:nvSpPr>
          <p:cNvPr id="27" name="node-311"/>
          <p:cNvSpPr/>
          <p:nvPr/>
        </p:nvSpPr>
        <p:spPr>
          <a:xfrm>
            <a:off x="9052560" y="3931920"/>
            <a:ext cx="1188720" cy="502920"/>
          </a:xfrm>
          <a:prstGeom prst="roundRect">
            <a:avLst>
              <a:gd name="adj" fmla="val 10909"/>
            </a:avLst>
          </a:prstGeom>
          <a:solidFill>
            <a:srgbClr val="1C1C21"/>
          </a:solidFill>
          <a:ln w="19050">
            <a:solidFill>
              <a:srgbClr val="60A5FA"/>
            </a:solidFill>
            <a:prstDash val="solid"/>
          </a:ln>
        </p:spPr>
      </p:sp>
      <p:sp>
        <p:nvSpPr>
          <p:cNvPr id="28" name="text-312"/>
          <p:cNvSpPr txBox="1"/>
          <p:nvPr/>
        </p:nvSpPr>
        <p:spPr>
          <a:xfrm>
            <a:off x="9052560" y="393192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savings</a:t>
            </a:r>
            <a:endParaRPr lang="en-US" sz="1400" dirty="0"/>
          </a:p>
        </p:txBody>
      </p:sp>
      <p:sp>
        <p:nvSpPr>
          <p:cNvPr id="29" name="node-313"/>
          <p:cNvSpPr/>
          <p:nvPr/>
        </p:nvSpPr>
        <p:spPr>
          <a:xfrm>
            <a:off x="8321040" y="4983480"/>
            <a:ext cx="1188720" cy="502920"/>
          </a:xfrm>
          <a:prstGeom prst="roundRect">
            <a:avLst>
              <a:gd name="adj" fmla="val 10909"/>
            </a:avLst>
          </a:prstGeom>
          <a:solidFill>
            <a:srgbClr val="1C1C21"/>
          </a:solidFill>
          <a:ln w="19050">
            <a:solidFill>
              <a:srgbClr val="86EFAC"/>
            </a:solidFill>
            <a:prstDash val="solid"/>
          </a:ln>
        </p:spPr>
      </p:sp>
      <p:sp>
        <p:nvSpPr>
          <p:cNvPr id="30" name="text-314"/>
          <p:cNvSpPr txBox="1"/>
          <p:nvPr/>
        </p:nvSpPr>
        <p:spPr>
          <a:xfrm>
            <a:off x="8321040" y="498348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price</a:t>
            </a:r>
            <a:endParaRPr lang="en-US" sz="1400" dirty="0"/>
          </a:p>
        </p:txBody>
      </p:sp>
      <p:sp>
        <p:nvSpPr>
          <p:cNvPr id="31" name="node-315"/>
          <p:cNvSpPr/>
          <p:nvPr/>
        </p:nvSpPr>
        <p:spPr>
          <a:xfrm>
            <a:off x="9784080" y="4983480"/>
            <a:ext cx="1188720" cy="502920"/>
          </a:xfrm>
          <a:prstGeom prst="roundRect">
            <a:avLst>
              <a:gd name="adj" fmla="val 10909"/>
            </a:avLst>
          </a:prstGeom>
          <a:solidFill>
            <a:srgbClr val="1C1C21"/>
          </a:solidFill>
          <a:ln w="19050">
            <a:solidFill>
              <a:srgbClr val="86EFAC"/>
            </a:solidFill>
            <a:prstDash val="solid"/>
          </a:ln>
        </p:spPr>
      </p:sp>
      <p:sp>
        <p:nvSpPr>
          <p:cNvPr id="32" name="text-316"/>
          <p:cNvSpPr txBox="1"/>
          <p:nvPr/>
        </p:nvSpPr>
        <p:spPr>
          <a:xfrm>
            <a:off x="9784080" y="4983480"/>
            <a:ext cx="1188720" cy="50292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discount</a:t>
            </a:r>
            <a:endParaRPr lang="en-US" sz="1400" dirty="0"/>
          </a:p>
        </p:txBody>
      </p:sp>
      <p:sp>
        <p:nvSpPr>
          <p:cNvPr id="33" name="text-317"/>
          <p:cNvSpPr txBox="1"/>
          <p:nvPr/>
        </p:nvSpPr>
        <p:spPr>
          <a:xfrm>
            <a:off x="7589520" y="5486400"/>
            <a:ext cx="3931920" cy="411480"/>
          </a:xfrm>
          <a:prstGeom prst="rect">
            <a:avLst/>
          </a:prstGeom>
          <a:noFill/>
          <a:ln/>
        </p:spPr>
        <p:txBody>
          <a:bodyPr wrap="square" lIns="0" tIns="0" rIns="0" bIns="0" rtlCol="0" anchor="t"/>
          <a:lstStyle/>
          <a:p>
            <a:pPr indent="0" marL="0">
              <a:buNone/>
            </a:pPr>
            <a:r>
              <a:rPr lang="en-US" sz="1200" dirty="0">
                <a:solidFill>
                  <a:srgbClr val="8E8E96"/>
                </a:solidFill>
                <a:latin typeface="Inter" pitchFamily="34" charset="0"/>
                <a:ea typeface="Inter" pitchFamily="34" charset="-122"/>
                <a:cs typeface="Inter" pitchFamily="34" charset="-120"/>
              </a:rPr>
              <a:t>Each arrow: “uses”. price is reached twice; the runtime prints it once and marks it “see above”.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impact: what else changes?</a:t>
            </a:r>
            <a:endParaRPr lang="en-US" sz="2800" dirty="0"/>
          </a:p>
        </p:txBody>
      </p:sp>
      <p:sp>
        <p:nvSpPr>
          <p:cNvPr id="3" name="text-318"/>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Demonstration</a:t>
            </a:r>
            <a:endParaRPr lang="en-US" sz="1000" dirty="0"/>
          </a:p>
        </p:txBody>
      </p:sp>
      <p:sp>
        <p:nvSpPr>
          <p:cNvPr id="5" name="panel-319"/>
          <p:cNvSpPr/>
          <p:nvPr/>
        </p:nvSpPr>
        <p:spPr>
          <a:xfrm>
            <a:off x="548640" y="1371600"/>
            <a:ext cx="5760720" cy="2103120"/>
          </a:xfrm>
          <a:prstGeom prst="roundRect">
            <a:avLst>
              <a:gd name="adj" fmla="val 3478"/>
            </a:avLst>
          </a:prstGeom>
          <a:solidFill>
            <a:srgbClr val="121214"/>
          </a:solidFill>
          <a:ln w="12700">
            <a:solidFill>
              <a:srgbClr val="121214"/>
            </a:solidFill>
            <a:prstDash val="solid"/>
          </a:ln>
        </p:spPr>
      </p:sp>
      <p:sp>
        <p:nvSpPr>
          <p:cNvPr id="6" name="text-320"/>
          <p:cNvSpPr txBox="1"/>
          <p:nvPr/>
        </p:nvSpPr>
        <p:spPr>
          <a:xfrm>
            <a:off x="777240" y="1508760"/>
            <a:ext cx="5303520"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output of  impact discount</a:t>
            </a:r>
            <a:endParaRPr lang="en-US" sz="1100" dirty="0"/>
          </a:p>
        </p:txBody>
      </p:sp>
      <p:sp>
        <p:nvSpPr>
          <p:cNvPr id="7" name="text-321"/>
          <p:cNvSpPr txBox="1"/>
          <p:nvPr/>
        </p:nvSpPr>
        <p:spPr>
          <a:xfrm>
            <a:off x="777240" y="1828800"/>
            <a:ext cx="5303520" cy="1508760"/>
          </a:xfrm>
          <a:prstGeom prst="rect">
            <a:avLst/>
          </a:prstGeom>
          <a:noFill/>
          <a:ln/>
        </p:spPr>
        <p:txBody>
          <a:bodyPr wrap="square" lIns="0" tIns="0" rIns="0" bIns="0" rtlCol="0" anchor="t"/>
          <a:lstStyle/>
          <a:p>
            <a:pPr indent="0" marL="0">
              <a:spcAft>
                <a:spcPts val="200"/>
              </a:spcAft>
              <a:buNone/>
            </a:pPr>
            <a:r>
              <a:rPr lang="en-US" sz="1500" dirty="0">
                <a:solidFill>
                  <a:srgbClr val="A78BFA"/>
                </a:solidFill>
                <a:latin typeface="Consolas" pitchFamily="34" charset="0"/>
                <a:ea typeface="Consolas" pitchFamily="34" charset="-122"/>
                <a:cs typeface="Consolas" pitchFamily="34" charset="-120"/>
              </a:rPr>
              <a:t>impact discount</a:t>
            </a:r>
            <a:endParaRPr lang="en-US" sz="1600" dirty="0"/>
          </a:p>
          <a:p>
            <a:pPr indent="0" marL="0">
              <a:spcAft>
                <a:spcPts val="200"/>
              </a:spcAft>
              <a:buNone/>
            </a:pPr>
            <a:r>
              <a:rPr lang="en-US" sz="1500" dirty="0">
                <a:solidFill>
                  <a:srgbClr val="FB923C"/>
                </a:solidFill>
                <a:latin typeface="Consolas" pitchFamily="34" charset="0"/>
                <a:ea typeface="Consolas" pitchFamily="34" charset="-122"/>
                <a:cs typeface="Consolas" pitchFamily="34" charset="-120"/>
              </a:rPr>
              <a:t>  direct dependents: savings</a:t>
            </a:r>
            <a:endParaRPr lang="en-US" sz="1600" dirty="0"/>
          </a:p>
          <a:p>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all dependents: savings, subtotal, total,</a:t>
            </a:r>
            <a:endParaRPr lang="en-US" sz="1600" dirty="0"/>
          </a:p>
          <a:p>
            <a:pPr indent="0" marL="0">
              <a:spcAft>
                <a:spcPts val="200"/>
              </a:spcAft>
              <a:buNone/>
            </a:pPr>
            <a:r>
              <a:rPr lang="en-US" sz="1500" dirty="0">
                <a:solidFill>
                  <a:srgbClr val="ECECEE"/>
                </a:solidFill>
                <a:latin typeface="Consolas" pitchFamily="34" charset="0"/>
                <a:ea typeface="Consolas" pitchFamily="34" charset="-122"/>
                <a:cs typeface="Consolas" pitchFamily="34" charset="-120"/>
              </a:rPr>
              <a:t>      expensive, per_unit, bulk</a:t>
            </a:r>
            <a:endParaRPr lang="en-US" sz="1600" dirty="0"/>
          </a:p>
        </p:txBody>
      </p:sp>
      <p:sp>
        <p:nvSpPr>
          <p:cNvPr id="8" name="card-322"/>
          <p:cNvSpPr/>
          <p:nvPr/>
        </p:nvSpPr>
        <p:spPr>
          <a:xfrm>
            <a:off x="6583680" y="1371600"/>
            <a:ext cx="5056632" cy="2103120"/>
          </a:xfrm>
          <a:prstGeom prst="roundRect">
            <a:avLst>
              <a:gd name="adj" fmla="val 3478"/>
            </a:avLst>
          </a:prstGeom>
          <a:solidFill>
            <a:srgbClr val="121214"/>
          </a:solidFill>
          <a:ln w="12700">
            <a:solidFill>
              <a:srgbClr val="2B2B31"/>
            </a:solidFill>
            <a:prstDash val="solid"/>
          </a:ln>
        </p:spPr>
      </p:sp>
      <p:sp>
        <p:nvSpPr>
          <p:cNvPr id="9" name="text-323"/>
          <p:cNvSpPr txBox="1"/>
          <p:nvPr/>
        </p:nvSpPr>
        <p:spPr>
          <a:xfrm>
            <a:off x="6812280" y="1481328"/>
            <a:ext cx="4572000" cy="320040"/>
          </a:xfrm>
          <a:prstGeom prst="rect">
            <a:avLst/>
          </a:prstGeom>
          <a:noFill/>
          <a:ln/>
        </p:spPr>
        <p:txBody>
          <a:bodyPr wrap="square" lIns="0" tIns="0" rIns="0" bIns="0" rtlCol="0" anchor="t"/>
          <a:lstStyle/>
          <a:p>
            <a:pPr indent="0" marL="0">
              <a:buNone/>
            </a:pPr>
            <a:r>
              <a:rPr lang="en-US" sz="1800" b="1" dirty="0">
                <a:solidFill>
                  <a:srgbClr val="ECECEE"/>
                </a:solidFill>
                <a:latin typeface="Inter" pitchFamily="34" charset="0"/>
                <a:ea typeface="Inter" pitchFamily="34" charset="-122"/>
                <a:cs typeface="Inter" pitchFamily="34" charset="-120"/>
              </a:rPr>
              <a:t>Two answers</a:t>
            </a:r>
            <a:endParaRPr lang="en-US" sz="1800" dirty="0"/>
          </a:p>
        </p:txBody>
      </p:sp>
      <p:sp>
        <p:nvSpPr>
          <p:cNvPr id="10" name="text-324"/>
          <p:cNvSpPr txBox="1"/>
          <p:nvPr/>
        </p:nvSpPr>
        <p:spPr>
          <a:xfrm>
            <a:off x="6812280" y="1920240"/>
            <a:ext cx="4617720" cy="1463040"/>
          </a:xfrm>
          <a:prstGeom prst="rect">
            <a:avLst/>
          </a:prstGeom>
          <a:noFill/>
          <a:ln/>
        </p:spPr>
        <p:txBody>
          <a:bodyPr wrap="square" lIns="0" tIns="0" rIns="0" bIns="0" rtlCol="0" anchor="t"/>
          <a:lstStyle/>
          <a:p>
            <a:pPr indent="0" marL="0">
              <a:spcAft>
                <a:spcPts val="800"/>
              </a:spcAft>
              <a:buNone/>
            </a:pPr>
            <a:r>
              <a:rPr lang="en-US" sz="1600" b="1" dirty="0">
                <a:solidFill>
                  <a:srgbClr val="FB923C"/>
                </a:solidFill>
                <a:latin typeface="Inter" pitchFamily="34" charset="0"/>
                <a:ea typeface="Inter" pitchFamily="34" charset="-122"/>
                <a:cs typeface="Inter" pitchFamily="34" charset="-120"/>
              </a:rPr>
              <a:t>direct: </a:t>
            </a:r>
            <a:pPr indent="0" marL="0">
              <a:spcAft>
                <a:spcPts val="800"/>
              </a:spcAft>
              <a:buNone/>
            </a:pPr>
            <a:r>
              <a:rPr lang="en-US" sz="1600" dirty="0">
                <a:solidFill>
                  <a:srgbClr val="ECECEE"/>
                </a:solidFill>
                <a:latin typeface="Inter" pitchFamily="34" charset="0"/>
                <a:ea typeface="Inter" pitchFamily="34" charset="-122"/>
                <a:cs typeface="Inter" pitchFamily="34" charset="-120"/>
              </a:rPr>
              <a:t>bindings whose expression mentions discount</a:t>
            </a:r>
            <a:endParaRPr lang="en-US" sz="1600" dirty="0"/>
          </a:p>
          <a:p>
            <a:pPr indent="0" marL="0">
              <a:spcAft>
                <a:spcPts val="800"/>
              </a:spcAft>
              <a:buNone/>
            </a:pPr>
            <a:r>
              <a:rPr lang="en-US" sz="1600" b="1" dirty="0">
                <a:solidFill>
                  <a:srgbClr val="FB923C"/>
                </a:solidFill>
                <a:latin typeface="Inter" pitchFamily="34" charset="0"/>
                <a:ea typeface="Inter" pitchFamily="34" charset="-122"/>
                <a:cs typeface="Inter" pitchFamily="34" charset="-120"/>
              </a:rPr>
              <a:t>all: </a:t>
            </a:r>
            <a:pPr indent="0" marL="0">
              <a:spcAft>
                <a:spcPts val="800"/>
              </a:spcAft>
              <a:buNone/>
            </a:pPr>
            <a:r>
              <a:rPr lang="en-US" sz="1600" dirty="0">
                <a:solidFill>
                  <a:srgbClr val="ECECEE"/>
                </a:solidFill>
                <a:latin typeface="Inter" pitchFamily="34" charset="0"/>
                <a:ea typeface="Inter" pitchFamily="34" charset="-122"/>
                <a:cs typeface="Inter" pitchFamily="34" charset="-120"/>
              </a:rPr>
              <a:t>those plus everything downstream of them</a:t>
            </a:r>
            <a:endParaRPr lang="en-US" sz="1600" dirty="0"/>
          </a:p>
        </p:txBody>
      </p:sp>
      <p:sp>
        <p:nvSpPr>
          <p:cNvPr id="11" name="panel-325"/>
          <p:cNvSpPr/>
          <p:nvPr/>
        </p:nvSpPr>
        <p:spPr>
          <a:xfrm>
            <a:off x="411480" y="3611880"/>
            <a:ext cx="11365992" cy="1965960"/>
          </a:xfrm>
          <a:prstGeom prst="roundRect">
            <a:avLst>
              <a:gd name="adj" fmla="val 3721"/>
            </a:avLst>
          </a:prstGeom>
          <a:solidFill>
            <a:srgbClr val="121214"/>
          </a:solidFill>
          <a:ln w="12700">
            <a:solidFill>
              <a:srgbClr val="121214"/>
            </a:solidFill>
            <a:prstDash val="solid"/>
          </a:ln>
        </p:spPr>
      </p:sp>
      <p:sp>
        <p:nvSpPr>
          <p:cNvPr id="12" name="arrow-326"/>
          <p:cNvSpPr/>
          <p:nvPr/>
        </p:nvSpPr>
        <p:spPr>
          <a:xfrm>
            <a:off x="1920240" y="4672584"/>
            <a:ext cx="594360" cy="0"/>
          </a:xfrm>
          <a:prstGeom prst="line">
            <a:avLst/>
          </a:prstGeom>
          <a:noFill/>
          <a:ln w="19050">
            <a:solidFill>
              <a:srgbClr val="FB923C"/>
            </a:solidFill>
            <a:prstDash val="solid"/>
            <a:tailEnd type="triangle"/>
          </a:ln>
        </p:spPr>
      </p:sp>
      <p:sp>
        <p:nvSpPr>
          <p:cNvPr id="13" name="arrow-327"/>
          <p:cNvSpPr/>
          <p:nvPr/>
        </p:nvSpPr>
        <p:spPr>
          <a:xfrm>
            <a:off x="3886200" y="4672584"/>
            <a:ext cx="594360" cy="0"/>
          </a:xfrm>
          <a:prstGeom prst="line">
            <a:avLst/>
          </a:prstGeom>
          <a:noFill/>
          <a:ln w="19050">
            <a:solidFill>
              <a:srgbClr val="FB923C"/>
            </a:solidFill>
            <a:prstDash val="solid"/>
            <a:tailEnd type="triangle"/>
          </a:ln>
        </p:spPr>
      </p:sp>
      <p:sp>
        <p:nvSpPr>
          <p:cNvPr id="14" name="arrow-328"/>
          <p:cNvSpPr/>
          <p:nvPr/>
        </p:nvSpPr>
        <p:spPr>
          <a:xfrm>
            <a:off x="5852160" y="4672584"/>
            <a:ext cx="594360" cy="0"/>
          </a:xfrm>
          <a:prstGeom prst="line">
            <a:avLst/>
          </a:prstGeom>
          <a:noFill/>
          <a:ln w="19050">
            <a:solidFill>
              <a:srgbClr val="FB923C"/>
            </a:solidFill>
            <a:prstDash val="solid"/>
            <a:tailEnd type="triangle"/>
          </a:ln>
        </p:spPr>
      </p:sp>
      <p:sp>
        <p:nvSpPr>
          <p:cNvPr id="15" name="arrow-329"/>
          <p:cNvSpPr/>
          <p:nvPr/>
        </p:nvSpPr>
        <p:spPr>
          <a:xfrm flipV="1">
            <a:off x="7818120" y="4215384"/>
            <a:ext cx="594360" cy="457200"/>
          </a:xfrm>
          <a:prstGeom prst="line">
            <a:avLst/>
          </a:prstGeom>
          <a:noFill/>
          <a:ln w="19050">
            <a:solidFill>
              <a:srgbClr val="FB923C"/>
            </a:solidFill>
            <a:prstDash val="solid"/>
            <a:tailEnd type="triangle"/>
          </a:ln>
        </p:spPr>
      </p:sp>
      <p:sp>
        <p:nvSpPr>
          <p:cNvPr id="16" name="arrow-330"/>
          <p:cNvSpPr/>
          <p:nvPr/>
        </p:nvSpPr>
        <p:spPr>
          <a:xfrm>
            <a:off x="7818120" y="4672584"/>
            <a:ext cx="594360" cy="457200"/>
          </a:xfrm>
          <a:prstGeom prst="line">
            <a:avLst/>
          </a:prstGeom>
          <a:noFill/>
          <a:ln w="19050">
            <a:solidFill>
              <a:srgbClr val="FB923C"/>
            </a:solidFill>
            <a:prstDash val="solid"/>
            <a:tailEnd type="triangle"/>
          </a:ln>
        </p:spPr>
      </p:sp>
      <p:sp>
        <p:nvSpPr>
          <p:cNvPr id="17" name="arrow-331"/>
          <p:cNvSpPr/>
          <p:nvPr/>
        </p:nvSpPr>
        <p:spPr>
          <a:xfrm>
            <a:off x="9784080" y="5129784"/>
            <a:ext cx="484632" cy="0"/>
          </a:xfrm>
          <a:prstGeom prst="line">
            <a:avLst/>
          </a:prstGeom>
          <a:noFill/>
          <a:ln w="19050">
            <a:solidFill>
              <a:srgbClr val="FB923C"/>
            </a:solidFill>
            <a:prstDash val="solid"/>
            <a:tailEnd type="triangle"/>
          </a:ln>
        </p:spPr>
      </p:sp>
      <p:sp>
        <p:nvSpPr>
          <p:cNvPr id="18" name="node-332"/>
          <p:cNvSpPr/>
          <p:nvPr/>
        </p:nvSpPr>
        <p:spPr>
          <a:xfrm>
            <a:off x="548640" y="4389120"/>
            <a:ext cx="1371600" cy="566928"/>
          </a:xfrm>
          <a:prstGeom prst="roundRect">
            <a:avLst>
              <a:gd name="adj" fmla="val 9677"/>
            </a:avLst>
          </a:prstGeom>
          <a:solidFill>
            <a:srgbClr val="1C1C21"/>
          </a:solidFill>
          <a:ln w="19050">
            <a:solidFill>
              <a:srgbClr val="86EFAC"/>
            </a:solidFill>
            <a:prstDash val="solid"/>
          </a:ln>
        </p:spPr>
      </p:sp>
      <p:sp>
        <p:nvSpPr>
          <p:cNvPr id="19" name="text-333"/>
          <p:cNvSpPr txBox="1"/>
          <p:nvPr/>
        </p:nvSpPr>
        <p:spPr>
          <a:xfrm>
            <a:off x="548640" y="43891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discount</a:t>
            </a:r>
            <a:endParaRPr lang="en-US" sz="1400" dirty="0"/>
          </a:p>
        </p:txBody>
      </p:sp>
      <p:sp>
        <p:nvSpPr>
          <p:cNvPr id="20" name="node-334"/>
          <p:cNvSpPr/>
          <p:nvPr/>
        </p:nvSpPr>
        <p:spPr>
          <a:xfrm>
            <a:off x="2514600" y="4389120"/>
            <a:ext cx="1371600" cy="566928"/>
          </a:xfrm>
          <a:prstGeom prst="roundRect">
            <a:avLst>
              <a:gd name="adj" fmla="val 9677"/>
            </a:avLst>
          </a:prstGeom>
          <a:solidFill>
            <a:srgbClr val="5A3414"/>
          </a:solidFill>
          <a:ln w="19050">
            <a:solidFill>
              <a:srgbClr val="FB923C"/>
            </a:solidFill>
            <a:prstDash val="solid"/>
          </a:ln>
        </p:spPr>
      </p:sp>
      <p:sp>
        <p:nvSpPr>
          <p:cNvPr id="21" name="text-335"/>
          <p:cNvSpPr txBox="1"/>
          <p:nvPr/>
        </p:nvSpPr>
        <p:spPr>
          <a:xfrm>
            <a:off x="2514600" y="43891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savings</a:t>
            </a:r>
            <a:endParaRPr lang="en-US" sz="1400" dirty="0"/>
          </a:p>
        </p:txBody>
      </p:sp>
      <p:sp>
        <p:nvSpPr>
          <p:cNvPr id="22" name="node-336"/>
          <p:cNvSpPr/>
          <p:nvPr/>
        </p:nvSpPr>
        <p:spPr>
          <a:xfrm>
            <a:off x="4480560" y="4389120"/>
            <a:ext cx="1371600" cy="566928"/>
          </a:xfrm>
          <a:prstGeom prst="roundRect">
            <a:avLst>
              <a:gd name="adj" fmla="val 9677"/>
            </a:avLst>
          </a:prstGeom>
          <a:solidFill>
            <a:srgbClr val="1C1C21"/>
          </a:solidFill>
          <a:ln w="19050">
            <a:solidFill>
              <a:srgbClr val="FB923C"/>
            </a:solidFill>
            <a:prstDash val="solid"/>
          </a:ln>
        </p:spPr>
      </p:sp>
      <p:sp>
        <p:nvSpPr>
          <p:cNvPr id="23" name="text-337"/>
          <p:cNvSpPr txBox="1"/>
          <p:nvPr/>
        </p:nvSpPr>
        <p:spPr>
          <a:xfrm>
            <a:off x="4480560" y="43891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subtotal</a:t>
            </a:r>
            <a:endParaRPr lang="en-US" sz="1400" dirty="0"/>
          </a:p>
        </p:txBody>
      </p:sp>
      <p:sp>
        <p:nvSpPr>
          <p:cNvPr id="24" name="node-338"/>
          <p:cNvSpPr/>
          <p:nvPr/>
        </p:nvSpPr>
        <p:spPr>
          <a:xfrm>
            <a:off x="6446520" y="4389120"/>
            <a:ext cx="1371600" cy="566928"/>
          </a:xfrm>
          <a:prstGeom prst="roundRect">
            <a:avLst>
              <a:gd name="adj" fmla="val 9677"/>
            </a:avLst>
          </a:prstGeom>
          <a:solidFill>
            <a:srgbClr val="1C1C21"/>
          </a:solidFill>
          <a:ln w="19050">
            <a:solidFill>
              <a:srgbClr val="FB923C"/>
            </a:solidFill>
            <a:prstDash val="solid"/>
          </a:ln>
        </p:spPr>
      </p:sp>
      <p:sp>
        <p:nvSpPr>
          <p:cNvPr id="25" name="text-339"/>
          <p:cNvSpPr txBox="1"/>
          <p:nvPr/>
        </p:nvSpPr>
        <p:spPr>
          <a:xfrm>
            <a:off x="6446520" y="43891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total</a:t>
            </a:r>
            <a:endParaRPr lang="en-US" sz="1400" dirty="0"/>
          </a:p>
        </p:txBody>
      </p:sp>
      <p:sp>
        <p:nvSpPr>
          <p:cNvPr id="26" name="node-340"/>
          <p:cNvSpPr/>
          <p:nvPr/>
        </p:nvSpPr>
        <p:spPr>
          <a:xfrm>
            <a:off x="8412480" y="3931920"/>
            <a:ext cx="1371600" cy="566928"/>
          </a:xfrm>
          <a:prstGeom prst="roundRect">
            <a:avLst>
              <a:gd name="adj" fmla="val 9677"/>
            </a:avLst>
          </a:prstGeom>
          <a:solidFill>
            <a:srgbClr val="1C1C21"/>
          </a:solidFill>
          <a:ln w="19050">
            <a:solidFill>
              <a:srgbClr val="FB923C"/>
            </a:solidFill>
            <a:prstDash val="solid"/>
          </a:ln>
        </p:spPr>
      </p:sp>
      <p:sp>
        <p:nvSpPr>
          <p:cNvPr id="27" name="text-341"/>
          <p:cNvSpPr txBox="1"/>
          <p:nvPr/>
        </p:nvSpPr>
        <p:spPr>
          <a:xfrm>
            <a:off x="8412480" y="39319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expensive</a:t>
            </a:r>
            <a:endParaRPr lang="en-US" sz="1400" dirty="0"/>
          </a:p>
        </p:txBody>
      </p:sp>
      <p:sp>
        <p:nvSpPr>
          <p:cNvPr id="28" name="node-342"/>
          <p:cNvSpPr/>
          <p:nvPr/>
        </p:nvSpPr>
        <p:spPr>
          <a:xfrm>
            <a:off x="8412480" y="4846320"/>
            <a:ext cx="1371600" cy="566928"/>
          </a:xfrm>
          <a:prstGeom prst="roundRect">
            <a:avLst>
              <a:gd name="adj" fmla="val 9677"/>
            </a:avLst>
          </a:prstGeom>
          <a:solidFill>
            <a:srgbClr val="1C1C21"/>
          </a:solidFill>
          <a:ln w="19050">
            <a:solidFill>
              <a:srgbClr val="FB923C"/>
            </a:solidFill>
            <a:prstDash val="solid"/>
          </a:ln>
        </p:spPr>
      </p:sp>
      <p:sp>
        <p:nvSpPr>
          <p:cNvPr id="29" name="text-343"/>
          <p:cNvSpPr txBox="1"/>
          <p:nvPr/>
        </p:nvSpPr>
        <p:spPr>
          <a:xfrm>
            <a:off x="8412480" y="48463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per_unit</a:t>
            </a:r>
            <a:endParaRPr lang="en-US" sz="1400" dirty="0"/>
          </a:p>
        </p:txBody>
      </p:sp>
      <p:sp>
        <p:nvSpPr>
          <p:cNvPr id="30" name="node-344"/>
          <p:cNvSpPr/>
          <p:nvPr/>
        </p:nvSpPr>
        <p:spPr>
          <a:xfrm>
            <a:off x="10268712" y="4846320"/>
            <a:ext cx="1371600" cy="566928"/>
          </a:xfrm>
          <a:prstGeom prst="roundRect">
            <a:avLst>
              <a:gd name="adj" fmla="val 9677"/>
            </a:avLst>
          </a:prstGeom>
          <a:solidFill>
            <a:srgbClr val="1C1C21"/>
          </a:solidFill>
          <a:ln w="19050">
            <a:solidFill>
              <a:srgbClr val="FB923C"/>
            </a:solidFill>
            <a:prstDash val="solid"/>
          </a:ln>
        </p:spPr>
      </p:sp>
      <p:sp>
        <p:nvSpPr>
          <p:cNvPr id="31" name="text-345"/>
          <p:cNvSpPr txBox="1"/>
          <p:nvPr/>
        </p:nvSpPr>
        <p:spPr>
          <a:xfrm>
            <a:off x="10268712" y="4846320"/>
            <a:ext cx="1371600" cy="566928"/>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bulk</a:t>
            </a:r>
            <a:endParaRPr lang="en-US" sz="1400" dirty="0"/>
          </a:p>
        </p:txBody>
      </p:sp>
      <p:sp>
        <p:nvSpPr>
          <p:cNvPr id="32" name="chip-346"/>
          <p:cNvSpPr/>
          <p:nvPr/>
        </p:nvSpPr>
        <p:spPr>
          <a:xfrm>
            <a:off x="2423160" y="3931920"/>
            <a:ext cx="1554480" cy="292608"/>
          </a:xfrm>
          <a:prstGeom prst="roundRect">
            <a:avLst>
              <a:gd name="adj" fmla="val 50000"/>
            </a:avLst>
          </a:prstGeom>
          <a:solidFill>
            <a:srgbClr val="121214"/>
          </a:solidFill>
          <a:ln w="12700">
            <a:solidFill>
              <a:srgbClr val="FB923C"/>
            </a:solidFill>
            <a:prstDash val="solid"/>
          </a:ln>
        </p:spPr>
      </p:sp>
      <p:sp>
        <p:nvSpPr>
          <p:cNvPr id="33" name="text-347"/>
          <p:cNvSpPr txBox="1"/>
          <p:nvPr/>
        </p:nvSpPr>
        <p:spPr>
          <a:xfrm>
            <a:off x="2423160" y="3931920"/>
            <a:ext cx="1554480" cy="292608"/>
          </a:xfrm>
          <a:prstGeom prst="rect">
            <a:avLst/>
          </a:prstGeom>
          <a:noFill/>
          <a:ln/>
        </p:spPr>
        <p:txBody>
          <a:bodyPr wrap="square" lIns="0" tIns="0" rIns="0" bIns="0" rtlCol="0" anchor="ctr"/>
          <a:lstStyle/>
          <a:p>
            <a:pPr algn="ctr" indent="0" marL="0">
              <a:buNone/>
            </a:pPr>
            <a:r>
              <a:rPr lang="en-US" sz="1200" b="1" dirty="0">
                <a:solidFill>
                  <a:srgbClr val="FB923C"/>
                </a:solidFill>
                <a:latin typeface="Inter" pitchFamily="34" charset="0"/>
                <a:ea typeface="Inter" pitchFamily="34" charset="-122"/>
                <a:cs typeface="Inter" pitchFamily="34" charset="-120"/>
              </a:rPr>
              <a:t>direct dependent</a:t>
            </a:r>
            <a:endParaRPr lang="en-US" sz="1200" dirty="0"/>
          </a:p>
        </p:txBody>
      </p:sp>
      <p:sp>
        <p:nvSpPr>
          <p:cNvPr id="34" name="text-348"/>
          <p:cNvSpPr txBox="1"/>
          <p:nvPr/>
        </p:nvSpPr>
        <p:spPr>
          <a:xfrm>
            <a:off x="640080" y="3675888"/>
            <a:ext cx="7315200" cy="274320"/>
          </a:xfrm>
          <a:prstGeom prst="rect">
            <a:avLst/>
          </a:prstGeom>
          <a:noFill/>
          <a:ln/>
        </p:spPr>
        <p:txBody>
          <a:bodyPr wrap="square" lIns="0" tIns="0" rIns="0" bIns="0" rtlCol="0" anchor="t"/>
          <a:lstStyle/>
          <a:p>
            <a:pPr indent="0" marL="0">
              <a:buNone/>
            </a:pPr>
            <a:r>
              <a:rPr lang="en-US" sz="1400" dirty="0">
                <a:solidFill>
                  <a:srgbClr val="8E8E96"/>
                </a:solidFill>
                <a:latin typeface="Inter" pitchFamily="34" charset="0"/>
                <a:ea typeface="Inter" pitchFamily="34" charset="-122"/>
                <a:cs typeface="Inter" pitchFamily="34" charset="-120"/>
              </a:rPr>
              <a:t>all affected: savings, subtotal, total, expensive, per_unit, bulk</a:t>
            </a:r>
            <a:endParaRPr lang="en-US" sz="1400" dirty="0"/>
          </a:p>
        </p:txBody>
      </p:sp>
      <p:sp>
        <p:nvSpPr>
          <p:cNvPr id="35" name="text-349"/>
          <p:cNvSpPr txBox="1"/>
          <p:nvPr/>
        </p:nvSpPr>
        <p:spPr>
          <a:xfrm>
            <a:off x="548640" y="5760720"/>
            <a:ext cx="11091672" cy="457200"/>
          </a:xfrm>
          <a:prstGeom prst="rect">
            <a:avLst/>
          </a:prstGeom>
          <a:noFill/>
          <a:ln/>
        </p:spPr>
        <p:txBody>
          <a:bodyPr wrap="square" lIns="0" tIns="0" rIns="0" bIns="0" rtlCol="0" anchor="t"/>
          <a:lstStyle/>
          <a:p>
            <a:pPr indent="0" marL="0">
              <a:buNone/>
            </a:pPr>
            <a:r>
              <a:rPr lang="en-US" sz="1600" b="1" dirty="0">
                <a:solidFill>
                  <a:srgbClr val="ECECEE"/>
                </a:solidFill>
                <a:latin typeface="Inter" pitchFamily="34" charset="0"/>
                <a:ea typeface="Inter" pitchFamily="34" charset="-122"/>
                <a:cs typeface="Inter" pitchFamily="34" charset="-120"/>
              </a:rPr>
              <a:t>Static: read from compile-time dependency tables. No values are recomputed.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whatif: counterfactual execution</a:t>
            </a:r>
            <a:endParaRPr lang="en-US" sz="2800" dirty="0"/>
          </a:p>
        </p:txBody>
      </p:sp>
      <p:sp>
        <p:nvSpPr>
          <p:cNvPr id="3" name="text-35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Demonstration</a:t>
            </a:r>
            <a:endParaRPr lang="en-US" sz="1000" dirty="0"/>
          </a:p>
        </p:txBody>
      </p:sp>
      <p:sp>
        <p:nvSpPr>
          <p:cNvPr id="5" name="panel-351"/>
          <p:cNvSpPr/>
          <p:nvPr/>
        </p:nvSpPr>
        <p:spPr>
          <a:xfrm>
            <a:off x="548640" y="1371600"/>
            <a:ext cx="6766560" cy="3749040"/>
          </a:xfrm>
          <a:prstGeom prst="roundRect">
            <a:avLst>
              <a:gd name="adj" fmla="val 1951"/>
            </a:avLst>
          </a:prstGeom>
          <a:solidFill>
            <a:srgbClr val="121214"/>
          </a:solidFill>
          <a:ln w="12700">
            <a:solidFill>
              <a:srgbClr val="121214"/>
            </a:solidFill>
            <a:prstDash val="solid"/>
          </a:ln>
        </p:spPr>
      </p:sp>
      <p:sp>
        <p:nvSpPr>
          <p:cNvPr id="6" name="text-352"/>
          <p:cNvSpPr txBox="1"/>
          <p:nvPr/>
        </p:nvSpPr>
        <p:spPr>
          <a:xfrm>
            <a:off x="822960" y="1508760"/>
            <a:ext cx="1828800" cy="274320"/>
          </a:xfrm>
          <a:prstGeom prst="rect">
            <a:avLst/>
          </a:prstGeom>
          <a:noFill/>
          <a:ln/>
        </p:spPr>
        <p:txBody>
          <a:bodyPr wrap="square" lIns="0" tIns="0" rIns="0" bIns="0" rtlCol="0" anchor="t"/>
          <a:lstStyle/>
          <a:p>
            <a:pPr indent="0" marL="0">
              <a:buNone/>
            </a:pPr>
            <a:r>
              <a:rPr lang="en-US" sz="1200" b="1" dirty="0">
                <a:solidFill>
                  <a:srgbClr val="8E8E96"/>
                </a:solidFill>
                <a:latin typeface="Inter" pitchFamily="34" charset="0"/>
                <a:ea typeface="Inter" pitchFamily="34" charset="-122"/>
                <a:cs typeface="Inter" pitchFamily="34" charset="-120"/>
              </a:rPr>
              <a:t>binding</a:t>
            </a:r>
            <a:endParaRPr lang="en-US" sz="1200" dirty="0"/>
          </a:p>
        </p:txBody>
      </p:sp>
      <p:sp>
        <p:nvSpPr>
          <p:cNvPr id="7" name="text-353"/>
          <p:cNvSpPr txBox="1"/>
          <p:nvPr/>
        </p:nvSpPr>
        <p:spPr>
          <a:xfrm>
            <a:off x="2743200" y="1508760"/>
            <a:ext cx="1645920" cy="274320"/>
          </a:xfrm>
          <a:prstGeom prst="rect">
            <a:avLst/>
          </a:prstGeom>
          <a:noFill/>
          <a:ln/>
        </p:spPr>
        <p:txBody>
          <a:bodyPr wrap="square" lIns="0" tIns="0" rIns="0" bIns="0" rtlCol="0" anchor="t"/>
          <a:lstStyle/>
          <a:p>
            <a:pPr indent="0" marL="0">
              <a:buNone/>
            </a:pPr>
            <a:r>
              <a:rPr lang="en-US" sz="1200" b="1" dirty="0">
                <a:solidFill>
                  <a:srgbClr val="8E8E96"/>
                </a:solidFill>
                <a:latin typeface="Inter" pitchFamily="34" charset="0"/>
                <a:ea typeface="Inter" pitchFamily="34" charset="-122"/>
                <a:cs typeface="Inter" pitchFamily="34" charset="-120"/>
              </a:rPr>
              <a:t>baseline</a:t>
            </a:r>
            <a:endParaRPr lang="en-US" sz="1200" dirty="0"/>
          </a:p>
        </p:txBody>
      </p:sp>
      <p:sp>
        <p:nvSpPr>
          <p:cNvPr id="8" name="text-354"/>
          <p:cNvSpPr txBox="1"/>
          <p:nvPr/>
        </p:nvSpPr>
        <p:spPr>
          <a:xfrm>
            <a:off x="4572000" y="1508760"/>
            <a:ext cx="1828800" cy="274320"/>
          </a:xfrm>
          <a:prstGeom prst="rect">
            <a:avLst/>
          </a:prstGeom>
          <a:noFill/>
          <a:ln/>
        </p:spPr>
        <p:txBody>
          <a:bodyPr wrap="square" lIns="0" tIns="0" rIns="0" bIns="0" rtlCol="0" anchor="t"/>
          <a:lstStyle/>
          <a:p>
            <a:pPr indent="0" marL="0">
              <a:buNone/>
            </a:pPr>
            <a:r>
              <a:rPr lang="en-US" sz="1200" b="1" dirty="0">
                <a:solidFill>
                  <a:srgbClr val="22D3EE"/>
                </a:solidFill>
                <a:latin typeface="Inter" pitchFamily="34" charset="0"/>
                <a:ea typeface="Inter" pitchFamily="34" charset="-122"/>
                <a:cs typeface="Inter" pitchFamily="34" charset="-120"/>
              </a:rPr>
              <a:t>whatif price = 150</a:t>
            </a:r>
            <a:endParaRPr lang="en-US" sz="1200" dirty="0"/>
          </a:p>
        </p:txBody>
      </p:sp>
      <p:sp>
        <p:nvSpPr>
          <p:cNvPr id="9" name="text-355"/>
          <p:cNvSpPr txBox="1"/>
          <p:nvPr/>
        </p:nvSpPr>
        <p:spPr>
          <a:xfrm>
            <a:off x="822960" y="1920240"/>
            <a:ext cx="1828800" cy="365760"/>
          </a:xfrm>
          <a:prstGeom prst="rect">
            <a:avLst/>
          </a:prstGeom>
          <a:noFill/>
          <a:ln/>
        </p:spPr>
        <p:txBody>
          <a:bodyPr wrap="square" lIns="0" tIns="0" rIns="0" bIns="0" rtlCol="0" anchor="ctr"/>
          <a:lstStyle/>
          <a:p>
            <a:pPr indent="0" marL="0">
              <a:buNone/>
            </a:pPr>
            <a:r>
              <a:rPr lang="en-US" sz="1500" b="1" dirty="0">
                <a:solidFill>
                  <a:srgbClr val="FB923C"/>
                </a:solidFill>
                <a:latin typeface="Consolas" pitchFamily="34" charset="0"/>
                <a:ea typeface="Consolas" pitchFamily="34" charset="-122"/>
                <a:cs typeface="Consolas" pitchFamily="34" charset="-120"/>
              </a:rPr>
              <a:t>price</a:t>
            </a:r>
            <a:endParaRPr lang="en-US" sz="1500" dirty="0"/>
          </a:p>
        </p:txBody>
      </p:sp>
      <p:sp>
        <p:nvSpPr>
          <p:cNvPr id="10" name="text-356"/>
          <p:cNvSpPr txBox="1"/>
          <p:nvPr/>
        </p:nvSpPr>
        <p:spPr>
          <a:xfrm>
            <a:off x="2743200" y="19202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100</a:t>
            </a:r>
            <a:endParaRPr lang="en-US" sz="1500" dirty="0"/>
          </a:p>
        </p:txBody>
      </p:sp>
      <p:sp>
        <p:nvSpPr>
          <p:cNvPr id="11" name="text-357"/>
          <p:cNvSpPr txBox="1"/>
          <p:nvPr/>
        </p:nvSpPr>
        <p:spPr>
          <a:xfrm>
            <a:off x="4572000" y="19202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150</a:t>
            </a:r>
            <a:endParaRPr lang="en-US" sz="1500" dirty="0"/>
          </a:p>
        </p:txBody>
      </p:sp>
      <p:sp>
        <p:nvSpPr>
          <p:cNvPr id="12" name="arrow-358"/>
          <p:cNvSpPr/>
          <p:nvPr/>
        </p:nvSpPr>
        <p:spPr>
          <a:xfrm>
            <a:off x="4160520" y="2103120"/>
            <a:ext cx="274320" cy="0"/>
          </a:xfrm>
          <a:prstGeom prst="line">
            <a:avLst/>
          </a:prstGeom>
          <a:noFill/>
          <a:ln w="15240">
            <a:solidFill>
              <a:srgbClr val="8E8E96"/>
            </a:solidFill>
            <a:prstDash val="solid"/>
            <a:tailEnd type="triangle"/>
          </a:ln>
        </p:spPr>
      </p:sp>
      <p:sp>
        <p:nvSpPr>
          <p:cNvPr id="13" name="text-359"/>
          <p:cNvSpPr txBox="1"/>
          <p:nvPr/>
        </p:nvSpPr>
        <p:spPr>
          <a:xfrm>
            <a:off x="822960" y="2377440"/>
            <a:ext cx="1828800" cy="365760"/>
          </a:xfrm>
          <a:prstGeom prst="rect">
            <a:avLst/>
          </a:prstGeom>
          <a:noFill/>
          <a:ln/>
        </p:spPr>
        <p:txBody>
          <a:bodyPr wrap="square" lIns="0" tIns="0" rIns="0" bIns="0" rtlCol="0" anchor="ctr"/>
          <a:lstStyle/>
          <a:p>
            <a:pPr indent="0" marL="0">
              <a:buNone/>
            </a:pPr>
            <a:r>
              <a:rPr lang="en-US" sz="1500" b="1" dirty="0">
                <a:solidFill>
                  <a:srgbClr val="60A5FA"/>
                </a:solidFill>
                <a:latin typeface="Consolas" pitchFamily="34" charset="0"/>
                <a:ea typeface="Consolas" pitchFamily="34" charset="-122"/>
                <a:cs typeface="Consolas" pitchFamily="34" charset="-120"/>
              </a:rPr>
              <a:t>savings</a:t>
            </a:r>
            <a:endParaRPr lang="en-US" sz="1500" dirty="0"/>
          </a:p>
        </p:txBody>
      </p:sp>
      <p:sp>
        <p:nvSpPr>
          <p:cNvPr id="14" name="text-360"/>
          <p:cNvSpPr txBox="1"/>
          <p:nvPr/>
        </p:nvSpPr>
        <p:spPr>
          <a:xfrm>
            <a:off x="2743200" y="23774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25.0</a:t>
            </a:r>
            <a:endParaRPr lang="en-US" sz="1500" dirty="0"/>
          </a:p>
        </p:txBody>
      </p:sp>
      <p:sp>
        <p:nvSpPr>
          <p:cNvPr id="15" name="text-361"/>
          <p:cNvSpPr txBox="1"/>
          <p:nvPr/>
        </p:nvSpPr>
        <p:spPr>
          <a:xfrm>
            <a:off x="4572000" y="23774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37.5</a:t>
            </a:r>
            <a:endParaRPr lang="en-US" sz="1500" dirty="0"/>
          </a:p>
        </p:txBody>
      </p:sp>
      <p:sp>
        <p:nvSpPr>
          <p:cNvPr id="16" name="arrow-362"/>
          <p:cNvSpPr/>
          <p:nvPr/>
        </p:nvSpPr>
        <p:spPr>
          <a:xfrm>
            <a:off x="4160520" y="2560320"/>
            <a:ext cx="274320" cy="0"/>
          </a:xfrm>
          <a:prstGeom prst="line">
            <a:avLst/>
          </a:prstGeom>
          <a:noFill/>
          <a:ln w="15240">
            <a:solidFill>
              <a:srgbClr val="8E8E96"/>
            </a:solidFill>
            <a:prstDash val="solid"/>
            <a:tailEnd type="triangle"/>
          </a:ln>
        </p:spPr>
      </p:sp>
      <p:sp>
        <p:nvSpPr>
          <p:cNvPr id="17" name="text-363"/>
          <p:cNvSpPr txBox="1"/>
          <p:nvPr/>
        </p:nvSpPr>
        <p:spPr>
          <a:xfrm>
            <a:off x="822960" y="2834640"/>
            <a:ext cx="1828800" cy="365760"/>
          </a:xfrm>
          <a:prstGeom prst="rect">
            <a:avLst/>
          </a:prstGeom>
          <a:noFill/>
          <a:ln/>
        </p:spPr>
        <p:txBody>
          <a:bodyPr wrap="square" lIns="0" tIns="0" rIns="0" bIns="0" rtlCol="0" anchor="ctr"/>
          <a:lstStyle/>
          <a:p>
            <a:pPr indent="0" marL="0">
              <a:buNone/>
            </a:pPr>
            <a:r>
              <a:rPr lang="en-US" sz="1500" b="1" dirty="0">
                <a:solidFill>
                  <a:srgbClr val="60A5FA"/>
                </a:solidFill>
                <a:latin typeface="Consolas" pitchFamily="34" charset="0"/>
                <a:ea typeface="Consolas" pitchFamily="34" charset="-122"/>
                <a:cs typeface="Consolas" pitchFamily="34" charset="-120"/>
              </a:rPr>
              <a:t>subtotal</a:t>
            </a:r>
            <a:endParaRPr lang="en-US" sz="1500" dirty="0"/>
          </a:p>
        </p:txBody>
      </p:sp>
      <p:sp>
        <p:nvSpPr>
          <p:cNvPr id="18" name="text-364"/>
          <p:cNvSpPr txBox="1"/>
          <p:nvPr/>
        </p:nvSpPr>
        <p:spPr>
          <a:xfrm>
            <a:off x="2743200" y="28346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75.0</a:t>
            </a:r>
            <a:endParaRPr lang="en-US" sz="1500" dirty="0"/>
          </a:p>
        </p:txBody>
      </p:sp>
      <p:sp>
        <p:nvSpPr>
          <p:cNvPr id="19" name="text-365"/>
          <p:cNvSpPr txBox="1"/>
          <p:nvPr/>
        </p:nvSpPr>
        <p:spPr>
          <a:xfrm>
            <a:off x="4572000" y="28346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112.5</a:t>
            </a:r>
            <a:endParaRPr lang="en-US" sz="1500" dirty="0"/>
          </a:p>
        </p:txBody>
      </p:sp>
      <p:sp>
        <p:nvSpPr>
          <p:cNvPr id="20" name="arrow-366"/>
          <p:cNvSpPr/>
          <p:nvPr/>
        </p:nvSpPr>
        <p:spPr>
          <a:xfrm>
            <a:off x="4160520" y="3017520"/>
            <a:ext cx="274320" cy="0"/>
          </a:xfrm>
          <a:prstGeom prst="line">
            <a:avLst/>
          </a:prstGeom>
          <a:noFill/>
          <a:ln w="15240">
            <a:solidFill>
              <a:srgbClr val="8E8E96"/>
            </a:solidFill>
            <a:prstDash val="solid"/>
            <a:tailEnd type="triangle"/>
          </a:ln>
        </p:spPr>
      </p:sp>
      <p:sp>
        <p:nvSpPr>
          <p:cNvPr id="21" name="text-367"/>
          <p:cNvSpPr txBox="1"/>
          <p:nvPr/>
        </p:nvSpPr>
        <p:spPr>
          <a:xfrm>
            <a:off x="822960" y="3291840"/>
            <a:ext cx="1828800" cy="365760"/>
          </a:xfrm>
          <a:prstGeom prst="rect">
            <a:avLst/>
          </a:prstGeom>
          <a:noFill/>
          <a:ln/>
        </p:spPr>
        <p:txBody>
          <a:bodyPr wrap="square" lIns="0" tIns="0" rIns="0" bIns="0" rtlCol="0" anchor="ctr"/>
          <a:lstStyle/>
          <a:p>
            <a:pPr indent="0" marL="0">
              <a:buNone/>
            </a:pPr>
            <a:r>
              <a:rPr lang="en-US" sz="1500" b="1" dirty="0">
                <a:solidFill>
                  <a:srgbClr val="60A5FA"/>
                </a:solidFill>
                <a:latin typeface="Consolas" pitchFamily="34" charset="0"/>
                <a:ea typeface="Consolas" pitchFamily="34" charset="-122"/>
                <a:cs typeface="Consolas" pitchFamily="34" charset="-120"/>
              </a:rPr>
              <a:t>total</a:t>
            </a:r>
            <a:endParaRPr lang="en-US" sz="1500" dirty="0"/>
          </a:p>
        </p:txBody>
      </p:sp>
      <p:sp>
        <p:nvSpPr>
          <p:cNvPr id="22" name="text-368"/>
          <p:cNvSpPr txBox="1"/>
          <p:nvPr/>
        </p:nvSpPr>
        <p:spPr>
          <a:xfrm>
            <a:off x="2743200" y="32918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88.375</a:t>
            </a:r>
            <a:endParaRPr lang="en-US" sz="1500" dirty="0"/>
          </a:p>
        </p:txBody>
      </p:sp>
      <p:sp>
        <p:nvSpPr>
          <p:cNvPr id="23" name="text-369"/>
          <p:cNvSpPr txBox="1"/>
          <p:nvPr/>
        </p:nvSpPr>
        <p:spPr>
          <a:xfrm>
            <a:off x="4572000" y="32918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130.5625</a:t>
            </a:r>
            <a:endParaRPr lang="en-US" sz="1500" dirty="0"/>
          </a:p>
        </p:txBody>
      </p:sp>
      <p:sp>
        <p:nvSpPr>
          <p:cNvPr id="24" name="arrow-370"/>
          <p:cNvSpPr/>
          <p:nvPr/>
        </p:nvSpPr>
        <p:spPr>
          <a:xfrm>
            <a:off x="4160520" y="3474720"/>
            <a:ext cx="274320" cy="0"/>
          </a:xfrm>
          <a:prstGeom prst="line">
            <a:avLst/>
          </a:prstGeom>
          <a:noFill/>
          <a:ln w="15240">
            <a:solidFill>
              <a:srgbClr val="8E8E96"/>
            </a:solidFill>
            <a:prstDash val="solid"/>
            <a:tailEnd type="triangle"/>
          </a:ln>
        </p:spPr>
      </p:sp>
      <p:sp>
        <p:nvSpPr>
          <p:cNvPr id="25" name="text-371"/>
          <p:cNvSpPr txBox="1"/>
          <p:nvPr/>
        </p:nvSpPr>
        <p:spPr>
          <a:xfrm>
            <a:off x="822960" y="3749040"/>
            <a:ext cx="1828800" cy="365760"/>
          </a:xfrm>
          <a:prstGeom prst="rect">
            <a:avLst/>
          </a:prstGeom>
          <a:noFill/>
          <a:ln/>
        </p:spPr>
        <p:txBody>
          <a:bodyPr wrap="square" lIns="0" tIns="0" rIns="0" bIns="0" rtlCol="0" anchor="ctr"/>
          <a:lstStyle/>
          <a:p>
            <a:pPr indent="0" marL="0">
              <a:buNone/>
            </a:pPr>
            <a:r>
              <a:rPr lang="en-US" sz="1500" dirty="0">
                <a:solidFill>
                  <a:srgbClr val="8E8E96"/>
                </a:solidFill>
                <a:latin typeface="Consolas" pitchFamily="34" charset="0"/>
                <a:ea typeface="Consolas" pitchFamily="34" charset="-122"/>
                <a:cs typeface="Consolas" pitchFamily="34" charset="-120"/>
              </a:rPr>
              <a:t>expensive</a:t>
            </a:r>
            <a:endParaRPr lang="en-US" sz="1500" dirty="0"/>
          </a:p>
        </p:txBody>
      </p:sp>
      <p:sp>
        <p:nvSpPr>
          <p:cNvPr id="26" name="text-372"/>
          <p:cNvSpPr txBox="1"/>
          <p:nvPr/>
        </p:nvSpPr>
        <p:spPr>
          <a:xfrm>
            <a:off x="2743200" y="37490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true</a:t>
            </a:r>
            <a:endParaRPr lang="en-US" sz="1500" dirty="0"/>
          </a:p>
        </p:txBody>
      </p:sp>
      <p:sp>
        <p:nvSpPr>
          <p:cNvPr id="27" name="text-373"/>
          <p:cNvSpPr txBox="1"/>
          <p:nvPr/>
        </p:nvSpPr>
        <p:spPr>
          <a:xfrm>
            <a:off x="4572000" y="3749040"/>
            <a:ext cx="1737360" cy="365760"/>
          </a:xfrm>
          <a:prstGeom prst="rect">
            <a:avLst/>
          </a:prstGeom>
          <a:noFill/>
          <a:ln/>
        </p:spPr>
        <p:txBody>
          <a:bodyPr wrap="square" lIns="0" tIns="0" rIns="0" bIns="0" rtlCol="0" anchor="ctr"/>
          <a:lstStyle/>
          <a:p>
            <a:pPr indent="0" marL="0">
              <a:buNone/>
            </a:pPr>
            <a:r>
              <a:rPr lang="en-US" sz="1500" b="1" dirty="0">
                <a:solidFill>
                  <a:srgbClr val="8E8E96"/>
                </a:solidFill>
                <a:latin typeface="Consolas" pitchFamily="34" charset="0"/>
                <a:ea typeface="Consolas" pitchFamily="34" charset="-122"/>
                <a:cs typeface="Consolas" pitchFamily="34" charset="-120"/>
              </a:rPr>
              <a:t>true</a:t>
            </a:r>
            <a:endParaRPr lang="en-US" sz="1500" dirty="0"/>
          </a:p>
        </p:txBody>
      </p:sp>
      <p:sp>
        <p:nvSpPr>
          <p:cNvPr id="28" name="arrow-374"/>
          <p:cNvSpPr/>
          <p:nvPr/>
        </p:nvSpPr>
        <p:spPr>
          <a:xfrm>
            <a:off x="4160520" y="3931920"/>
            <a:ext cx="274320" cy="0"/>
          </a:xfrm>
          <a:prstGeom prst="line">
            <a:avLst/>
          </a:prstGeom>
          <a:noFill/>
          <a:ln w="15240">
            <a:solidFill>
              <a:srgbClr val="8E8E96"/>
            </a:solidFill>
            <a:prstDash val="solid"/>
            <a:tailEnd type="triangle"/>
          </a:ln>
        </p:spPr>
      </p:sp>
      <p:sp>
        <p:nvSpPr>
          <p:cNvPr id="29" name="text-375"/>
          <p:cNvSpPr txBox="1"/>
          <p:nvPr/>
        </p:nvSpPr>
        <p:spPr>
          <a:xfrm>
            <a:off x="822960" y="4206240"/>
            <a:ext cx="1828800" cy="365760"/>
          </a:xfrm>
          <a:prstGeom prst="rect">
            <a:avLst/>
          </a:prstGeom>
          <a:noFill/>
          <a:ln/>
        </p:spPr>
        <p:txBody>
          <a:bodyPr wrap="square" lIns="0" tIns="0" rIns="0" bIns="0" rtlCol="0" anchor="ctr"/>
          <a:lstStyle/>
          <a:p>
            <a:pPr indent="0" marL="0">
              <a:buNone/>
            </a:pPr>
            <a:r>
              <a:rPr lang="en-US" sz="1500" b="1" dirty="0">
                <a:solidFill>
                  <a:srgbClr val="60A5FA"/>
                </a:solidFill>
                <a:latin typeface="Consolas" pitchFamily="34" charset="0"/>
                <a:ea typeface="Consolas" pitchFamily="34" charset="-122"/>
                <a:cs typeface="Consolas" pitchFamily="34" charset="-120"/>
              </a:rPr>
              <a:t>per_unit</a:t>
            </a:r>
            <a:endParaRPr lang="en-US" sz="1500" dirty="0"/>
          </a:p>
        </p:txBody>
      </p:sp>
      <p:sp>
        <p:nvSpPr>
          <p:cNvPr id="30" name="text-376"/>
          <p:cNvSpPr txBox="1"/>
          <p:nvPr/>
        </p:nvSpPr>
        <p:spPr>
          <a:xfrm>
            <a:off x="2743200" y="42062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22.09375</a:t>
            </a:r>
            <a:endParaRPr lang="en-US" sz="1500" dirty="0"/>
          </a:p>
        </p:txBody>
      </p:sp>
      <p:sp>
        <p:nvSpPr>
          <p:cNvPr id="31" name="text-377"/>
          <p:cNvSpPr txBox="1"/>
          <p:nvPr/>
        </p:nvSpPr>
        <p:spPr>
          <a:xfrm>
            <a:off x="4572000" y="42062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32.640625</a:t>
            </a:r>
            <a:endParaRPr lang="en-US" sz="1500" dirty="0"/>
          </a:p>
        </p:txBody>
      </p:sp>
      <p:sp>
        <p:nvSpPr>
          <p:cNvPr id="32" name="arrow-378"/>
          <p:cNvSpPr/>
          <p:nvPr/>
        </p:nvSpPr>
        <p:spPr>
          <a:xfrm>
            <a:off x="4160520" y="4389120"/>
            <a:ext cx="274320" cy="0"/>
          </a:xfrm>
          <a:prstGeom prst="line">
            <a:avLst/>
          </a:prstGeom>
          <a:noFill/>
          <a:ln w="15240">
            <a:solidFill>
              <a:srgbClr val="8E8E96"/>
            </a:solidFill>
            <a:prstDash val="solid"/>
            <a:tailEnd type="triangle"/>
          </a:ln>
        </p:spPr>
      </p:sp>
      <p:sp>
        <p:nvSpPr>
          <p:cNvPr id="33" name="text-379"/>
          <p:cNvSpPr txBox="1"/>
          <p:nvPr/>
        </p:nvSpPr>
        <p:spPr>
          <a:xfrm>
            <a:off x="822960" y="4663440"/>
            <a:ext cx="1828800" cy="365760"/>
          </a:xfrm>
          <a:prstGeom prst="rect">
            <a:avLst/>
          </a:prstGeom>
          <a:noFill/>
          <a:ln/>
        </p:spPr>
        <p:txBody>
          <a:bodyPr wrap="square" lIns="0" tIns="0" rIns="0" bIns="0" rtlCol="0" anchor="ctr"/>
          <a:lstStyle/>
          <a:p>
            <a:pPr indent="0" marL="0">
              <a:buNone/>
            </a:pPr>
            <a:r>
              <a:rPr lang="en-US" sz="1500" b="1" dirty="0">
                <a:solidFill>
                  <a:srgbClr val="60A5FA"/>
                </a:solidFill>
                <a:latin typeface="Consolas" pitchFamily="34" charset="0"/>
                <a:ea typeface="Consolas" pitchFamily="34" charset="-122"/>
                <a:cs typeface="Consolas" pitchFamily="34" charset="-120"/>
              </a:rPr>
              <a:t>bulk</a:t>
            </a:r>
            <a:endParaRPr lang="en-US" sz="1500" dirty="0"/>
          </a:p>
        </p:txBody>
      </p:sp>
      <p:sp>
        <p:nvSpPr>
          <p:cNvPr id="34" name="text-380"/>
          <p:cNvSpPr txBox="1"/>
          <p:nvPr/>
        </p:nvSpPr>
        <p:spPr>
          <a:xfrm>
            <a:off x="2743200" y="4663440"/>
            <a:ext cx="1645920" cy="365760"/>
          </a:xfrm>
          <a:prstGeom prst="rect">
            <a:avLst/>
          </a:prstGeom>
          <a:noFill/>
          <a:ln/>
        </p:spPr>
        <p:txBody>
          <a:bodyPr wrap="square" lIns="0" tIns="0" rIns="0" bIns="0" rtlCol="0" anchor="ctr"/>
          <a:lstStyle/>
          <a:p>
            <a:pPr indent="0" marL="0">
              <a:buNone/>
            </a:pPr>
            <a:r>
              <a:rPr lang="en-US" sz="1500" dirty="0">
                <a:solidFill>
                  <a:srgbClr val="ECECEE"/>
                </a:solidFill>
                <a:latin typeface="Consolas" pitchFamily="34" charset="0"/>
                <a:ea typeface="Consolas" pitchFamily="34" charset="-122"/>
                <a:cs typeface="Consolas" pitchFamily="34" charset="-120"/>
              </a:rPr>
              <a:t>true</a:t>
            </a:r>
            <a:endParaRPr lang="en-US" sz="1500" dirty="0"/>
          </a:p>
        </p:txBody>
      </p:sp>
      <p:sp>
        <p:nvSpPr>
          <p:cNvPr id="35" name="text-381"/>
          <p:cNvSpPr txBox="1"/>
          <p:nvPr/>
        </p:nvSpPr>
        <p:spPr>
          <a:xfrm>
            <a:off x="4572000" y="4663440"/>
            <a:ext cx="1737360" cy="365760"/>
          </a:xfrm>
          <a:prstGeom prst="rect">
            <a:avLst/>
          </a:prstGeom>
          <a:noFill/>
          <a:ln/>
        </p:spPr>
        <p:txBody>
          <a:bodyPr wrap="square" lIns="0" tIns="0" rIns="0" bIns="0" rtlCol="0" anchor="ctr"/>
          <a:lstStyle/>
          <a:p>
            <a:pPr indent="0" marL="0">
              <a:buNone/>
            </a:pPr>
            <a:r>
              <a:rPr lang="en-US" sz="1500" b="1" dirty="0">
                <a:solidFill>
                  <a:srgbClr val="ECECEE"/>
                </a:solidFill>
                <a:latin typeface="Consolas" pitchFamily="34" charset="0"/>
                <a:ea typeface="Consolas" pitchFamily="34" charset="-122"/>
                <a:cs typeface="Consolas" pitchFamily="34" charset="-120"/>
              </a:rPr>
              <a:t>false</a:t>
            </a:r>
            <a:endParaRPr lang="en-US" sz="1500" dirty="0"/>
          </a:p>
        </p:txBody>
      </p:sp>
      <p:sp>
        <p:nvSpPr>
          <p:cNvPr id="36" name="arrow-382"/>
          <p:cNvSpPr/>
          <p:nvPr/>
        </p:nvSpPr>
        <p:spPr>
          <a:xfrm>
            <a:off x="4160520" y="4846320"/>
            <a:ext cx="274320" cy="0"/>
          </a:xfrm>
          <a:prstGeom prst="line">
            <a:avLst/>
          </a:prstGeom>
          <a:noFill/>
          <a:ln w="15240">
            <a:solidFill>
              <a:srgbClr val="8E8E96"/>
            </a:solidFill>
            <a:prstDash val="solid"/>
            <a:tailEnd type="triangle"/>
          </a:ln>
        </p:spPr>
      </p:sp>
      <p:sp>
        <p:nvSpPr>
          <p:cNvPr id="37" name="card-383"/>
          <p:cNvSpPr/>
          <p:nvPr/>
        </p:nvSpPr>
        <p:spPr>
          <a:xfrm>
            <a:off x="7589520" y="1371600"/>
            <a:ext cx="4050792" cy="1828800"/>
          </a:xfrm>
          <a:prstGeom prst="roundRect">
            <a:avLst>
              <a:gd name="adj" fmla="val 4000"/>
            </a:avLst>
          </a:prstGeom>
          <a:solidFill>
            <a:srgbClr val="121214"/>
          </a:solidFill>
          <a:ln w="12700">
            <a:solidFill>
              <a:srgbClr val="2B2B31"/>
            </a:solidFill>
            <a:prstDash val="solid"/>
          </a:ln>
        </p:spPr>
      </p:sp>
      <p:sp>
        <p:nvSpPr>
          <p:cNvPr id="38" name="text-384"/>
          <p:cNvSpPr txBox="1"/>
          <p:nvPr/>
        </p:nvSpPr>
        <p:spPr>
          <a:xfrm>
            <a:off x="7818120" y="1481328"/>
            <a:ext cx="3657600" cy="320040"/>
          </a:xfrm>
          <a:prstGeom prst="rect">
            <a:avLst/>
          </a:prstGeom>
          <a:noFill/>
          <a:ln/>
        </p:spPr>
        <p:txBody>
          <a:bodyPr wrap="square" lIns="0" tIns="0" rIns="0" bIns="0" rtlCol="0" anchor="t"/>
          <a:lstStyle/>
          <a:p>
            <a:pPr indent="0" marL="0">
              <a:buNone/>
            </a:pPr>
            <a:r>
              <a:rPr lang="en-US" sz="1700" b="1" dirty="0">
                <a:solidFill>
                  <a:srgbClr val="22D3EE"/>
                </a:solidFill>
                <a:latin typeface="Inter" pitchFamily="34" charset="0"/>
                <a:ea typeface="Inter" pitchFamily="34" charset="-122"/>
                <a:cs typeface="Inter" pitchFamily="34" charset="-120"/>
              </a:rPr>
              <a:t>Isolated</a:t>
            </a:r>
            <a:endParaRPr lang="en-US" sz="1700" dirty="0"/>
          </a:p>
        </p:txBody>
      </p:sp>
      <p:sp>
        <p:nvSpPr>
          <p:cNvPr id="39" name="text-385"/>
          <p:cNvSpPr txBox="1"/>
          <p:nvPr/>
        </p:nvSpPr>
        <p:spPr>
          <a:xfrm>
            <a:off x="7818120" y="1828800"/>
            <a:ext cx="3611880" cy="1325880"/>
          </a:xfrm>
          <a:prstGeom prst="rect">
            <a:avLst/>
          </a:prstGeom>
          <a:noFill/>
          <a:ln/>
        </p:spPr>
        <p:txBody>
          <a:bodyPr wrap="square" lIns="0" tIns="0" rIns="0" bIns="0" rtlCol="0" anchor="t"/>
          <a:lstStyle/>
          <a:p>
            <a:pPr indent="0" marL="0">
              <a:buNone/>
            </a:pPr>
            <a:r>
              <a:rPr lang="en-US" sz="1400" dirty="0">
                <a:solidFill>
                  <a:srgbClr val="ECECEE"/>
                </a:solidFill>
                <a:latin typeface="Inter" pitchFamily="34" charset="0"/>
                <a:ea typeface="Inter" pitchFamily="34" charset="-122"/>
                <a:cs typeface="Inter" pitchFamily="34" charset="-120"/>
              </a:rPr>
              <a:t>A separate environment is recomputed; the real execution is never written. After five whatif statements, show total still prints 88.375.</a:t>
            </a:r>
            <a:endParaRPr lang="en-US" sz="1400" dirty="0"/>
          </a:p>
        </p:txBody>
      </p:sp>
      <p:sp>
        <p:nvSpPr>
          <p:cNvPr id="40" name="panel-386"/>
          <p:cNvSpPr/>
          <p:nvPr/>
        </p:nvSpPr>
        <p:spPr>
          <a:xfrm>
            <a:off x="7589520" y="3383280"/>
            <a:ext cx="4050792" cy="1737360"/>
          </a:xfrm>
          <a:prstGeom prst="roundRect">
            <a:avLst>
              <a:gd name="adj" fmla="val 4211"/>
            </a:avLst>
          </a:prstGeom>
          <a:solidFill>
            <a:srgbClr val="121214"/>
          </a:solidFill>
          <a:ln w="12700">
            <a:solidFill>
              <a:srgbClr val="121214"/>
            </a:solidFill>
            <a:prstDash val="solid"/>
          </a:ln>
        </p:spPr>
      </p:sp>
      <p:sp>
        <p:nvSpPr>
          <p:cNvPr id="41" name="text-387"/>
          <p:cNvSpPr txBox="1"/>
          <p:nvPr/>
        </p:nvSpPr>
        <p:spPr>
          <a:xfrm>
            <a:off x="7818120" y="3520440"/>
            <a:ext cx="3593592"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launch-time inputs</a:t>
            </a:r>
            <a:endParaRPr lang="en-US" sz="1100" dirty="0"/>
          </a:p>
        </p:txBody>
      </p:sp>
      <p:sp>
        <p:nvSpPr>
          <p:cNvPr id="42" name="text-388"/>
          <p:cNvSpPr txBox="1"/>
          <p:nvPr/>
        </p:nvSpPr>
        <p:spPr>
          <a:xfrm>
            <a:off x="7818120" y="3840480"/>
            <a:ext cx="3593592" cy="1143000"/>
          </a:xfrm>
          <a:prstGeom prst="rect">
            <a:avLst/>
          </a:prstGeom>
          <a:noFill/>
          <a:ln/>
        </p:spPr>
        <p:txBody>
          <a:bodyPr wrap="square" lIns="0" tIns="0" rIns="0" bIns="0" rtlCol="0" anchor="t"/>
          <a:lstStyle/>
          <a:p>
            <a:pPr indent="0" marL="0">
              <a:spcAft>
                <a:spcPts val="200"/>
              </a:spcAft>
              <a:buNone/>
            </a:pPr>
            <a:r>
              <a:rPr lang="en-US" sz="1300" dirty="0">
                <a:solidFill>
                  <a:srgbClr val="8E8E96"/>
                </a:solidFill>
                <a:latin typeface="Consolas" pitchFamily="34" charset="0"/>
                <a:ea typeface="Consolas" pitchFamily="34" charset="-122"/>
                <a:cs typeface="Consolas" pitchFamily="34" charset="-120"/>
              </a:rPr>
              <a:t>$ ./build/pricing \</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--set price=150 \</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--set discount=0.3</a:t>
            </a:r>
            <a:endParaRPr lang="en-US" sz="1600" dirty="0"/>
          </a:p>
          <a:p>
            <a:pPr indent="0" marL="0">
              <a:spcAft>
                <a:spcPts val="200"/>
              </a:spcAft>
              <a:buNone/>
            </a:pPr>
            <a:r>
              <a:rPr lang="en-US" sz="1300" dirty="0">
                <a:solidFill>
                  <a:srgbClr val="22D3EE"/>
                </a:solidFill>
                <a:latin typeface="Consolas" pitchFamily="34" charset="0"/>
                <a:ea typeface="Consolas" pitchFamily="34" charset="-122"/>
                <a:cs typeface="Consolas" pitchFamily="34" charset="-120"/>
              </a:rPr>
              <a:t>total = 122.125</a:t>
            </a:r>
            <a:endParaRPr lang="en-US" sz="1600" dirty="0"/>
          </a:p>
        </p:txBody>
      </p:sp>
      <p:sp>
        <p:nvSpPr>
          <p:cNvPr id="43" name="text-389"/>
          <p:cNvSpPr txBox="1"/>
          <p:nvPr/>
        </p:nvSpPr>
        <p:spPr>
          <a:xfrm>
            <a:off x="548640" y="5349240"/>
            <a:ext cx="11091672" cy="320040"/>
          </a:xfrm>
          <a:prstGeom prst="rect">
            <a:avLst/>
          </a:prstGeom>
          <a:noFill/>
          <a:ln/>
        </p:spPr>
        <p:txBody>
          <a:bodyPr wrap="square" lIns="0" tIns="0" rIns="0" bIns="0" rtlCol="0" anchor="t"/>
          <a:lstStyle/>
          <a:p>
            <a:pPr indent="0" marL="0">
              <a:buNone/>
            </a:pPr>
            <a:r>
              <a:rPr lang="en-US" sz="1200" dirty="0">
                <a:solidFill>
                  <a:srgbClr val="8E8E96"/>
                </a:solidFill>
                <a:latin typeface="Inter" pitchFamily="34" charset="0"/>
                <a:ea typeface="Inter" pitchFamily="34" charset="-122"/>
                <a:cs typeface="Inter" pitchFamily="34" charset="-120"/>
              </a:rPr>
              <a:t>Source: values from the real runtime, shown in CAUSA Studio's What-if panel; launch output from docs/demonstration.md.</a:t>
            </a:r>
            <a:endParaRPr lang="en-US" sz="1200" dirty="0"/>
          </a:p>
        </p:txBody>
      </p:sp>
      <p:sp>
        <p:nvSpPr>
          <p:cNvPr id="44" name="text-390"/>
          <p:cNvSpPr txBox="1"/>
          <p:nvPr/>
        </p:nvSpPr>
        <p:spPr>
          <a:xfrm>
            <a:off x="548640" y="5806440"/>
            <a:ext cx="11091672" cy="365760"/>
          </a:xfrm>
          <a:prstGeom prst="rect">
            <a:avLst/>
          </a:prstGeom>
          <a:noFill/>
          <a:ln/>
        </p:spPr>
        <p:txBody>
          <a:bodyPr wrap="square" lIns="0" tIns="0" rIns="0" bIns="0" rtlCol="0" anchor="t"/>
          <a:lstStyle/>
          <a:p>
            <a:pPr indent="0" marL="0">
              <a:buNone/>
            </a:pPr>
            <a:r>
              <a:rPr lang="en-US" sz="1600" b="1" dirty="0">
                <a:solidFill>
                  <a:srgbClr val="22D3EE"/>
                </a:solidFill>
                <a:latin typeface="Inter" pitchFamily="34" charset="0"/>
                <a:ea typeface="Inter" pitchFamily="34" charset="-122"/>
                <a:cs typeface="Inter" pitchFamily="34" charset="-120"/>
              </a:rPr>
              <a:t>changed input → affected calculations recomputed → resulting output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Causal IR: optimization without losing dependencies</a:t>
            </a:r>
            <a:endParaRPr lang="en-US" sz="2800" dirty="0"/>
          </a:p>
        </p:txBody>
      </p:sp>
      <p:sp>
        <p:nvSpPr>
          <p:cNvPr id="3" name="text-39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Internals and Studio</a:t>
            </a:r>
            <a:endParaRPr lang="en-US" sz="1000" dirty="0"/>
          </a:p>
        </p:txBody>
      </p:sp>
      <p:sp>
        <p:nvSpPr>
          <p:cNvPr id="5" name="panel-392"/>
          <p:cNvSpPr/>
          <p:nvPr/>
        </p:nvSpPr>
        <p:spPr>
          <a:xfrm>
            <a:off x="548640" y="1371600"/>
            <a:ext cx="4206240" cy="4343400"/>
          </a:xfrm>
          <a:prstGeom prst="roundRect">
            <a:avLst>
              <a:gd name="adj" fmla="val 1739"/>
            </a:avLst>
          </a:prstGeom>
          <a:solidFill>
            <a:srgbClr val="121214"/>
          </a:solidFill>
          <a:ln w="12700">
            <a:solidFill>
              <a:srgbClr val="121214"/>
            </a:solidFill>
            <a:prstDash val="solid"/>
          </a:ln>
        </p:spPr>
      </p:sp>
      <p:sp>
        <p:nvSpPr>
          <p:cNvPr id="6" name="text-393"/>
          <p:cNvSpPr txBox="1"/>
          <p:nvPr/>
        </p:nvSpPr>
        <p:spPr>
          <a:xfrm>
            <a:off x="777240" y="1508760"/>
            <a:ext cx="3749040"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Causal IR  (price * (1 - discount))</a:t>
            </a:r>
            <a:endParaRPr lang="en-US" sz="1100" dirty="0"/>
          </a:p>
        </p:txBody>
      </p:sp>
      <p:sp>
        <p:nvSpPr>
          <p:cNvPr id="7" name="text-394"/>
          <p:cNvSpPr txBox="1"/>
          <p:nvPr/>
        </p:nvSpPr>
        <p:spPr>
          <a:xfrm>
            <a:off x="777240" y="1828800"/>
            <a:ext cx="3749040" cy="3749040"/>
          </a:xfrm>
          <a:prstGeom prst="rect">
            <a:avLst/>
          </a:prstGeom>
          <a:noFill/>
          <a:ln/>
        </p:spPr>
        <p:txBody>
          <a:bodyPr wrap="square" lIns="0" tIns="0" rIns="0" bIns="0" rtlCol="0" anchor="t"/>
          <a:lstStyle/>
          <a:p>
            <a:pPr indent="0" marL="0">
              <a:spcAft>
                <a:spcPts val="200"/>
              </a:spcAft>
              <a:buNone/>
            </a:pPr>
            <a:r>
              <a:rPr lang="en-US" sz="1300" dirty="0">
                <a:solidFill>
                  <a:srgbClr val="86EFAC"/>
                </a:solidFill>
                <a:latin typeface="Consolas" pitchFamily="34" charset="0"/>
                <a:ea typeface="Consolas" pitchFamily="34" charset="-122"/>
                <a:cs typeface="Consolas" pitchFamily="34" charset="-120"/>
              </a:rPr>
              <a:t>n0 = input     int    price</a:t>
            </a:r>
            <a:endParaRPr lang="en-US" sz="1600" dirty="0"/>
          </a:p>
          <a:p>
            <a:pPr indent="0" marL="0">
              <a:spcAft>
                <a:spcPts val="200"/>
              </a:spcAft>
              <a:buNone/>
            </a:pPr>
            <a:r>
              <a:rPr lang="en-US" sz="1300" dirty="0">
                <a:solidFill>
                  <a:srgbClr val="86EFAC"/>
                </a:solidFill>
                <a:latin typeface="Consolas" pitchFamily="34" charset="0"/>
                <a:ea typeface="Consolas" pitchFamily="34" charset="-122"/>
                <a:cs typeface="Consolas" pitchFamily="34" charset="-120"/>
              </a:rPr>
              <a:t>n1 = input     float  discount</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n2 = const     int    1</a:t>
            </a:r>
            <a:endParaRPr lang="en-US" sz="1600" dirty="0"/>
          </a:p>
          <a:p>
            <a:pPr indent="0" marL="0">
              <a:spcAft>
                <a:spcPts val="200"/>
              </a:spcAft>
              <a:buNone/>
            </a:pPr>
            <a:r>
              <a:rPr lang="en-US" sz="1300" dirty="0">
                <a:solidFill>
                  <a:srgbClr val="A78BFA"/>
                </a:solidFill>
                <a:latin typeface="Consolas" pitchFamily="34" charset="0"/>
                <a:ea typeface="Consolas" pitchFamily="34" charset="-122"/>
                <a:cs typeface="Consolas" pitchFamily="34" charset="-120"/>
              </a:rPr>
              <a:t>n3 = itof      n2</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n4 = sub       n3, n1</a:t>
            </a:r>
            <a:endParaRPr lang="en-US" sz="1600" dirty="0"/>
          </a:p>
          <a:p>
            <a:pPr indent="0" marL="0">
              <a:spcAft>
                <a:spcPts val="200"/>
              </a:spcAft>
              <a:buNone/>
            </a:pPr>
            <a:r>
              <a:rPr lang="en-US" sz="1300" dirty="0">
                <a:solidFill>
                  <a:srgbClr val="A78BFA"/>
                </a:solidFill>
                <a:latin typeface="Consolas" pitchFamily="34" charset="0"/>
                <a:ea typeface="Consolas" pitchFamily="34" charset="-122"/>
                <a:cs typeface="Consolas" pitchFamily="34" charset="-120"/>
              </a:rPr>
              <a:t>n5 = itof      n0</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n6 = mul       n5, n4</a:t>
            </a:r>
            <a:endParaRPr lang="en-US" sz="1600" dirty="0"/>
          </a:p>
          <a:p>
            <a:pPr indent="0" marL="0">
              <a:spcAft>
                <a:spcPts val="200"/>
              </a:spcAft>
              <a:buNone/>
            </a:pPr>
            <a:r>
              <a:rPr lang="en-US" sz="1300" dirty="0">
                <a:solidFill>
                  <a:srgbClr val="22D3EE"/>
                </a:solidFill>
                <a:latin typeface="Consolas" pitchFamily="34" charset="0"/>
                <a:ea typeface="Consolas" pitchFamily="34" charset="-122"/>
                <a:cs typeface="Consolas" pitchFamily="34" charset="-120"/>
              </a:rPr>
              <a:t>n7 = bind      n6     total</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300" dirty="0">
                <a:solidFill>
                  <a:srgbClr val="8E8E96"/>
                </a:solidFill>
                <a:latin typeface="Consolas" pitchFamily="34" charset="0"/>
                <a:ea typeface="Consolas" pitchFamily="34" charset="-122"/>
                <a:cs typeface="Consolas" pitchFamily="34" charset="-120"/>
              </a:rPr>
              <a:t>total → price, discount</a:t>
            </a:r>
            <a:endParaRPr lang="en-US" sz="1600" dirty="0"/>
          </a:p>
        </p:txBody>
      </p:sp>
      <p:sp>
        <p:nvSpPr>
          <p:cNvPr id="8" name="card-395"/>
          <p:cNvSpPr/>
          <p:nvPr/>
        </p:nvSpPr>
        <p:spPr>
          <a:xfrm>
            <a:off x="4983480" y="1371600"/>
            <a:ext cx="3246120" cy="4343400"/>
          </a:xfrm>
          <a:prstGeom prst="roundRect">
            <a:avLst>
              <a:gd name="adj" fmla="val 2254"/>
            </a:avLst>
          </a:prstGeom>
          <a:solidFill>
            <a:srgbClr val="121214"/>
          </a:solidFill>
          <a:ln w="12700">
            <a:solidFill>
              <a:srgbClr val="2B2B31"/>
            </a:solidFill>
            <a:prstDash val="solid"/>
          </a:ln>
        </p:spPr>
      </p:sp>
      <p:sp>
        <p:nvSpPr>
          <p:cNvPr id="9" name="text-396"/>
          <p:cNvSpPr txBox="1"/>
          <p:nvPr/>
        </p:nvSpPr>
        <p:spPr>
          <a:xfrm>
            <a:off x="5212080" y="1481328"/>
            <a:ext cx="2743200" cy="320040"/>
          </a:xfrm>
          <a:prstGeom prst="rect">
            <a:avLst/>
          </a:prstGeom>
          <a:noFill/>
          <a:ln/>
        </p:spPr>
        <p:txBody>
          <a:bodyPr wrap="square" lIns="0" tIns="0" rIns="0" bIns="0" rtlCol="0" anchor="t"/>
          <a:lstStyle/>
          <a:p>
            <a:pPr indent="0" marL="0">
              <a:buNone/>
            </a:pPr>
            <a:r>
              <a:rPr lang="en-US" sz="1700" b="1" dirty="0">
                <a:solidFill>
                  <a:srgbClr val="A78BFA"/>
                </a:solidFill>
                <a:latin typeface="Inter" pitchFamily="34" charset="0"/>
                <a:ea typeface="Inter" pitchFamily="34" charset="-122"/>
                <a:cs typeface="Inter" pitchFamily="34" charset="-120"/>
              </a:rPr>
              <a:t>Optimizer</a:t>
            </a:r>
            <a:endParaRPr lang="en-US" sz="1700" dirty="0"/>
          </a:p>
        </p:txBody>
      </p:sp>
      <p:sp>
        <p:nvSpPr>
          <p:cNvPr id="10" name="text-397"/>
          <p:cNvSpPr txBox="1"/>
          <p:nvPr/>
        </p:nvSpPr>
        <p:spPr>
          <a:xfrm>
            <a:off x="5212080" y="1874520"/>
            <a:ext cx="2834640" cy="2743200"/>
          </a:xfrm>
          <a:prstGeom prst="rect">
            <a:avLst/>
          </a:prstGeom>
          <a:noFill/>
          <a:ln/>
        </p:spPr>
        <p:txBody>
          <a:bodyPr wrap="square" lIns="0" tIns="0" rIns="0" bIns="0" rtlCol="0" anchor="t"/>
          <a:lstStyle/>
          <a:p>
            <a:pPr indent="0" marL="0">
              <a:spcAft>
                <a:spcPts val="400"/>
              </a:spcAft>
              <a:buNone/>
            </a:pPr>
            <a:r>
              <a:rPr lang="en-US" sz="1400" b="1" dirty="0">
                <a:solidFill>
                  <a:srgbClr val="2DD4BF"/>
                </a:solidFill>
                <a:latin typeface="Inter" pitchFamily="34" charset="0"/>
                <a:ea typeface="Inter" pitchFamily="34" charset="-122"/>
                <a:cs typeface="Inter" pitchFamily="34" charset="-120"/>
              </a:rPr>
              <a:t>Allowed</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fold constants that cannot fail</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merge duplicates in one binding</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remove dead constants</a:t>
            </a:r>
            <a:endParaRPr lang="en-US" sz="1400" dirty="0"/>
          </a:p>
          <a:p>
            <a:pPr indent="0" marL="0">
              <a:spcAft>
                <a:spcPts val="400"/>
              </a:spcAft>
              <a:buNone/>
            </a:pPr>
            <a:r>
              <a:rPr lang="en-US" sz="600" dirty="0">
                <a:solidFill>
                  <a:srgbClr val="ECECEE"/>
                </a:solidFill>
                <a:latin typeface="Inter" pitchFamily="34" charset="0"/>
                <a:ea typeface="Inter" pitchFamily="34" charset="-122"/>
                <a:cs typeface="Inter" pitchFamily="34" charset="-120"/>
              </a:rPr>
              <a:t> </a:t>
            </a:r>
            <a:endParaRPr lang="en-US" sz="1400" dirty="0"/>
          </a:p>
          <a:p>
            <a:pPr indent="0" marL="0">
              <a:spcAft>
                <a:spcPts val="400"/>
              </a:spcAft>
              <a:buNone/>
            </a:pPr>
            <a:r>
              <a:rPr lang="en-US" sz="1400" b="1" dirty="0">
                <a:solidFill>
                  <a:srgbClr val="F87171"/>
                </a:solidFill>
                <a:latin typeface="Inter" pitchFamily="34" charset="0"/>
                <a:ea typeface="Inter" pitchFamily="34" charset="-122"/>
                <a:cs typeface="Inter" pitchFamily="34" charset="-120"/>
              </a:rPr>
              <a:t>Never</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drop an input or binding</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remove a reference to a binding</a:t>
            </a:r>
            <a:endParaRPr lang="en-US" sz="1400" dirty="0"/>
          </a:p>
          <a:p>
            <a:pPr marL="342900" indent="-342900">
              <a:spcAft>
                <a:spcPts val="400"/>
              </a:spcAft>
              <a:buSzPct val="100000"/>
              <a:buChar char="•"/>
            </a:pPr>
            <a:r>
              <a:rPr lang="en-US" sz="1400" dirty="0">
                <a:solidFill>
                  <a:srgbClr val="ECECEE"/>
                </a:solidFill>
                <a:latin typeface="Inter" pitchFamily="34" charset="0"/>
                <a:ea typeface="Inter" pitchFamily="34" charset="-122"/>
                <a:cs typeface="Inter" pitchFamily="34" charset="-120"/>
              </a:rPr>
              <a:t>fold 1 / 0 or an overflow</a:t>
            </a:r>
            <a:endParaRPr lang="en-US" sz="1400" dirty="0"/>
          </a:p>
        </p:txBody>
      </p:sp>
      <p:sp>
        <p:nvSpPr>
          <p:cNvPr id="11" name="text-398"/>
          <p:cNvSpPr txBox="1"/>
          <p:nvPr/>
        </p:nvSpPr>
        <p:spPr>
          <a:xfrm>
            <a:off x="5212080" y="5212080"/>
            <a:ext cx="2834640" cy="36576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pricing.cau: 30 → 28 nodes</a:t>
            </a:r>
            <a:endParaRPr lang="en-US" sz="1300" dirty="0"/>
          </a:p>
        </p:txBody>
      </p:sp>
      <p:sp>
        <p:nvSpPr>
          <p:cNvPr id="12" name="panel-399"/>
          <p:cNvSpPr/>
          <p:nvPr/>
        </p:nvSpPr>
        <p:spPr>
          <a:xfrm>
            <a:off x="8458200" y="1371600"/>
            <a:ext cx="3182112" cy="4343400"/>
          </a:xfrm>
          <a:prstGeom prst="roundRect">
            <a:avLst>
              <a:gd name="adj" fmla="val 2299"/>
            </a:avLst>
          </a:prstGeom>
          <a:solidFill>
            <a:srgbClr val="121214"/>
          </a:solidFill>
          <a:ln w="19050">
            <a:solidFill>
              <a:srgbClr val="FB923C"/>
            </a:solidFill>
            <a:prstDash val="solid"/>
          </a:ln>
        </p:spPr>
      </p:sp>
      <p:sp>
        <p:nvSpPr>
          <p:cNvPr id="13" name="text-400"/>
          <p:cNvSpPr txBox="1"/>
          <p:nvPr/>
        </p:nvSpPr>
        <p:spPr>
          <a:xfrm>
            <a:off x="8686800" y="1481328"/>
            <a:ext cx="2743200" cy="320040"/>
          </a:xfrm>
          <a:prstGeom prst="rect">
            <a:avLst/>
          </a:prstGeom>
          <a:noFill/>
          <a:ln/>
        </p:spPr>
        <p:txBody>
          <a:bodyPr wrap="square" lIns="0" tIns="0" rIns="0" bIns="0" rtlCol="0" anchor="t"/>
          <a:lstStyle/>
          <a:p>
            <a:pPr indent="0" marL="0">
              <a:buNone/>
            </a:pPr>
            <a:r>
              <a:rPr lang="en-US" sz="1700" b="1" dirty="0">
                <a:solidFill>
                  <a:srgbClr val="FB923C"/>
                </a:solidFill>
                <a:latin typeface="Inter" pitchFamily="34" charset="0"/>
                <a:ea typeface="Inter" pitchFamily="34" charset="-122"/>
                <a:cs typeface="Inter" pitchFamily="34" charset="-120"/>
              </a:rPr>
              <a:t>Design invariant</a:t>
            </a:r>
            <a:endParaRPr lang="en-US" sz="1700" dirty="0"/>
          </a:p>
        </p:txBody>
      </p:sp>
      <p:sp>
        <p:nvSpPr>
          <p:cNvPr id="14" name="text-401"/>
          <p:cNvSpPr txBox="1"/>
          <p:nvPr/>
        </p:nvSpPr>
        <p:spPr>
          <a:xfrm>
            <a:off x="8686800" y="1920240"/>
            <a:ext cx="2743200" cy="731520"/>
          </a:xfrm>
          <a:prstGeom prst="rect">
            <a:avLst/>
          </a:prstGeom>
          <a:noFill/>
          <a:ln/>
        </p:spPr>
        <p:txBody>
          <a:bodyPr wrap="square" lIns="0" tIns="0" rIns="0" bIns="0" rtlCol="0" anchor="t"/>
          <a:lstStyle/>
          <a:p>
            <a:pPr indent="0" marL="0">
              <a:buNone/>
            </a:pPr>
            <a:r>
              <a:rPr lang="en-US" sz="1400" b="1" dirty="0">
                <a:solidFill>
                  <a:srgbClr val="A78BFA"/>
                </a:solidFill>
                <a:latin typeface="Consolas" pitchFamily="34" charset="0"/>
                <a:ea typeface="Consolas" pitchFamily="34" charset="-122"/>
                <a:cs typeface="Consolas" pitchFamily="34" charset="-120"/>
              </a:rPr>
              <a:t>let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ECECEE"/>
                </a:solidFill>
                <a:latin typeface="Consolas" pitchFamily="34" charset="0"/>
                <a:ea typeface="Consolas" pitchFamily="34" charset="-122"/>
                <a:cs typeface="Consolas" pitchFamily="34" charset="-120"/>
              </a:rPr>
              <a:t>y</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22D3EE"/>
                </a:solidFill>
                <a:latin typeface="Consolas" pitchFamily="34" charset="0"/>
                <a:ea typeface="Consolas" pitchFamily="34" charset="-122"/>
                <a:cs typeface="Consolas" pitchFamily="34" charset="-120"/>
              </a:rPr>
              <a: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ECECEE"/>
                </a:solidFill>
                <a:latin typeface="Consolas" pitchFamily="34" charset="0"/>
                <a:ea typeface="Consolas" pitchFamily="34" charset="-122"/>
                <a:cs typeface="Consolas" pitchFamily="34" charset="-120"/>
              </a:rPr>
              <a:t>x</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22D3EE"/>
                </a:solidFill>
                <a:latin typeface="Consolas" pitchFamily="34" charset="0"/>
                <a:ea typeface="Consolas" pitchFamily="34" charset="-122"/>
                <a:cs typeface="Consolas" pitchFamily="34" charset="-120"/>
              </a:rPr>
              <a: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FB923C"/>
                </a:solidFill>
                <a:latin typeface="Consolas" pitchFamily="34" charset="0"/>
                <a:ea typeface="Consolas" pitchFamily="34" charset="-122"/>
                <a:cs typeface="Consolas" pitchFamily="34" charset="-120"/>
              </a:rPr>
              <a:t>0</a:t>
            </a:r>
            <a:endParaRPr lang="en-US" sz="1600" dirty="0"/>
          </a:p>
          <a:p>
            <a:pPr indent="0" marL="0">
              <a:buNone/>
            </a:pPr>
            <a:r>
              <a:rPr lang="en-US" sz="1400" b="1" dirty="0">
                <a:solidFill>
                  <a:srgbClr val="A78BFA"/>
                </a:solidFill>
                <a:latin typeface="Consolas" pitchFamily="34" charset="0"/>
                <a:ea typeface="Consolas" pitchFamily="34" charset="-122"/>
                <a:cs typeface="Consolas" pitchFamily="34" charset="-120"/>
              </a:rPr>
              <a:t>let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ECECEE"/>
                </a:solidFill>
                <a:latin typeface="Consolas" pitchFamily="34" charset="0"/>
                <a:ea typeface="Consolas" pitchFamily="34" charset="-122"/>
                <a:cs typeface="Consolas" pitchFamily="34" charset="-120"/>
              </a:rPr>
              <a:t>z</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22D3EE"/>
                </a:solidFill>
                <a:latin typeface="Consolas" pitchFamily="34" charset="0"/>
                <a:ea typeface="Consolas" pitchFamily="34" charset="-122"/>
                <a:cs typeface="Consolas" pitchFamily="34" charset="-120"/>
              </a:rPr>
              <a: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ECECEE"/>
                </a:solidFill>
                <a:latin typeface="Consolas" pitchFamily="34" charset="0"/>
                <a:ea typeface="Consolas" pitchFamily="34" charset="-122"/>
                <a:cs typeface="Consolas" pitchFamily="34" charset="-120"/>
              </a:rPr>
              <a:t>x</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22D3EE"/>
                </a:solidFill>
                <a:latin typeface="Consolas" pitchFamily="34" charset="0"/>
                <a:ea typeface="Consolas" pitchFamily="34" charset="-122"/>
                <a:cs typeface="Consolas" pitchFamily="34" charset="-120"/>
              </a:rPr>
              <a:t>-</a:t>
            </a:r>
            <a:pPr indent="0" marL="0">
              <a:buNone/>
            </a:pPr>
            <a:r>
              <a:rPr lang="en-US" sz="1400" dirty="0">
                <a:solidFill>
                  <a:srgbClr val="ECECEE"/>
                </a:solidFill>
                <a:latin typeface="Consolas" pitchFamily="34" charset="0"/>
                <a:ea typeface="Consolas" pitchFamily="34" charset="-122"/>
                <a:cs typeface="Consolas" pitchFamily="34" charset="-120"/>
              </a:rPr>
              <a:t> </a:t>
            </a:r>
            <a:pPr indent="0" marL="0">
              <a:buNone/>
            </a:pPr>
            <a:r>
              <a:rPr lang="en-US" sz="1400" dirty="0">
                <a:solidFill>
                  <a:srgbClr val="ECECEE"/>
                </a:solidFill>
                <a:latin typeface="Consolas" pitchFamily="34" charset="0"/>
                <a:ea typeface="Consolas" pitchFamily="34" charset="-122"/>
                <a:cs typeface="Consolas" pitchFamily="34" charset="-120"/>
              </a:rPr>
              <a:t>x</a:t>
            </a:r>
            <a:endParaRPr lang="en-US" sz="1600" dirty="0"/>
          </a:p>
        </p:txBody>
      </p:sp>
      <p:sp>
        <p:nvSpPr>
          <p:cNvPr id="15" name="text-402"/>
          <p:cNvSpPr txBox="1"/>
          <p:nvPr/>
        </p:nvSpPr>
        <p:spPr>
          <a:xfrm>
            <a:off x="8686800" y="2743200"/>
            <a:ext cx="2743200" cy="822960"/>
          </a:xfrm>
          <a:prstGeom prst="rect">
            <a:avLst/>
          </a:prstGeom>
          <a:noFill/>
          <a:ln/>
        </p:spPr>
        <p:txBody>
          <a:bodyPr wrap="square" lIns="0" tIns="0" rIns="0" bIns="0" rtlCol="0" anchor="t"/>
          <a:lstStyle/>
          <a:p>
            <a:pPr indent="0" marL="0">
              <a:buNone/>
            </a:pPr>
            <a:r>
              <a:rPr lang="en-US" sz="1400" dirty="0">
                <a:solidFill>
                  <a:srgbClr val="ECECEE"/>
                </a:solidFill>
                <a:latin typeface="Inter" pitchFamily="34" charset="0"/>
                <a:ea typeface="Inter" pitchFamily="34" charset="-122"/>
                <a:cs typeface="Inter" pitchFamily="34" charset="-120"/>
              </a:rPr>
              <a:t>A numeric simplifier would turn both into 0 and erase the edge to x.</a:t>
            </a:r>
            <a:endParaRPr lang="en-US" sz="1400" dirty="0"/>
          </a:p>
        </p:txBody>
      </p:sp>
      <p:sp>
        <p:nvSpPr>
          <p:cNvPr id="16" name="text-403"/>
          <p:cNvSpPr txBox="1"/>
          <p:nvPr/>
        </p:nvSpPr>
        <p:spPr>
          <a:xfrm>
            <a:off x="8686800" y="3611880"/>
            <a:ext cx="2743200" cy="274320"/>
          </a:xfrm>
          <a:prstGeom prst="rect">
            <a:avLst/>
          </a:prstGeom>
          <a:noFill/>
          <a:ln/>
        </p:spPr>
        <p:txBody>
          <a:bodyPr wrap="square" lIns="0" tIns="0" rIns="0" bIns="0" rtlCol="0" anchor="t"/>
          <a:lstStyle/>
          <a:p>
            <a:pPr indent="0" marL="0">
              <a:buNone/>
            </a:pPr>
            <a:r>
              <a:rPr lang="en-US" sz="1400" b="1" dirty="0">
                <a:solidFill>
                  <a:srgbClr val="ECECEE"/>
                </a:solidFill>
                <a:latin typeface="Inter" pitchFamily="34" charset="0"/>
                <a:ea typeface="Inter" pitchFamily="34" charset="-122"/>
                <a:cs typeface="Inter" pitchFamily="34" charset="-120"/>
              </a:rPr>
              <a:t>CAUSA keeps it:</a:t>
            </a:r>
            <a:endParaRPr lang="en-US" sz="1400" dirty="0"/>
          </a:p>
        </p:txBody>
      </p:sp>
      <p:sp>
        <p:nvSpPr>
          <p:cNvPr id="17" name="text-404"/>
          <p:cNvSpPr txBox="1"/>
          <p:nvPr/>
        </p:nvSpPr>
        <p:spPr>
          <a:xfrm>
            <a:off x="8686800" y="3931920"/>
            <a:ext cx="2743200" cy="868680"/>
          </a:xfrm>
          <a:prstGeom prst="rect">
            <a:avLst/>
          </a:prstGeom>
          <a:noFill/>
          <a:ln/>
        </p:spPr>
        <p:txBody>
          <a:bodyPr wrap="square" lIns="0" tIns="0" rIns="0" bIns="0" rtlCol="0" anchor="t"/>
          <a:lstStyle/>
          <a:p>
            <a:pPr indent="0" marL="0">
              <a:buNone/>
            </a:pPr>
            <a:r>
              <a:rPr lang="en-US" sz="1300" dirty="0">
                <a:solidFill>
                  <a:srgbClr val="86EFAC"/>
                </a:solidFill>
                <a:latin typeface="Consolas" pitchFamily="34" charset="0"/>
                <a:ea typeface="Consolas" pitchFamily="34" charset="-122"/>
                <a:cs typeface="Consolas" pitchFamily="34" charset="-120"/>
              </a:rPr>
              <a:t>y: let → x</a:t>
            </a:r>
            <a:endParaRPr lang="en-US" sz="1600" dirty="0"/>
          </a:p>
          <a:p>
            <a:pPr indent="0" marL="0">
              <a:buNone/>
            </a:pPr>
            <a:r>
              <a:rPr lang="en-US" sz="1300" dirty="0">
                <a:solidFill>
                  <a:srgbClr val="86EFAC"/>
                </a:solidFill>
                <a:latin typeface="Consolas" pitchFamily="34" charset="0"/>
                <a:ea typeface="Consolas" pitchFamily="34" charset="-122"/>
                <a:cs typeface="Consolas" pitchFamily="34" charset="-120"/>
              </a:rPr>
              <a:t>z: let → x</a:t>
            </a:r>
            <a:endParaRPr lang="en-US" sz="1600" dirty="0"/>
          </a:p>
          <a:p>
            <a:pPr indent="0" marL="0">
              <a:buNone/>
            </a:pPr>
            <a:r>
              <a:rPr lang="en-US" sz="1300" dirty="0">
                <a:solidFill>
                  <a:srgbClr val="8E8E96"/>
                </a:solidFill>
                <a:latin typeface="Consolas" pitchFamily="34" charset="0"/>
                <a:ea typeface="Consolas" pitchFamily="34" charset="-122"/>
                <a:cs typeface="Consolas" pitchFamily="34" charset="-120"/>
              </a:rPr>
              <a:t>optimizer: no changes</a:t>
            </a:r>
            <a:endParaRPr lang="en-US" sz="1600" dirty="0"/>
          </a:p>
        </p:txBody>
      </p:sp>
      <p:sp>
        <p:nvSpPr>
          <p:cNvPr id="18" name="text-405"/>
          <p:cNvSpPr txBox="1"/>
          <p:nvPr/>
        </p:nvSpPr>
        <p:spPr>
          <a:xfrm>
            <a:off x="8686800" y="5029200"/>
            <a:ext cx="2743200" cy="548640"/>
          </a:xfrm>
          <a:prstGeom prst="rect">
            <a:avLst/>
          </a:prstGeom>
          <a:noFill/>
          <a:ln/>
        </p:spPr>
        <p:txBody>
          <a:bodyPr wrap="square" lIns="0" tIns="0" rIns="0" bIns="0" rtlCol="0" anchor="t"/>
          <a:lstStyle/>
          <a:p>
            <a:pPr indent="0" marL="0">
              <a:buNone/>
            </a:pPr>
            <a:r>
              <a:rPr lang="en-US" sz="1100" dirty="0">
                <a:solidFill>
                  <a:srgbClr val="8E8E96"/>
                </a:solidFill>
                <a:latin typeface="Inter" pitchFamily="34" charset="0"/>
                <a:ea typeface="Inter" pitchFamily="34" charset="-122"/>
                <a:cs typeface="Inter" pitchFamily="34" charset="-120"/>
              </a:rPr>
              <a:t>Illustrates the invariant; checked by running the compiler.</a:t>
            </a:r>
            <a:endParaRPr lang="en-US" sz="1100" dirty="0"/>
          </a:p>
        </p:txBody>
      </p:sp>
      <p:sp>
        <p:nvSpPr>
          <p:cNvPr id="19" name="text-406"/>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500" b="1" dirty="0">
                <a:solidFill>
                  <a:srgbClr val="ECECEE"/>
                </a:solidFill>
                <a:latin typeface="Inter" pitchFamily="34" charset="0"/>
                <a:ea typeface="Inter" pitchFamily="34" charset="-122"/>
                <a:cs typeface="Inter" pitchFamily="34" charset="-120"/>
              </a:rPr>
              <a:t>After optimizing, the binding-level graph is re-derived and must equal the original.</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Code generation and the runtime</a:t>
            </a:r>
            <a:endParaRPr lang="en-US" sz="2800" dirty="0"/>
          </a:p>
        </p:txBody>
      </p:sp>
      <p:sp>
        <p:nvSpPr>
          <p:cNvPr id="3" name="text-407"/>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Internals and Studio</a:t>
            </a:r>
            <a:endParaRPr lang="en-US" sz="1000" dirty="0"/>
          </a:p>
        </p:txBody>
      </p:sp>
      <p:sp>
        <p:nvSpPr>
          <p:cNvPr id="5" name="panel-408"/>
          <p:cNvSpPr/>
          <p:nvPr/>
        </p:nvSpPr>
        <p:spPr>
          <a:xfrm>
            <a:off x="411480" y="1188720"/>
            <a:ext cx="11365992" cy="914400"/>
          </a:xfrm>
          <a:prstGeom prst="roundRect">
            <a:avLst>
              <a:gd name="adj" fmla="val 8000"/>
            </a:avLst>
          </a:prstGeom>
          <a:solidFill>
            <a:srgbClr val="121214"/>
          </a:solidFill>
          <a:ln w="12700">
            <a:solidFill>
              <a:srgbClr val="121214"/>
            </a:solidFill>
            <a:prstDash val="solid"/>
          </a:ln>
        </p:spPr>
      </p:sp>
      <p:sp>
        <p:nvSpPr>
          <p:cNvPr id="6" name="node-409"/>
          <p:cNvSpPr/>
          <p:nvPr/>
        </p:nvSpPr>
        <p:spPr>
          <a:xfrm>
            <a:off x="548640" y="1371600"/>
            <a:ext cx="1554480" cy="640080"/>
          </a:xfrm>
          <a:prstGeom prst="roundRect">
            <a:avLst>
              <a:gd name="adj" fmla="val 8571"/>
            </a:avLst>
          </a:prstGeom>
          <a:solidFill>
            <a:srgbClr val="1C1C21"/>
          </a:solidFill>
          <a:ln w="19050">
            <a:solidFill>
              <a:srgbClr val="22D3EE"/>
            </a:solidFill>
            <a:prstDash val="solid"/>
          </a:ln>
        </p:spPr>
      </p:sp>
      <p:sp>
        <p:nvSpPr>
          <p:cNvPr id="7" name="text-410"/>
          <p:cNvSpPr txBox="1"/>
          <p:nvPr/>
        </p:nvSpPr>
        <p:spPr>
          <a:xfrm>
            <a:off x="548640" y="1371600"/>
            <a:ext cx="1554480" cy="64008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CAUSA</a:t>
            </a:r>
            <a:endParaRPr lang="en-US" sz="1400" dirty="0"/>
          </a:p>
        </p:txBody>
      </p:sp>
      <p:sp>
        <p:nvSpPr>
          <p:cNvPr id="8" name="arrow-411"/>
          <p:cNvSpPr/>
          <p:nvPr/>
        </p:nvSpPr>
        <p:spPr>
          <a:xfrm>
            <a:off x="2139696" y="1691640"/>
            <a:ext cx="292608" cy="0"/>
          </a:xfrm>
          <a:prstGeom prst="line">
            <a:avLst/>
          </a:prstGeom>
          <a:noFill/>
          <a:ln w="19050">
            <a:solidFill>
              <a:srgbClr val="8E8E96"/>
            </a:solidFill>
            <a:prstDash val="solid"/>
            <a:tailEnd type="triangle"/>
          </a:ln>
        </p:spPr>
      </p:sp>
      <p:sp>
        <p:nvSpPr>
          <p:cNvPr id="9" name="node-412"/>
          <p:cNvSpPr/>
          <p:nvPr/>
        </p:nvSpPr>
        <p:spPr>
          <a:xfrm>
            <a:off x="2468880" y="1371600"/>
            <a:ext cx="1737360" cy="640080"/>
          </a:xfrm>
          <a:prstGeom prst="roundRect">
            <a:avLst>
              <a:gd name="adj" fmla="val 8571"/>
            </a:avLst>
          </a:prstGeom>
          <a:solidFill>
            <a:srgbClr val="1C1C21"/>
          </a:solidFill>
          <a:ln w="19050">
            <a:solidFill>
              <a:srgbClr val="2DD4BF"/>
            </a:solidFill>
            <a:prstDash val="solid"/>
          </a:ln>
        </p:spPr>
      </p:sp>
      <p:sp>
        <p:nvSpPr>
          <p:cNvPr id="10" name="text-413"/>
          <p:cNvSpPr txBox="1"/>
          <p:nvPr/>
        </p:nvSpPr>
        <p:spPr>
          <a:xfrm>
            <a:off x="2468880" y="1371600"/>
            <a:ext cx="1737360" cy="64008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C source</a:t>
            </a:r>
            <a:endParaRPr lang="en-US" sz="1400" dirty="0"/>
          </a:p>
        </p:txBody>
      </p:sp>
      <p:sp>
        <p:nvSpPr>
          <p:cNvPr id="11" name="arrow-414"/>
          <p:cNvSpPr/>
          <p:nvPr/>
        </p:nvSpPr>
        <p:spPr>
          <a:xfrm>
            <a:off x="4242816" y="1691640"/>
            <a:ext cx="292608" cy="0"/>
          </a:xfrm>
          <a:prstGeom prst="line">
            <a:avLst/>
          </a:prstGeom>
          <a:noFill/>
          <a:ln w="19050">
            <a:solidFill>
              <a:srgbClr val="8E8E96"/>
            </a:solidFill>
            <a:prstDash val="solid"/>
            <a:tailEnd type="triangle"/>
          </a:ln>
        </p:spPr>
      </p:sp>
      <p:sp>
        <p:nvSpPr>
          <p:cNvPr id="12" name="node-415"/>
          <p:cNvSpPr/>
          <p:nvPr/>
        </p:nvSpPr>
        <p:spPr>
          <a:xfrm>
            <a:off x="4572000" y="1371600"/>
            <a:ext cx="3108960" cy="640080"/>
          </a:xfrm>
          <a:prstGeom prst="roundRect">
            <a:avLst>
              <a:gd name="adj" fmla="val 8571"/>
            </a:avLst>
          </a:prstGeom>
          <a:solidFill>
            <a:srgbClr val="1C1C21"/>
          </a:solidFill>
          <a:ln w="19050">
            <a:solidFill>
              <a:srgbClr val="2DD4BF"/>
            </a:solidFill>
            <a:prstDash val="solid"/>
          </a:ln>
        </p:spPr>
      </p:sp>
      <p:sp>
        <p:nvSpPr>
          <p:cNvPr id="13" name="text-416"/>
          <p:cNvSpPr txBox="1"/>
          <p:nvPr/>
        </p:nvSpPr>
        <p:spPr>
          <a:xfrm>
            <a:off x="4572000" y="1371600"/>
            <a:ext cx="3108960" cy="64008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C runtime + system compiler</a:t>
            </a:r>
            <a:endParaRPr lang="en-US" sz="1400" dirty="0"/>
          </a:p>
        </p:txBody>
      </p:sp>
      <p:sp>
        <p:nvSpPr>
          <p:cNvPr id="14" name="arrow-417"/>
          <p:cNvSpPr/>
          <p:nvPr/>
        </p:nvSpPr>
        <p:spPr>
          <a:xfrm>
            <a:off x="7717536" y="1691640"/>
            <a:ext cx="292608" cy="0"/>
          </a:xfrm>
          <a:prstGeom prst="line">
            <a:avLst/>
          </a:prstGeom>
          <a:noFill/>
          <a:ln w="19050">
            <a:solidFill>
              <a:srgbClr val="8E8E96"/>
            </a:solidFill>
            <a:prstDash val="solid"/>
            <a:tailEnd type="triangle"/>
          </a:ln>
        </p:spPr>
      </p:sp>
      <p:sp>
        <p:nvSpPr>
          <p:cNvPr id="15" name="node-418"/>
          <p:cNvSpPr/>
          <p:nvPr/>
        </p:nvSpPr>
        <p:spPr>
          <a:xfrm>
            <a:off x="8046720" y="1371600"/>
            <a:ext cx="2103120" cy="640080"/>
          </a:xfrm>
          <a:prstGeom prst="roundRect">
            <a:avLst>
              <a:gd name="adj" fmla="val 8571"/>
            </a:avLst>
          </a:prstGeom>
          <a:solidFill>
            <a:srgbClr val="1C1C21"/>
          </a:solidFill>
          <a:ln w="19050">
            <a:solidFill>
              <a:srgbClr val="2DD4BF"/>
            </a:solidFill>
            <a:prstDash val="solid"/>
          </a:ln>
        </p:spPr>
      </p:sp>
      <p:sp>
        <p:nvSpPr>
          <p:cNvPr id="16" name="text-419"/>
          <p:cNvSpPr txBox="1"/>
          <p:nvPr/>
        </p:nvSpPr>
        <p:spPr>
          <a:xfrm>
            <a:off x="8046720" y="1371600"/>
            <a:ext cx="2103120" cy="64008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native executable</a:t>
            </a:r>
            <a:endParaRPr lang="en-US" sz="1400" dirty="0"/>
          </a:p>
        </p:txBody>
      </p:sp>
      <p:sp>
        <p:nvSpPr>
          <p:cNvPr id="17" name="panel-420"/>
          <p:cNvSpPr/>
          <p:nvPr/>
        </p:nvSpPr>
        <p:spPr>
          <a:xfrm>
            <a:off x="548640" y="2331720"/>
            <a:ext cx="6766560" cy="3429000"/>
          </a:xfrm>
          <a:prstGeom prst="roundRect">
            <a:avLst>
              <a:gd name="adj" fmla="val 2133"/>
            </a:avLst>
          </a:prstGeom>
          <a:solidFill>
            <a:srgbClr val="121214"/>
          </a:solidFill>
          <a:ln w="12700">
            <a:solidFill>
              <a:srgbClr val="121214"/>
            </a:solidFill>
            <a:prstDash val="solid"/>
          </a:ln>
        </p:spPr>
      </p:sp>
      <p:sp>
        <p:nvSpPr>
          <p:cNvPr id="18" name="text-421"/>
          <p:cNvSpPr txBox="1"/>
          <p:nvPr/>
        </p:nvSpPr>
        <p:spPr>
          <a:xfrm>
            <a:off x="777240" y="2468880"/>
            <a:ext cx="6309360" cy="274320"/>
          </a:xfrm>
          <a:prstGeom prst="rect">
            <a:avLst/>
          </a:prstGeom>
          <a:noFill/>
          <a:ln/>
        </p:spPr>
        <p:txBody>
          <a:bodyPr wrap="square" lIns="0" tIns="0" rIns="0" bIns="0" rtlCol="0" anchor="t"/>
          <a:lstStyle/>
          <a:p>
            <a:pPr indent="0" marL="0">
              <a:buNone/>
            </a:pPr>
            <a:r>
              <a:rPr lang="en-US" sz="1100" b="1" spc="100" kern="0" dirty="0">
                <a:solidFill>
                  <a:srgbClr val="8E8E96"/>
                </a:solidFill>
                <a:latin typeface="Inter" pitchFamily="34" charset="0"/>
                <a:ea typeface="Inter" pitchFamily="34" charset="-122"/>
                <a:cs typeface="Inter" pitchFamily="34" charset="-120"/>
              </a:rPr>
              <a:t>generated C (excerpt of pricing.c)</a:t>
            </a:r>
            <a:endParaRPr lang="en-US" sz="1100" dirty="0"/>
          </a:p>
        </p:txBody>
      </p:sp>
      <p:sp>
        <p:nvSpPr>
          <p:cNvPr id="19" name="text-422"/>
          <p:cNvSpPr txBox="1"/>
          <p:nvPr/>
        </p:nvSpPr>
        <p:spPr>
          <a:xfrm>
            <a:off x="777240" y="2788920"/>
            <a:ext cx="6309360" cy="2834640"/>
          </a:xfrm>
          <a:prstGeom prst="rect">
            <a:avLst/>
          </a:prstGeom>
          <a:noFill/>
          <a:ln/>
        </p:spPr>
        <p:txBody>
          <a:bodyPr wrap="square" lIns="0" tIns="0" rIns="0" bIns="0" rtlCol="0" anchor="t"/>
          <a:lstStyle/>
          <a:p>
            <a:pPr indent="0" marL="0">
              <a:spcAft>
                <a:spcPts val="200"/>
              </a:spcAft>
              <a:buNone/>
            </a:pPr>
            <a:r>
              <a:rPr lang="en-US" sz="1300" dirty="0">
                <a:solidFill>
                  <a:srgbClr val="8E8E96"/>
                </a:solidFill>
                <a:latin typeface="Consolas" pitchFamily="34" charset="0"/>
                <a:ea typeface="Consolas" pitchFamily="34" charset="-122"/>
                <a:cs typeface="Consolas" pitchFamily="34" charset="-120"/>
              </a:rPr>
              <a:t>case 6: /* n6 op mul @10:21 owner savings */</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return causa_check(</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causa_mul_f64(env[5].f, env[1].f, &amp;env[6].f),</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10, 21, err);</a:t>
            </a:r>
            <a:endParaRPr lang="en-US" sz="1600" dirty="0"/>
          </a:p>
          <a:p>
            <a:pPr indent="0" marL="0">
              <a:spcAft>
                <a:spcPts val="200"/>
              </a:spcAft>
              <a:buNone/>
            </a:pPr>
            <a:r>
              <a:rPr lang="en-US" sz="1300" dirty="0">
                <a:solidFill>
                  <a:srgbClr val="8E8E96"/>
                </a:solidFill>
                <a:latin typeface="Consolas" pitchFamily="34" charset="0"/>
                <a:ea typeface="Consolas" pitchFamily="34" charset="-122"/>
                <a:cs typeface="Consolas" pitchFamily="34" charset="-120"/>
              </a:rPr>
              <a:t>case 7: /* n7 bind savings: price * discount */</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env[7] = env[6];</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return CAUSA_OK;</a:t>
            </a:r>
            <a:endParaRPr lang="en-US" sz="1600" dirty="0"/>
          </a:p>
          <a:p>
            <a:pPr indent="0" marL="0">
              <a:spcAft>
                <a:spcPts val="200"/>
              </a:spcAft>
              <a:buNone/>
            </a:pPr>
            <a:r>
              <a:rPr lang="en-US" sz="1300" dirty="0">
                <a:solidFill>
                  <a:srgbClr val="ECECEE"/>
                </a:solidFill>
                <a:latin typeface="Consolas" pitchFamily="34" charset="0"/>
                <a:ea typeface="Consolas" pitchFamily="34" charset="-122"/>
                <a:cs typeface="Consolas" pitchFamily="34" charset="-120"/>
              </a:rPr>
              <a:t> </a:t>
            </a:r>
            <a:endParaRPr lang="en-US" sz="1600" dirty="0"/>
          </a:p>
          <a:p>
            <a:pPr indent="0" marL="0">
              <a:spcAft>
                <a:spcPts val="200"/>
              </a:spcAft>
              <a:buNone/>
            </a:pPr>
            <a:r>
              <a:rPr lang="en-US" sz="1300" dirty="0">
                <a:solidFill>
                  <a:srgbClr val="8E8E96"/>
                </a:solidFill>
                <a:latin typeface="Consolas" pitchFamily="34" charset="0"/>
                <a:ea typeface="Consolas" pitchFamily="34" charset="-122"/>
                <a:cs typeface="Consolas" pitchFamily="34" charset="-120"/>
              </a:rPr>
              <a:t>causa_configure(argc, argv);   /* --set NAME=VALUE */</a:t>
            </a:r>
            <a:endParaRPr lang="en-US" sz="1600" dirty="0"/>
          </a:p>
          <a:p>
            <a:pPr indent="0" marL="0">
              <a:spcAft>
                <a:spcPts val="200"/>
              </a:spcAft>
              <a:buNone/>
            </a:pPr>
            <a:r>
              <a:rPr lang="en-US" sz="1300" dirty="0">
                <a:solidFill>
                  <a:srgbClr val="22D3EE"/>
                </a:solidFill>
                <a:latin typeface="Consolas" pitchFamily="34" charset="0"/>
                <a:ea typeface="Consolas" pitchFamily="34" charset="-122"/>
                <a:cs typeface="Consolas" pitchFamily="34" charset="-120"/>
              </a:rPr>
              <a:t>causa_explain(env, CAUSA_BINDING_total);</a:t>
            </a:r>
            <a:endParaRPr lang="en-US" sz="1600" dirty="0"/>
          </a:p>
        </p:txBody>
      </p:sp>
      <p:sp>
        <p:nvSpPr>
          <p:cNvPr id="20" name="card-423"/>
          <p:cNvSpPr/>
          <p:nvPr/>
        </p:nvSpPr>
        <p:spPr>
          <a:xfrm>
            <a:off x="7589520" y="2331720"/>
            <a:ext cx="4050792" cy="1051560"/>
          </a:xfrm>
          <a:prstGeom prst="roundRect">
            <a:avLst>
              <a:gd name="adj" fmla="val 6957"/>
            </a:avLst>
          </a:prstGeom>
          <a:solidFill>
            <a:srgbClr val="121214"/>
          </a:solidFill>
          <a:ln w="12700">
            <a:solidFill>
              <a:srgbClr val="2B2B31"/>
            </a:solidFill>
            <a:prstDash val="solid"/>
          </a:ln>
        </p:spPr>
      </p:sp>
      <p:sp>
        <p:nvSpPr>
          <p:cNvPr id="21" name="text-424"/>
          <p:cNvSpPr txBox="1"/>
          <p:nvPr/>
        </p:nvSpPr>
        <p:spPr>
          <a:xfrm>
            <a:off x="7772400" y="2423160"/>
            <a:ext cx="3657600" cy="320040"/>
          </a:xfrm>
          <a:prstGeom prst="rect">
            <a:avLst/>
          </a:prstGeom>
          <a:noFill/>
          <a:ln/>
        </p:spPr>
        <p:txBody>
          <a:bodyPr wrap="square" lIns="0" tIns="0" rIns="0" bIns="0" rtlCol="0" anchor="t"/>
          <a:lstStyle/>
          <a:p>
            <a:pPr indent="0" marL="0">
              <a:buNone/>
            </a:pPr>
            <a:r>
              <a:rPr lang="en-US" sz="1600" b="1" dirty="0">
                <a:solidFill>
                  <a:srgbClr val="2DD4BF"/>
                </a:solidFill>
                <a:latin typeface="Inter" pitchFamily="34" charset="0"/>
                <a:ea typeface="Inter" pitchFamily="34" charset="-122"/>
                <a:cs typeface="Inter" pitchFamily="34" charset="-120"/>
              </a:rPr>
              <a:t>Checked arithmetic</a:t>
            </a:r>
            <a:endParaRPr lang="en-US" sz="1600" dirty="0"/>
          </a:p>
        </p:txBody>
      </p:sp>
      <p:sp>
        <p:nvSpPr>
          <p:cNvPr id="22" name="text-425"/>
          <p:cNvSpPr txBox="1"/>
          <p:nvPr/>
        </p:nvSpPr>
        <p:spPr>
          <a:xfrm>
            <a:off x="7772400" y="2770632"/>
            <a:ext cx="3703320" cy="59436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overflow detected before computing; R101–R103 report the operator’s line and column</a:t>
            </a:r>
            <a:endParaRPr lang="en-US" sz="1300" dirty="0"/>
          </a:p>
        </p:txBody>
      </p:sp>
      <p:sp>
        <p:nvSpPr>
          <p:cNvPr id="23" name="card-426"/>
          <p:cNvSpPr/>
          <p:nvPr/>
        </p:nvSpPr>
        <p:spPr>
          <a:xfrm>
            <a:off x="7589520" y="3502152"/>
            <a:ext cx="4050792" cy="1051560"/>
          </a:xfrm>
          <a:prstGeom prst="roundRect">
            <a:avLst>
              <a:gd name="adj" fmla="val 6957"/>
            </a:avLst>
          </a:prstGeom>
          <a:solidFill>
            <a:srgbClr val="121214"/>
          </a:solidFill>
          <a:ln w="12700">
            <a:solidFill>
              <a:srgbClr val="2B2B31"/>
            </a:solidFill>
            <a:prstDash val="solid"/>
          </a:ln>
        </p:spPr>
      </p:sp>
      <p:sp>
        <p:nvSpPr>
          <p:cNvPr id="24" name="text-427"/>
          <p:cNvSpPr txBox="1"/>
          <p:nvPr/>
        </p:nvSpPr>
        <p:spPr>
          <a:xfrm>
            <a:off x="7772400" y="3593592"/>
            <a:ext cx="3657600" cy="320040"/>
          </a:xfrm>
          <a:prstGeom prst="rect">
            <a:avLst/>
          </a:prstGeom>
          <a:noFill/>
          <a:ln/>
        </p:spPr>
        <p:txBody>
          <a:bodyPr wrap="square" lIns="0" tIns="0" rIns="0" bIns="0" rtlCol="0" anchor="t"/>
          <a:lstStyle/>
          <a:p>
            <a:pPr indent="0" marL="0">
              <a:buNone/>
            </a:pPr>
            <a:r>
              <a:rPr lang="en-US" sz="1600" b="1" dirty="0">
                <a:solidFill>
                  <a:srgbClr val="2DD4BF"/>
                </a:solidFill>
                <a:latin typeface="Inter" pitchFamily="34" charset="0"/>
                <a:ea typeface="Inter" pitchFamily="34" charset="-122"/>
                <a:cs typeface="Inter" pitchFamily="34" charset="-120"/>
              </a:rPr>
              <a:t>Exact floats</a:t>
            </a:r>
            <a:endParaRPr lang="en-US" sz="1600" dirty="0"/>
          </a:p>
        </p:txBody>
      </p:sp>
      <p:sp>
        <p:nvSpPr>
          <p:cNvPr id="25" name="text-428"/>
          <p:cNvSpPr txBox="1"/>
          <p:nvPr/>
        </p:nvSpPr>
        <p:spPr>
          <a:xfrm>
            <a:off x="7772400" y="3941064"/>
            <a:ext cx="3703320" cy="59436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literals emitted as hex floating constants; no decimal rounding in the C compiler</a:t>
            </a:r>
            <a:endParaRPr lang="en-US" sz="1300" dirty="0"/>
          </a:p>
        </p:txBody>
      </p:sp>
      <p:sp>
        <p:nvSpPr>
          <p:cNvPr id="26" name="card-429"/>
          <p:cNvSpPr/>
          <p:nvPr/>
        </p:nvSpPr>
        <p:spPr>
          <a:xfrm>
            <a:off x="7589520" y="4672584"/>
            <a:ext cx="4050792" cy="1051560"/>
          </a:xfrm>
          <a:prstGeom prst="roundRect">
            <a:avLst>
              <a:gd name="adj" fmla="val 6957"/>
            </a:avLst>
          </a:prstGeom>
          <a:solidFill>
            <a:srgbClr val="121214"/>
          </a:solidFill>
          <a:ln w="12700">
            <a:solidFill>
              <a:srgbClr val="2B2B31"/>
            </a:solidFill>
            <a:prstDash val="solid"/>
          </a:ln>
        </p:spPr>
      </p:sp>
      <p:sp>
        <p:nvSpPr>
          <p:cNvPr id="27" name="text-430"/>
          <p:cNvSpPr txBox="1"/>
          <p:nvPr/>
        </p:nvSpPr>
        <p:spPr>
          <a:xfrm>
            <a:off x="7772400" y="4764024"/>
            <a:ext cx="3657600" cy="320040"/>
          </a:xfrm>
          <a:prstGeom prst="rect">
            <a:avLst/>
          </a:prstGeom>
          <a:noFill/>
          <a:ln/>
        </p:spPr>
        <p:txBody>
          <a:bodyPr wrap="square" lIns="0" tIns="0" rIns="0" bIns="0" rtlCol="0" anchor="t"/>
          <a:lstStyle/>
          <a:p>
            <a:pPr indent="0" marL="0">
              <a:buNone/>
            </a:pPr>
            <a:r>
              <a:rPr lang="en-US" sz="1600" b="1" dirty="0">
                <a:solidFill>
                  <a:srgbClr val="2DD4BF"/>
                </a:solidFill>
                <a:latin typeface="Inter" pitchFamily="34" charset="0"/>
                <a:ea typeface="Inter" pitchFamily="34" charset="-122"/>
                <a:cs typeface="Inter" pitchFamily="34" charset="-120"/>
              </a:rPr>
              <a:t>Small runtime</a:t>
            </a:r>
            <a:endParaRPr lang="en-US" sz="1600" dirty="0"/>
          </a:p>
        </p:txBody>
      </p:sp>
      <p:sp>
        <p:nvSpPr>
          <p:cNvPr id="28" name="text-431"/>
          <p:cNvSpPr txBox="1"/>
          <p:nvPr/>
        </p:nvSpPr>
        <p:spPr>
          <a:xfrm>
            <a:off x="7772400" y="5111496"/>
            <a:ext cx="3703320" cy="59436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explain, impact, whatif, assert from metadata tables; standard C library only</a:t>
            </a:r>
            <a:endParaRPr lang="en-US" sz="1300" dirty="0"/>
          </a:p>
        </p:txBody>
      </p:sp>
      <p:sp>
        <p:nvSpPr>
          <p:cNvPr id="29" name="text-432"/>
          <p:cNvSpPr txBox="1"/>
          <p:nvPr/>
        </p:nvSpPr>
        <p:spPr>
          <a:xfrm>
            <a:off x="548640" y="5943600"/>
            <a:ext cx="11091672" cy="320040"/>
          </a:xfrm>
          <a:prstGeom prst="rect">
            <a:avLst/>
          </a:prstGeom>
          <a:noFill/>
          <a:ln/>
        </p:spPr>
        <p:txBody>
          <a:bodyPr wrap="square" lIns="0" tIns="0" rIns="0" bIns="0" rtlCol="0" anchor="t"/>
          <a:lstStyle/>
          <a:p>
            <a:pPr indent="0" marL="0">
              <a:buNone/>
            </a:pPr>
            <a:r>
              <a:rPr lang="en-US" sz="1200" dirty="0">
                <a:solidFill>
                  <a:srgbClr val="7C7C84"/>
                </a:solidFill>
                <a:latin typeface="Consolas" pitchFamily="34" charset="0"/>
                <a:ea typeface="Consolas" pitchFamily="34" charset="-122"/>
                <a:cs typeface="Consolas" pitchFamily="34" charset="-120"/>
              </a:rPr>
              <a:t>Build:  gcc -std=c99 -I causa/runtime pricing.c causa/runtime/causa_runtime.c -o pricing -lm</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CAUSA Studio: the desktop application</a:t>
            </a:r>
            <a:endParaRPr lang="en-US" sz="2800" dirty="0"/>
          </a:p>
        </p:txBody>
      </p:sp>
      <p:sp>
        <p:nvSpPr>
          <p:cNvPr id="3" name="text-43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Internals and Studio</a:t>
            </a:r>
            <a:endParaRPr lang="en-US" sz="1000" dirty="0"/>
          </a:p>
        </p:txBody>
      </p:sp>
      <p:pic>
        <p:nvPicPr>
          <p:cNvPr id="5" name="studio-screenshot" descr="CAUSA Studio window showing the pricing example: editor, console and dependency graph">    </p:cNvPr>
          <p:cNvPicPr>
            <a:picLocks noChangeAspect="1"/>
          </p:cNvPicPr>
          <p:nvPr/>
        </p:nvPicPr>
        <p:blipFill>
          <a:blip r:embed="rId1"/>
          <a:stretch>
            <a:fillRect/>
          </a:stretch>
        </p:blipFill>
        <p:spPr>
          <a:xfrm>
            <a:off x="548640" y="1325880"/>
            <a:ext cx="7223760" cy="4063365"/>
          </a:xfrm>
          <a:prstGeom prst="rect">
            <a:avLst/>
          </a:prstGeom>
        </p:spPr>
      </p:pic>
      <p:sp>
        <p:nvSpPr>
          <p:cNvPr id="6" name="callout-434"/>
          <p:cNvSpPr/>
          <p:nvPr/>
        </p:nvSpPr>
        <p:spPr>
          <a:xfrm>
            <a:off x="1648663" y="2620042"/>
            <a:ext cx="256032" cy="256032"/>
          </a:xfrm>
          <a:prstGeom prst="ellipse">
            <a:avLst/>
          </a:prstGeom>
          <a:solidFill>
            <a:srgbClr val="22D3EE"/>
          </a:solidFill>
          <a:ln w="12700">
            <a:solidFill>
              <a:srgbClr val="FFFFFF"/>
            </a:solidFill>
            <a:prstDash val="solid"/>
          </a:ln>
        </p:spPr>
      </p:sp>
      <p:sp>
        <p:nvSpPr>
          <p:cNvPr id="7" name="text-435"/>
          <p:cNvSpPr txBox="1"/>
          <p:nvPr/>
        </p:nvSpPr>
        <p:spPr>
          <a:xfrm>
            <a:off x="1648663" y="262004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8" name="callout-436"/>
          <p:cNvSpPr/>
          <p:nvPr/>
        </p:nvSpPr>
        <p:spPr>
          <a:xfrm>
            <a:off x="1648663" y="4367289"/>
            <a:ext cx="256032" cy="256032"/>
          </a:xfrm>
          <a:prstGeom prst="ellipse">
            <a:avLst/>
          </a:prstGeom>
          <a:solidFill>
            <a:srgbClr val="22D3EE"/>
          </a:solidFill>
          <a:ln w="12700">
            <a:solidFill>
              <a:srgbClr val="FFFFFF"/>
            </a:solidFill>
            <a:prstDash val="solid"/>
          </a:ln>
        </p:spPr>
      </p:sp>
      <p:sp>
        <p:nvSpPr>
          <p:cNvPr id="9" name="text-437"/>
          <p:cNvSpPr txBox="1"/>
          <p:nvPr/>
        </p:nvSpPr>
        <p:spPr>
          <a:xfrm>
            <a:off x="1648663" y="4367289"/>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0" name="callout-438"/>
          <p:cNvSpPr/>
          <p:nvPr/>
        </p:nvSpPr>
        <p:spPr>
          <a:xfrm>
            <a:off x="4899355" y="1848002"/>
            <a:ext cx="256032" cy="256032"/>
          </a:xfrm>
          <a:prstGeom prst="ellipse">
            <a:avLst/>
          </a:prstGeom>
          <a:solidFill>
            <a:srgbClr val="22D3EE"/>
          </a:solidFill>
          <a:ln w="12700">
            <a:solidFill>
              <a:srgbClr val="FFFFFF"/>
            </a:solidFill>
            <a:prstDash val="solid"/>
          </a:ln>
        </p:spPr>
      </p:sp>
      <p:sp>
        <p:nvSpPr>
          <p:cNvPr id="11" name="text-439"/>
          <p:cNvSpPr txBox="1"/>
          <p:nvPr/>
        </p:nvSpPr>
        <p:spPr>
          <a:xfrm>
            <a:off x="4899355" y="184800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2" name="callout-440"/>
          <p:cNvSpPr/>
          <p:nvPr/>
        </p:nvSpPr>
        <p:spPr>
          <a:xfrm>
            <a:off x="4754880" y="1421349"/>
            <a:ext cx="256032" cy="256032"/>
          </a:xfrm>
          <a:prstGeom prst="ellipse">
            <a:avLst/>
          </a:prstGeom>
          <a:solidFill>
            <a:srgbClr val="22D3EE"/>
          </a:solidFill>
          <a:ln w="12700">
            <a:solidFill>
              <a:srgbClr val="FFFFFF"/>
            </a:solidFill>
            <a:prstDash val="solid"/>
          </a:ln>
        </p:spPr>
      </p:sp>
      <p:sp>
        <p:nvSpPr>
          <p:cNvPr id="13" name="text-441"/>
          <p:cNvSpPr txBox="1"/>
          <p:nvPr/>
        </p:nvSpPr>
        <p:spPr>
          <a:xfrm>
            <a:off x="4754880" y="1421349"/>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14" name="callout-442"/>
          <p:cNvSpPr/>
          <p:nvPr/>
        </p:nvSpPr>
        <p:spPr>
          <a:xfrm>
            <a:off x="4899355" y="5159645"/>
            <a:ext cx="256032" cy="256032"/>
          </a:xfrm>
          <a:prstGeom prst="ellipse">
            <a:avLst/>
          </a:prstGeom>
          <a:solidFill>
            <a:srgbClr val="22D3EE"/>
          </a:solidFill>
          <a:ln w="12700">
            <a:solidFill>
              <a:srgbClr val="FFFFFF"/>
            </a:solidFill>
            <a:prstDash val="solid"/>
          </a:ln>
        </p:spPr>
      </p:sp>
      <p:sp>
        <p:nvSpPr>
          <p:cNvPr id="15" name="text-443"/>
          <p:cNvSpPr txBox="1"/>
          <p:nvPr/>
        </p:nvSpPr>
        <p:spPr>
          <a:xfrm>
            <a:off x="4899355" y="515964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pic>
        <p:nvPicPr>
          <p:cNvPr id="16" name="studio-whatif" descr="Studio What-if panel with price changed to 150">    </p:cNvPr>
          <p:cNvPicPr>
            <a:picLocks noChangeAspect="1"/>
          </p:cNvPicPr>
          <p:nvPr/>
        </p:nvPicPr>
        <p:blipFill>
          <a:blip r:embed="rId2"/>
          <a:stretch>
            <a:fillRect/>
          </a:stretch>
        </p:blipFill>
        <p:spPr>
          <a:xfrm>
            <a:off x="7982712" y="1325880"/>
            <a:ext cx="3657600" cy="1475125"/>
          </a:xfrm>
          <a:prstGeom prst="rect">
            <a:avLst/>
          </a:prstGeom>
        </p:spPr>
      </p:pic>
      <p:pic>
        <p:nvPicPr>
          <p:cNvPr id="17" name="studio-graph" descr="Studio dependency graph">    </p:cNvPr>
          <p:cNvPicPr>
            <a:picLocks noChangeAspect="1"/>
          </p:cNvPicPr>
          <p:nvPr/>
        </p:nvPicPr>
        <p:blipFill>
          <a:blip r:embed="rId3"/>
          <a:stretch>
            <a:fillRect/>
          </a:stretch>
        </p:blipFill>
        <p:spPr>
          <a:xfrm>
            <a:off x="7982712" y="2938165"/>
            <a:ext cx="3657600" cy="1039879"/>
          </a:xfrm>
          <a:prstGeom prst="rect">
            <a:avLst/>
          </a:prstGeom>
        </p:spPr>
      </p:pic>
      <p:pic>
        <p:nvPicPr>
          <p:cNvPr id="18" name="studio-console" descr="Studio console showing formatted impact and show output">    </p:cNvPr>
          <p:cNvPicPr>
            <a:picLocks noChangeAspect="1"/>
          </p:cNvPicPr>
          <p:nvPr/>
        </p:nvPicPr>
        <p:blipFill>
          <a:blip r:embed="rId4"/>
          <a:stretch>
            <a:fillRect/>
          </a:stretch>
        </p:blipFill>
        <p:spPr>
          <a:xfrm>
            <a:off x="7982712" y="4115204"/>
            <a:ext cx="2194560" cy="1384488"/>
          </a:xfrm>
          <a:prstGeom prst="rect">
            <a:avLst/>
          </a:prstGeom>
        </p:spPr>
      </p:pic>
      <p:sp>
        <p:nvSpPr>
          <p:cNvPr id="19" name="key-444"/>
          <p:cNvSpPr/>
          <p:nvPr/>
        </p:nvSpPr>
        <p:spPr>
          <a:xfrm>
            <a:off x="548640" y="5577840"/>
            <a:ext cx="219456" cy="219456"/>
          </a:xfrm>
          <a:prstGeom prst="ellipse">
            <a:avLst/>
          </a:prstGeom>
          <a:solidFill>
            <a:srgbClr val="22D3EE"/>
          </a:solidFill>
          <a:ln w="12700">
            <a:solidFill>
              <a:srgbClr val="22D3EE"/>
            </a:solidFill>
            <a:prstDash val="solid"/>
          </a:ln>
        </p:spPr>
      </p:sp>
      <p:sp>
        <p:nvSpPr>
          <p:cNvPr id="20" name="text-445"/>
          <p:cNvSpPr txBox="1"/>
          <p:nvPr/>
        </p:nvSpPr>
        <p:spPr>
          <a:xfrm>
            <a:off x="548640" y="55778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21" name="text-446"/>
          <p:cNvSpPr txBox="1"/>
          <p:nvPr/>
        </p:nvSpPr>
        <p:spPr>
          <a:xfrm>
            <a:off x="841248" y="5532120"/>
            <a:ext cx="1828800" cy="310896"/>
          </a:xfrm>
          <a:prstGeom prst="rect">
            <a:avLst/>
          </a:prstGeom>
          <a:noFill/>
          <a:ln/>
        </p:spPr>
        <p:txBody>
          <a:bodyPr wrap="square" lIns="0" tIns="0" rIns="0" bIns="0" rtlCol="0" anchor="ctr"/>
          <a:lstStyle/>
          <a:p>
            <a:pPr indent="0" marL="0">
              <a:buNone/>
            </a:pPr>
            <a:r>
              <a:rPr lang="en-US" sz="1300" dirty="0">
                <a:solidFill>
                  <a:srgbClr val="ECECEE"/>
                </a:solidFill>
                <a:latin typeface="Inter" pitchFamily="34" charset="0"/>
                <a:ea typeface="Inter" pitchFamily="34" charset="-122"/>
                <a:cs typeface="Inter" pitchFamily="34" charset="-120"/>
              </a:rPr>
              <a:t>Source editor</a:t>
            </a:r>
            <a:endParaRPr lang="en-US" sz="1300" dirty="0"/>
          </a:p>
        </p:txBody>
      </p:sp>
      <p:sp>
        <p:nvSpPr>
          <p:cNvPr id="22" name="key-447"/>
          <p:cNvSpPr/>
          <p:nvPr/>
        </p:nvSpPr>
        <p:spPr>
          <a:xfrm>
            <a:off x="2770632" y="5577840"/>
            <a:ext cx="219456" cy="219456"/>
          </a:xfrm>
          <a:prstGeom prst="ellipse">
            <a:avLst/>
          </a:prstGeom>
          <a:solidFill>
            <a:srgbClr val="22D3EE"/>
          </a:solidFill>
          <a:ln w="12700">
            <a:solidFill>
              <a:srgbClr val="22D3EE"/>
            </a:solidFill>
            <a:prstDash val="solid"/>
          </a:ln>
        </p:spPr>
      </p:sp>
      <p:sp>
        <p:nvSpPr>
          <p:cNvPr id="23" name="text-448"/>
          <p:cNvSpPr txBox="1"/>
          <p:nvPr/>
        </p:nvSpPr>
        <p:spPr>
          <a:xfrm>
            <a:off x="2770632" y="55778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24" name="text-449"/>
          <p:cNvSpPr txBox="1"/>
          <p:nvPr/>
        </p:nvSpPr>
        <p:spPr>
          <a:xfrm>
            <a:off x="3063240" y="5532120"/>
            <a:ext cx="1828800" cy="310896"/>
          </a:xfrm>
          <a:prstGeom prst="rect">
            <a:avLst/>
          </a:prstGeom>
          <a:noFill/>
          <a:ln/>
        </p:spPr>
        <p:txBody>
          <a:bodyPr wrap="square" lIns="0" tIns="0" rIns="0" bIns="0" rtlCol="0" anchor="ctr"/>
          <a:lstStyle/>
          <a:p>
            <a:pPr indent="0" marL="0">
              <a:buNone/>
            </a:pPr>
            <a:r>
              <a:rPr lang="en-US" sz="1300" dirty="0">
                <a:solidFill>
                  <a:srgbClr val="ECECEE"/>
                </a:solidFill>
                <a:latin typeface="Inter" pitchFamily="34" charset="0"/>
                <a:ea typeface="Inter" pitchFamily="34" charset="-122"/>
                <a:cs typeface="Inter" pitchFamily="34" charset="-120"/>
              </a:rPr>
              <a:t>Integrated console</a:t>
            </a:r>
            <a:endParaRPr lang="en-US" sz="1300" dirty="0"/>
          </a:p>
        </p:txBody>
      </p:sp>
      <p:sp>
        <p:nvSpPr>
          <p:cNvPr id="25" name="key-450"/>
          <p:cNvSpPr/>
          <p:nvPr/>
        </p:nvSpPr>
        <p:spPr>
          <a:xfrm>
            <a:off x="4992624" y="5577840"/>
            <a:ext cx="219456" cy="219456"/>
          </a:xfrm>
          <a:prstGeom prst="ellipse">
            <a:avLst/>
          </a:prstGeom>
          <a:solidFill>
            <a:srgbClr val="22D3EE"/>
          </a:solidFill>
          <a:ln w="12700">
            <a:solidFill>
              <a:srgbClr val="22D3EE"/>
            </a:solidFill>
            <a:prstDash val="solid"/>
          </a:ln>
        </p:spPr>
      </p:sp>
      <p:sp>
        <p:nvSpPr>
          <p:cNvPr id="26" name="text-451"/>
          <p:cNvSpPr txBox="1"/>
          <p:nvPr/>
        </p:nvSpPr>
        <p:spPr>
          <a:xfrm>
            <a:off x="4992624" y="55778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27" name="text-452"/>
          <p:cNvSpPr txBox="1"/>
          <p:nvPr/>
        </p:nvSpPr>
        <p:spPr>
          <a:xfrm>
            <a:off x="5285232" y="5532120"/>
            <a:ext cx="1828800" cy="310896"/>
          </a:xfrm>
          <a:prstGeom prst="rect">
            <a:avLst/>
          </a:prstGeom>
          <a:noFill/>
          <a:ln/>
        </p:spPr>
        <p:txBody>
          <a:bodyPr wrap="square" lIns="0" tIns="0" rIns="0" bIns="0" rtlCol="0" anchor="ctr"/>
          <a:lstStyle/>
          <a:p>
            <a:pPr indent="0" marL="0">
              <a:buNone/>
            </a:pPr>
            <a:r>
              <a:rPr lang="en-US" sz="1300" dirty="0">
                <a:solidFill>
                  <a:srgbClr val="ECECEE"/>
                </a:solidFill>
                <a:latin typeface="Inter" pitchFamily="34" charset="0"/>
                <a:ea typeface="Inter" pitchFamily="34" charset="-122"/>
                <a:cs typeface="Inter" pitchFamily="34" charset="-120"/>
              </a:rPr>
              <a:t>Dependency graph</a:t>
            </a:r>
            <a:endParaRPr lang="en-US" sz="1300" dirty="0"/>
          </a:p>
        </p:txBody>
      </p:sp>
      <p:sp>
        <p:nvSpPr>
          <p:cNvPr id="28" name="key-453"/>
          <p:cNvSpPr/>
          <p:nvPr/>
        </p:nvSpPr>
        <p:spPr>
          <a:xfrm>
            <a:off x="7214616" y="5577840"/>
            <a:ext cx="219456" cy="219456"/>
          </a:xfrm>
          <a:prstGeom prst="ellipse">
            <a:avLst/>
          </a:prstGeom>
          <a:solidFill>
            <a:srgbClr val="22D3EE"/>
          </a:solidFill>
          <a:ln w="12700">
            <a:solidFill>
              <a:srgbClr val="22D3EE"/>
            </a:solidFill>
            <a:prstDash val="solid"/>
          </a:ln>
        </p:spPr>
      </p:sp>
      <p:sp>
        <p:nvSpPr>
          <p:cNvPr id="29" name="text-454"/>
          <p:cNvSpPr txBox="1"/>
          <p:nvPr/>
        </p:nvSpPr>
        <p:spPr>
          <a:xfrm>
            <a:off x="7214616" y="55778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30" name="text-455"/>
          <p:cNvSpPr txBox="1"/>
          <p:nvPr/>
        </p:nvSpPr>
        <p:spPr>
          <a:xfrm>
            <a:off x="7507224" y="5532120"/>
            <a:ext cx="1828800" cy="310896"/>
          </a:xfrm>
          <a:prstGeom prst="rect">
            <a:avLst/>
          </a:prstGeom>
          <a:noFill/>
          <a:ln/>
        </p:spPr>
        <p:txBody>
          <a:bodyPr wrap="square" lIns="0" tIns="0" rIns="0" bIns="0" rtlCol="0" anchor="ctr"/>
          <a:lstStyle/>
          <a:p>
            <a:pPr indent="0" marL="0">
              <a:buNone/>
            </a:pPr>
            <a:r>
              <a:rPr lang="en-US" sz="1300" dirty="0">
                <a:solidFill>
                  <a:srgbClr val="ECECEE"/>
                </a:solidFill>
                <a:latin typeface="Inter" pitchFamily="34" charset="0"/>
                <a:ea typeface="Inter" pitchFamily="34" charset="-122"/>
                <a:cs typeface="Inter" pitchFamily="34" charset="-120"/>
              </a:rPr>
              <a:t>Analysis tabs</a:t>
            </a:r>
            <a:endParaRPr lang="en-US" sz="1300" dirty="0"/>
          </a:p>
        </p:txBody>
      </p:sp>
      <p:sp>
        <p:nvSpPr>
          <p:cNvPr id="31" name="key-456"/>
          <p:cNvSpPr/>
          <p:nvPr/>
        </p:nvSpPr>
        <p:spPr>
          <a:xfrm>
            <a:off x="9436608" y="5577840"/>
            <a:ext cx="219456" cy="219456"/>
          </a:xfrm>
          <a:prstGeom prst="ellipse">
            <a:avLst/>
          </a:prstGeom>
          <a:solidFill>
            <a:srgbClr val="22D3EE"/>
          </a:solidFill>
          <a:ln w="12700">
            <a:solidFill>
              <a:srgbClr val="22D3EE"/>
            </a:solidFill>
            <a:prstDash val="solid"/>
          </a:ln>
        </p:spPr>
      </p:sp>
      <p:sp>
        <p:nvSpPr>
          <p:cNvPr id="32" name="text-457"/>
          <p:cNvSpPr txBox="1"/>
          <p:nvPr/>
        </p:nvSpPr>
        <p:spPr>
          <a:xfrm>
            <a:off x="9436608" y="55778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5</a:t>
            </a:r>
            <a:endParaRPr lang="en-US" sz="1000" dirty="0"/>
          </a:p>
        </p:txBody>
      </p:sp>
      <p:sp>
        <p:nvSpPr>
          <p:cNvPr id="33" name="text-458"/>
          <p:cNvSpPr txBox="1"/>
          <p:nvPr/>
        </p:nvSpPr>
        <p:spPr>
          <a:xfrm>
            <a:off x="9729216" y="5532120"/>
            <a:ext cx="1828800" cy="310896"/>
          </a:xfrm>
          <a:prstGeom prst="rect">
            <a:avLst/>
          </a:prstGeom>
          <a:noFill/>
          <a:ln/>
        </p:spPr>
        <p:txBody>
          <a:bodyPr wrap="square" lIns="0" tIns="0" rIns="0" bIns="0" rtlCol="0" anchor="ctr"/>
          <a:lstStyle/>
          <a:p>
            <a:pPr indent="0" marL="0">
              <a:buNone/>
            </a:pPr>
            <a:r>
              <a:rPr lang="en-US" sz="1300" dirty="0">
                <a:solidFill>
                  <a:srgbClr val="ECECEE"/>
                </a:solidFill>
                <a:latin typeface="Inter" pitchFamily="34" charset="0"/>
                <a:ea typeface="Inter" pitchFamily="34" charset="-122"/>
                <a:cs typeface="Inter" pitchFamily="34" charset="-120"/>
              </a:rPr>
              <a:t>Build / runtime status</a:t>
            </a:r>
            <a:endParaRPr lang="en-US" sz="1300" dirty="0"/>
          </a:p>
        </p:txBody>
      </p:sp>
      <p:sp>
        <p:nvSpPr>
          <p:cNvPr id="34" name="text-459"/>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100" dirty="0">
                <a:solidFill>
                  <a:srgbClr val="8E8E96"/>
                </a:solidFill>
                <a:latin typeface="Inter" pitchFamily="34" charset="0"/>
                <a:ea typeface="Inter" pitchFamily="34" charset="-122"/>
                <a:cs typeface="Inter" pitchFamily="34" charset="-120"/>
              </a:rPr>
              <a:t>Real application screenshots, captured by presentation/capture_studio.py (Linux, Xvfb, Python 3.12). Pricing example: 5 inputs · 6 lets · 11 edges.</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Testing and validation</a:t>
            </a:r>
            <a:endParaRPr lang="en-US" sz="2800" dirty="0"/>
          </a:p>
        </p:txBody>
      </p:sp>
      <p:sp>
        <p:nvSpPr>
          <p:cNvPr id="3" name="text-46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Evaluation</a:t>
            </a:r>
            <a:endParaRPr lang="en-US" sz="1000" dirty="0"/>
          </a:p>
        </p:txBody>
      </p:sp>
      <p:sp>
        <p:nvSpPr>
          <p:cNvPr id="5" name="card-461"/>
          <p:cNvSpPr/>
          <p:nvPr/>
        </p:nvSpPr>
        <p:spPr>
          <a:xfrm>
            <a:off x="548640" y="1371600"/>
            <a:ext cx="4937760" cy="4297680"/>
          </a:xfrm>
          <a:prstGeom prst="roundRect">
            <a:avLst>
              <a:gd name="adj" fmla="val 1702"/>
            </a:avLst>
          </a:prstGeom>
          <a:solidFill>
            <a:srgbClr val="121214"/>
          </a:solidFill>
          <a:ln w="19050">
            <a:solidFill>
              <a:srgbClr val="22D3EE"/>
            </a:solidFill>
            <a:prstDash val="solid"/>
          </a:ln>
        </p:spPr>
      </p:sp>
      <p:sp>
        <p:nvSpPr>
          <p:cNvPr id="6" name="text-462"/>
          <p:cNvSpPr txBox="1"/>
          <p:nvPr/>
        </p:nvSpPr>
        <p:spPr>
          <a:xfrm>
            <a:off x="822960" y="1463040"/>
            <a:ext cx="4389120" cy="1737360"/>
          </a:xfrm>
          <a:prstGeom prst="rect">
            <a:avLst/>
          </a:prstGeom>
          <a:noFill/>
          <a:ln/>
        </p:spPr>
        <p:txBody>
          <a:bodyPr wrap="square" lIns="0" tIns="0" rIns="0" bIns="0" rtlCol="0" anchor="ctr"/>
          <a:lstStyle/>
          <a:p>
            <a:pPr indent="0" marL="0">
              <a:buNone/>
            </a:pPr>
            <a:r>
              <a:rPr lang="en-US" sz="11000" b="1" dirty="0">
                <a:solidFill>
                  <a:srgbClr val="22D3EE"/>
                </a:solidFill>
                <a:latin typeface="Inter" pitchFamily="34" charset="0"/>
                <a:ea typeface="Inter" pitchFamily="34" charset="-122"/>
                <a:cs typeface="Inter" pitchFamily="34" charset="-120"/>
              </a:rPr>
              <a:t>205</a:t>
            </a:r>
            <a:endParaRPr lang="en-US" sz="11000" dirty="0"/>
          </a:p>
        </p:txBody>
      </p:sp>
      <p:sp>
        <p:nvSpPr>
          <p:cNvPr id="7" name="text-463"/>
          <p:cNvSpPr txBox="1"/>
          <p:nvPr/>
        </p:nvSpPr>
        <p:spPr>
          <a:xfrm>
            <a:off x="822960" y="3246120"/>
            <a:ext cx="4389120" cy="457200"/>
          </a:xfrm>
          <a:prstGeom prst="rect">
            <a:avLst/>
          </a:prstGeom>
          <a:noFill/>
          <a:ln/>
        </p:spPr>
        <p:txBody>
          <a:bodyPr wrap="square" lIns="0" tIns="0" rIns="0" bIns="0" rtlCol="0" anchor="t"/>
          <a:lstStyle/>
          <a:p>
            <a:pPr indent="0" marL="0">
              <a:buNone/>
            </a:pPr>
            <a:r>
              <a:rPr lang="en-US" sz="2200" b="1" dirty="0">
                <a:solidFill>
                  <a:srgbClr val="ECECEE"/>
                </a:solidFill>
                <a:latin typeface="Inter" pitchFamily="34" charset="0"/>
                <a:ea typeface="Inter" pitchFamily="34" charset="-122"/>
                <a:cs typeface="Inter" pitchFamily="34" charset="-120"/>
              </a:rPr>
              <a:t>automated tests passed</a:t>
            </a:r>
            <a:endParaRPr lang="en-US" sz="2200" dirty="0"/>
          </a:p>
        </p:txBody>
      </p:sp>
      <p:sp>
        <p:nvSpPr>
          <p:cNvPr id="8" name="text-464"/>
          <p:cNvSpPr txBox="1"/>
          <p:nvPr/>
        </p:nvSpPr>
        <p:spPr>
          <a:xfrm>
            <a:off x="822960" y="3749040"/>
            <a:ext cx="4389120" cy="365760"/>
          </a:xfrm>
          <a:prstGeom prst="rect">
            <a:avLst/>
          </a:prstGeom>
          <a:noFill/>
          <a:ln/>
        </p:spPr>
        <p:txBody>
          <a:bodyPr wrap="square" lIns="0" tIns="0" rIns="0" bIns="0" rtlCol="0" anchor="t"/>
          <a:lstStyle/>
          <a:p>
            <a:pPr indent="0" marL="0">
              <a:buNone/>
            </a:pPr>
            <a:r>
              <a:rPr lang="en-US" sz="1600" dirty="0">
                <a:solidFill>
                  <a:srgbClr val="8E8E96"/>
                </a:solidFill>
                <a:latin typeface="Inter" pitchFamily="34" charset="0"/>
                <a:ea typeface="Inter" pitchFamily="34" charset="-122"/>
                <a:cs typeface="Inter" pitchFamily="34" charset="-120"/>
              </a:rPr>
              <a:t>0 skipped · recorded full run</a:t>
            </a:r>
            <a:endParaRPr lang="en-US" sz="1600" dirty="0"/>
          </a:p>
        </p:txBody>
      </p:sp>
      <p:sp>
        <p:nvSpPr>
          <p:cNvPr id="9" name="text-465"/>
          <p:cNvSpPr txBox="1"/>
          <p:nvPr/>
        </p:nvSpPr>
        <p:spPr>
          <a:xfrm>
            <a:off x="822960" y="4206240"/>
            <a:ext cx="4389120" cy="54864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Windows 11 · Python 3.11.9 · MSYS2 UCRT64 GCC 16.1.0</a:t>
            </a:r>
            <a:endParaRPr lang="en-US" sz="1300" dirty="0"/>
          </a:p>
        </p:txBody>
      </p:sp>
      <p:sp>
        <p:nvSpPr>
          <p:cNvPr id="10" name="text-466"/>
          <p:cNvSpPr txBox="1"/>
          <p:nvPr/>
        </p:nvSpPr>
        <p:spPr>
          <a:xfrm>
            <a:off x="822960" y="4892040"/>
            <a:ext cx="4389120" cy="640080"/>
          </a:xfrm>
          <a:prstGeom prst="rect">
            <a:avLst/>
          </a:prstGeom>
          <a:noFill/>
          <a:ln/>
        </p:spPr>
        <p:txBody>
          <a:bodyPr wrap="square" lIns="0" tIns="0" rIns="0" bIns="0" rtlCol="0" anchor="t"/>
          <a:lstStyle/>
          <a:p>
            <a:pPr indent="0" marL="0">
              <a:buNone/>
            </a:pPr>
            <a:r>
              <a:rPr lang="en-US" sz="1300" dirty="0">
                <a:solidFill>
                  <a:srgbClr val="ECECEE"/>
                </a:solidFill>
                <a:latin typeface="Inter" pitchFamily="34" charset="0"/>
                <a:ea typeface="Inter" pitchFamily="34" charset="-122"/>
                <a:cs typeface="Inter" pitchFamily="34" charset="-120"/>
              </a:rPr>
              <a:t>Current main has 257 tests: these 205 plus 52 Studio tests.</a:t>
            </a:r>
            <a:endParaRPr lang="en-US" sz="1300" dirty="0"/>
          </a:p>
        </p:txBody>
      </p:sp>
      <p:sp>
        <p:nvSpPr>
          <p:cNvPr id="11" name="card-467"/>
          <p:cNvSpPr/>
          <p:nvPr/>
        </p:nvSpPr>
        <p:spPr>
          <a:xfrm>
            <a:off x="5760720" y="1371600"/>
            <a:ext cx="2834640" cy="2057400"/>
          </a:xfrm>
          <a:prstGeom prst="roundRect">
            <a:avLst>
              <a:gd name="adj" fmla="val 3556"/>
            </a:avLst>
          </a:prstGeom>
          <a:solidFill>
            <a:srgbClr val="121214"/>
          </a:solidFill>
          <a:ln w="12700">
            <a:solidFill>
              <a:srgbClr val="2B2B31"/>
            </a:solidFill>
            <a:prstDash val="solid"/>
          </a:ln>
        </p:spPr>
      </p:sp>
      <p:sp>
        <p:nvSpPr>
          <p:cNvPr id="12" name="text-468"/>
          <p:cNvSpPr txBox="1"/>
          <p:nvPr/>
        </p:nvSpPr>
        <p:spPr>
          <a:xfrm>
            <a:off x="5961888" y="1536192"/>
            <a:ext cx="2468880" cy="411480"/>
          </a:xfrm>
          <a:prstGeom prst="rect">
            <a:avLst/>
          </a:prstGeom>
          <a:noFill/>
          <a:ln/>
        </p:spPr>
        <p:txBody>
          <a:bodyPr wrap="square" lIns="0" tIns="0" rIns="0" bIns="0" rtlCol="0" anchor="t"/>
          <a:lstStyle/>
          <a:p>
            <a:pPr indent="0" marL="0">
              <a:buNone/>
            </a:pPr>
            <a:r>
              <a:rPr lang="en-US" sz="2000" b="1" dirty="0">
                <a:solidFill>
                  <a:srgbClr val="A78BFA"/>
                </a:solidFill>
                <a:latin typeface="Inter" pitchFamily="34" charset="0"/>
                <a:ea typeface="Inter" pitchFamily="34" charset="-122"/>
                <a:cs typeface="Inter" pitchFamily="34" charset="-120"/>
              </a:rPr>
              <a:t>Strict C99</a:t>
            </a:r>
            <a:endParaRPr lang="en-US" sz="2000" dirty="0"/>
          </a:p>
        </p:txBody>
      </p:sp>
      <p:sp>
        <p:nvSpPr>
          <p:cNvPr id="13" name="text-469"/>
          <p:cNvSpPr txBox="1"/>
          <p:nvPr/>
        </p:nvSpPr>
        <p:spPr>
          <a:xfrm>
            <a:off x="5961888" y="2029968"/>
            <a:ext cx="2468880" cy="132588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Generated C compiles warning-free with -Wall -Wextra -Wpedantic -Werror (-O0 and -O2 on selected examples, fresh clone)</a:t>
            </a:r>
            <a:endParaRPr lang="en-US" sz="1300" dirty="0"/>
          </a:p>
        </p:txBody>
      </p:sp>
      <p:sp>
        <p:nvSpPr>
          <p:cNvPr id="14" name="card-470"/>
          <p:cNvSpPr/>
          <p:nvPr/>
        </p:nvSpPr>
        <p:spPr>
          <a:xfrm>
            <a:off x="8732520" y="1371600"/>
            <a:ext cx="2834640" cy="2057400"/>
          </a:xfrm>
          <a:prstGeom prst="roundRect">
            <a:avLst>
              <a:gd name="adj" fmla="val 3556"/>
            </a:avLst>
          </a:prstGeom>
          <a:solidFill>
            <a:srgbClr val="121214"/>
          </a:solidFill>
          <a:ln w="12700">
            <a:solidFill>
              <a:srgbClr val="2B2B31"/>
            </a:solidFill>
            <a:prstDash val="solid"/>
          </a:ln>
        </p:spPr>
      </p:sp>
      <p:sp>
        <p:nvSpPr>
          <p:cNvPr id="15" name="text-471"/>
          <p:cNvSpPr txBox="1"/>
          <p:nvPr/>
        </p:nvSpPr>
        <p:spPr>
          <a:xfrm>
            <a:off x="8933688" y="1536192"/>
            <a:ext cx="2468880" cy="411480"/>
          </a:xfrm>
          <a:prstGeom prst="rect">
            <a:avLst/>
          </a:prstGeom>
          <a:noFill/>
          <a:ln/>
        </p:spPr>
        <p:txBody>
          <a:bodyPr wrap="square" lIns="0" tIns="0" rIns="0" bIns="0" rtlCol="0" anchor="t"/>
          <a:lstStyle/>
          <a:p>
            <a:pPr indent="0" marL="0">
              <a:buNone/>
            </a:pPr>
            <a:r>
              <a:rPr lang="en-US" sz="2000" b="1" dirty="0">
                <a:solidFill>
                  <a:srgbClr val="22D3EE"/>
                </a:solidFill>
                <a:latin typeface="Inter" pitchFamily="34" charset="0"/>
                <a:ea typeface="Inter" pitchFamily="34" charset="-122"/>
                <a:cs typeface="Inter" pitchFamily="34" charset="-120"/>
              </a:rPr>
              <a:t>Byte-for-byte</a:t>
            </a:r>
            <a:endParaRPr lang="en-US" sz="2000" dirty="0"/>
          </a:p>
        </p:txBody>
      </p:sp>
      <p:sp>
        <p:nvSpPr>
          <p:cNvPr id="16" name="text-472"/>
          <p:cNvSpPr txBox="1"/>
          <p:nvPr/>
        </p:nvSpPr>
        <p:spPr>
          <a:xfrm>
            <a:off x="8933688" y="2029968"/>
            <a:ext cx="2468880" cy="132588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Runtime spec cases and every command in docs/demonstration.md compared exactly: stdout, stderr, exit status</a:t>
            </a:r>
            <a:endParaRPr lang="en-US" sz="1300" dirty="0"/>
          </a:p>
        </p:txBody>
      </p:sp>
      <p:sp>
        <p:nvSpPr>
          <p:cNvPr id="17" name="card-473"/>
          <p:cNvSpPr/>
          <p:nvPr/>
        </p:nvSpPr>
        <p:spPr>
          <a:xfrm>
            <a:off x="5760720" y="3566160"/>
            <a:ext cx="2834640" cy="2057400"/>
          </a:xfrm>
          <a:prstGeom prst="roundRect">
            <a:avLst>
              <a:gd name="adj" fmla="val 3556"/>
            </a:avLst>
          </a:prstGeom>
          <a:solidFill>
            <a:srgbClr val="121214"/>
          </a:solidFill>
          <a:ln w="12700">
            <a:solidFill>
              <a:srgbClr val="2B2B31"/>
            </a:solidFill>
            <a:prstDash val="solid"/>
          </a:ln>
        </p:spPr>
      </p:sp>
      <p:sp>
        <p:nvSpPr>
          <p:cNvPr id="18" name="text-474"/>
          <p:cNvSpPr txBox="1"/>
          <p:nvPr/>
        </p:nvSpPr>
        <p:spPr>
          <a:xfrm>
            <a:off x="5961888" y="3730752"/>
            <a:ext cx="2468880" cy="411480"/>
          </a:xfrm>
          <a:prstGeom prst="rect">
            <a:avLst/>
          </a:prstGeom>
          <a:noFill/>
          <a:ln/>
        </p:spPr>
        <p:txBody>
          <a:bodyPr wrap="square" lIns="0" tIns="0" rIns="0" bIns="0" rtlCol="0" anchor="t"/>
          <a:lstStyle/>
          <a:p>
            <a:pPr indent="0" marL="0">
              <a:buNone/>
            </a:pPr>
            <a:r>
              <a:rPr lang="en-US" sz="2000" b="1" dirty="0">
                <a:solidFill>
                  <a:srgbClr val="60A5FA"/>
                </a:solidFill>
                <a:latin typeface="Inter" pitchFamily="34" charset="0"/>
                <a:ea typeface="Inter" pitchFamily="34" charset="-122"/>
                <a:cs typeface="Inter" pitchFamily="34" charset="-120"/>
              </a:rPr>
              <a:t>35,000 floats</a:t>
            </a:r>
            <a:endParaRPr lang="en-US" sz="2000" dirty="0"/>
          </a:p>
        </p:txBody>
      </p:sp>
      <p:sp>
        <p:nvSpPr>
          <p:cNvPr id="19" name="text-475"/>
          <p:cNvSpPr txBox="1"/>
          <p:nvPr/>
        </p:nvSpPr>
        <p:spPr>
          <a:xfrm>
            <a:off x="5961888" y="4224528"/>
            <a:ext cx="2468880" cy="132588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Float formatting checked against Python’s repr on every test run</a:t>
            </a:r>
            <a:endParaRPr lang="en-US" sz="1300" dirty="0"/>
          </a:p>
        </p:txBody>
      </p:sp>
      <p:sp>
        <p:nvSpPr>
          <p:cNvPr id="20" name="card-476"/>
          <p:cNvSpPr/>
          <p:nvPr/>
        </p:nvSpPr>
        <p:spPr>
          <a:xfrm>
            <a:off x="8732520" y="3566160"/>
            <a:ext cx="2834640" cy="2057400"/>
          </a:xfrm>
          <a:prstGeom prst="roundRect">
            <a:avLst>
              <a:gd name="adj" fmla="val 3556"/>
            </a:avLst>
          </a:prstGeom>
          <a:solidFill>
            <a:srgbClr val="121214"/>
          </a:solidFill>
          <a:ln w="12700">
            <a:solidFill>
              <a:srgbClr val="2B2B31"/>
            </a:solidFill>
            <a:prstDash val="solid"/>
          </a:ln>
        </p:spPr>
      </p:sp>
      <p:sp>
        <p:nvSpPr>
          <p:cNvPr id="21" name="text-477"/>
          <p:cNvSpPr txBox="1"/>
          <p:nvPr/>
        </p:nvSpPr>
        <p:spPr>
          <a:xfrm>
            <a:off x="8933688" y="3730752"/>
            <a:ext cx="2468880" cy="411480"/>
          </a:xfrm>
          <a:prstGeom prst="rect">
            <a:avLst/>
          </a:prstGeom>
          <a:noFill/>
          <a:ln/>
        </p:spPr>
        <p:txBody>
          <a:bodyPr wrap="square" lIns="0" tIns="0" rIns="0" bIns="0" rtlCol="0" anchor="t"/>
          <a:lstStyle/>
          <a:p>
            <a:pPr indent="0" marL="0">
              <a:buNone/>
            </a:pPr>
            <a:r>
              <a:rPr lang="en-US" sz="2000" b="1" dirty="0">
                <a:solidFill>
                  <a:srgbClr val="FB923C"/>
                </a:solidFill>
                <a:latin typeface="Inter" pitchFamily="34" charset="0"/>
                <a:ea typeface="Inter" pitchFamily="34" charset="-122"/>
                <a:cs typeface="Inter" pitchFamily="34" charset="-120"/>
              </a:rPr>
              <a:t>≈12,000 strings</a:t>
            </a:r>
            <a:endParaRPr lang="en-US" sz="2000" dirty="0"/>
          </a:p>
        </p:txBody>
      </p:sp>
      <p:sp>
        <p:nvSpPr>
          <p:cNvPr id="22" name="text-478"/>
          <p:cNvSpPr txBox="1"/>
          <p:nvPr/>
        </p:nvSpPr>
        <p:spPr>
          <a:xfrm>
            <a:off x="8933688" y="4224528"/>
            <a:ext cx="2468880" cy="1325880"/>
          </a:xfrm>
          <a:prstGeom prst="rect">
            <a:avLst/>
          </a:prstGeom>
          <a:noFill/>
          <a:ln/>
        </p:spPr>
        <p:txBody>
          <a:bodyPr wrap="square" lIns="0" tIns="0" rIns="0" bIns="0" rtlCol="0" anchor="t"/>
          <a:lstStyle/>
          <a:p>
            <a:pPr indent="0" marL="0">
              <a:buNone/>
            </a:pPr>
            <a:r>
              <a:rPr lang="en-US" sz="1300" dirty="0">
                <a:solidFill>
                  <a:srgbClr val="8E8E96"/>
                </a:solidFill>
                <a:latin typeface="Inter" pitchFamily="34" charset="0"/>
                <a:ea typeface="Inter" pitchFamily="34" charset="-122"/>
                <a:cs typeface="Inter" pitchFamily="34" charset="-120"/>
              </a:rPr>
              <a:t>C literal parser for --set compared with the Python lexer</a:t>
            </a:r>
            <a:endParaRPr lang="en-US" sz="1300" dirty="0"/>
          </a:p>
        </p:txBody>
      </p:sp>
      <p:sp>
        <p:nvSpPr>
          <p:cNvPr id="23" name="text-479"/>
          <p:cNvSpPr txBox="1"/>
          <p:nvPr/>
        </p:nvSpPr>
        <p:spPr>
          <a:xfrm>
            <a:off x="548640" y="5806440"/>
            <a:ext cx="11091672" cy="502920"/>
          </a:xfrm>
          <a:prstGeom prst="rect">
            <a:avLst/>
          </a:prstGeom>
          <a:noFill/>
          <a:ln/>
        </p:spPr>
        <p:txBody>
          <a:bodyPr wrap="square" lIns="0" tIns="0" rIns="0" bIns="0" rtlCol="0" anchor="t"/>
          <a:lstStyle/>
          <a:p>
            <a:pPr indent="0" marL="0">
              <a:buNone/>
            </a:pPr>
            <a:r>
              <a:rPr lang="en-US" sz="1200" dirty="0">
                <a:solidFill>
                  <a:srgbClr val="8E8E96"/>
                </a:solidFill>
                <a:latin typeface="Inter" pitchFamily="34" charset="0"/>
                <a:ea typeface="Inter" pitchFamily="34" charset="-122"/>
                <a:cs typeface="Inter" pitchFamily="34" charset="-120"/>
              </a:rPr>
              <a:t>Validated environment: Windows 11, MSYS2 UCRT64 GCC 16.1. Linux/WSL: compiler-side tests passed; generated-C execution was not validated there. No cross-platform claim.</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Performance and evaluation</a:t>
            </a:r>
            <a:endParaRPr lang="en-US" sz="2800" dirty="0"/>
          </a:p>
        </p:txBody>
      </p:sp>
      <p:sp>
        <p:nvSpPr>
          <p:cNvPr id="3" name="text-48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Evaluation</a:t>
            </a:r>
            <a:endParaRPr lang="en-US" sz="1000" dirty="0"/>
          </a:p>
        </p:txBody>
      </p:sp>
      <p:sp>
        <p:nvSpPr>
          <p:cNvPr id="5" name="panel-481"/>
          <p:cNvSpPr/>
          <p:nvPr/>
        </p:nvSpPr>
        <p:spPr>
          <a:xfrm>
            <a:off x="548640" y="1325880"/>
            <a:ext cx="5120640" cy="3840480"/>
          </a:xfrm>
          <a:prstGeom prst="roundRect">
            <a:avLst>
              <a:gd name="adj" fmla="val 1905"/>
            </a:avLst>
          </a:prstGeom>
          <a:solidFill>
            <a:srgbClr val="121214"/>
          </a:solidFill>
          <a:ln w="12700">
            <a:solidFill>
              <a:srgbClr val="121214"/>
            </a:solidFill>
            <a:prstDash val="solid"/>
          </a:ln>
        </p:spPr>
      </p:sp>
      <p:sp>
        <p:nvSpPr>
          <p:cNvPr id="6" name="panel-482"/>
          <p:cNvSpPr/>
          <p:nvPr/>
        </p:nvSpPr>
        <p:spPr>
          <a:xfrm>
            <a:off x="5852160" y="1325880"/>
            <a:ext cx="5788152" cy="2697480"/>
          </a:xfrm>
          <a:prstGeom prst="roundRect">
            <a:avLst>
              <a:gd name="adj" fmla="val 2712"/>
            </a:avLst>
          </a:prstGeom>
          <a:solidFill>
            <a:srgbClr val="121214"/>
          </a:solidFill>
          <a:ln w="12700">
            <a:solidFill>
              <a:srgbClr val="121214"/>
            </a:solidFill>
            <a:prstDash val="solid"/>
          </a:ln>
        </p:spPr>
      </p:sp>
      <p:graphicFrame>
        <p:nvGraphicFramePr>
          <p:cNvPr id="7" name="Chart 0" descr=""/>
          <p:cNvGraphicFramePr/>
          <p:nvPr/>
        </p:nvGraphicFramePr>
        <p:xfrm>
          <a:off x="548640" y="1325880"/>
          <a:ext cx="512064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benchmark-table"/>
          <p:cNvGraphicFramePr>
            <a:graphicFrameLocks noGrp="1"/>
          </p:cNvGraphicFramePr>
          <p:nvPr>
            <p:extLst>
              <p:ext uri="{D42A27DB-BD31-4B8C-83A1-F6EECF244321}">
                <p14:modId xmlns:p14="http://schemas.microsoft.com/office/powerpoint/2010/main" val="1579011935"/>
              </p:ext>
            </p:extLst>
          </p:nvPr>
        </p:nvGraphicFramePr>
        <p:xfrm>
          <a:off x="5943600" y="1417320"/>
          <a:ext cx="5605272" cy="914400"/>
        </p:xfrm>
        <a:graphic>
          <a:graphicData uri="http://schemas.openxmlformats.org/drawingml/2006/table">
            <a:tbl>
              <a:tblPr/>
              <a:tblGrid>
                <a:gridCol w="1399032"/>
                <a:gridCol w="1051560"/>
                <a:gridCol w="1051560"/>
                <a:gridCol w="1051560"/>
                <a:gridCol w="1051560"/>
              </a:tblGrid>
              <a:tr h="502920">
                <a:tc>
                  <a:txBody>
                    <a:bodyPr/>
                    <a:lstStyle/>
                    <a:p>
                      <a:pPr indent="0" marL="0">
                        <a:buNone/>
                      </a:pPr>
                      <a:r>
                        <a:rPr lang="en-US" sz="1200" b="1" dirty="0">
                          <a:solidFill>
                            <a:srgbClr val="8E8E96"/>
                          </a:solidFill>
                          <a:latin typeface="Inter" pitchFamily="34" charset="0"/>
                          <a:ea typeface="Inter" pitchFamily="34" charset="-122"/>
                          <a:cs typeface="Inter" pitchFamily="34" charset="-120"/>
                        </a:rPr>
                        <a:t>workload</a:t>
                      </a:r>
                      <a:endParaRPr lang="en-US" sz="1200" dirty="0">
                        <a:latin typeface="Inter" charset="0"/>
                        <a:ea typeface="Inter" charset="0"/>
                        <a:cs typeface="Inter"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C1C21"/>
                    </a:solidFill>
                  </a:tcPr>
                </a:tc>
                <a:tc>
                  <a:txBody>
                    <a:bodyPr/>
                    <a:lstStyle/>
                    <a:p>
                      <a:pPr algn="r" indent="0" marL="0">
                        <a:buNone/>
                      </a:pPr>
                      <a:r>
                        <a:rPr lang="en-US" sz="1200" b="1" dirty="0">
                          <a:solidFill>
                            <a:srgbClr val="22D3EE"/>
                          </a:solidFill>
                          <a:latin typeface="Inter" pitchFamily="34" charset="0"/>
                          <a:ea typeface="Inter" pitchFamily="34" charset="-122"/>
                          <a:cs typeface="Inter" pitchFamily="34" charset="-120"/>
                        </a:rPr>
                        <a:t>front end</a:t>
                      </a:r>
                      <a:endParaRPr lang="en-US" sz="1200" dirty="0">
                        <a:latin typeface="Inter" charset="0"/>
                        <a:ea typeface="Inter" charset="0"/>
                        <a:cs typeface="Inter"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C1C21"/>
                    </a:solidFill>
                  </a:tcPr>
                </a:tc>
                <a:tc>
                  <a:txBody>
                    <a:bodyPr/>
                    <a:lstStyle/>
                    <a:p>
                      <a:pPr algn="r" indent="0" marL="0">
                        <a:buNone/>
                      </a:pPr>
                      <a:r>
                        <a:rPr lang="en-US" sz="1200" b="1" dirty="0">
                          <a:solidFill>
                            <a:srgbClr val="A78BFA"/>
                          </a:solidFill>
                          <a:latin typeface="Inter" pitchFamily="34" charset="0"/>
                          <a:ea typeface="Inter" pitchFamily="34" charset="-122"/>
                          <a:cs typeface="Inter" pitchFamily="34" charset="-120"/>
                        </a:rPr>
                        <a:t>gcc -O0</a:t>
                      </a:r>
                      <a:endParaRPr lang="en-US" sz="1200" dirty="0">
                        <a:latin typeface="Inter" charset="0"/>
                        <a:ea typeface="Inter" charset="0"/>
                        <a:cs typeface="Inter"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C1C21"/>
                    </a:solidFill>
                  </a:tcPr>
                </a:tc>
                <a:tc>
                  <a:txBody>
                    <a:bodyPr/>
                    <a:lstStyle/>
                    <a:p>
                      <a:pPr algn="r" indent="0" marL="0">
                        <a:buNone/>
                      </a:pPr>
                      <a:r>
                        <a:rPr lang="en-US" sz="1200" b="1" dirty="0">
                          <a:solidFill>
                            <a:srgbClr val="A78BFA"/>
                          </a:solidFill>
                          <a:latin typeface="Inter" pitchFamily="34" charset="0"/>
                          <a:ea typeface="Inter" pitchFamily="34" charset="-122"/>
                          <a:cs typeface="Inter" pitchFamily="34" charset="-120"/>
                        </a:rPr>
                        <a:t>gcc -O2</a:t>
                      </a:r>
                      <a:endParaRPr lang="en-US" sz="1200" dirty="0">
                        <a:latin typeface="Inter" charset="0"/>
                        <a:ea typeface="Inter" charset="0"/>
                        <a:cs typeface="Inter"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C1C21"/>
                    </a:solidFill>
                  </a:tcPr>
                </a:tc>
                <a:tc>
                  <a:txBody>
                    <a:bodyPr/>
                    <a:lstStyle/>
                    <a:p>
                      <a:pPr algn="r" indent="0" marL="0">
                        <a:buNone/>
                      </a:pPr>
                      <a:r>
                        <a:rPr lang="en-US" sz="1200" b="1" dirty="0">
                          <a:solidFill>
                            <a:srgbClr val="2DD4BF"/>
                          </a:solidFill>
                          <a:latin typeface="Inter" pitchFamily="34" charset="0"/>
                          <a:ea typeface="Inter" pitchFamily="34" charset="-122"/>
                          <a:cs typeface="Inter" pitchFamily="34" charset="-120"/>
                        </a:rPr>
                        <a:t>run</a:t>
                      </a:r>
                      <a:endParaRPr lang="en-US" sz="1200" dirty="0">
                        <a:latin typeface="Inter" charset="0"/>
                        <a:ea typeface="Inter" charset="0"/>
                        <a:cs typeface="Inter"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C1C21"/>
                    </a:solidFill>
                  </a:tcPr>
                </a:tc>
              </a:tr>
              <a:tr h="502920">
                <a:tc>
                  <a:txBody>
                    <a:bodyPr/>
                    <a:lstStyle/>
                    <a:p>
                      <a:pPr algn="l" indent="0" marL="0">
                        <a:buNone/>
                      </a:pPr>
                      <a:r>
                        <a:rPr lang="en-US" sz="1300" dirty="0">
                          <a:solidFill>
                            <a:srgbClr val="ECECEE"/>
                          </a:solidFill>
                          <a:latin typeface="Consolas" pitchFamily="34" charset="0"/>
                          <a:ea typeface="Consolas" pitchFamily="34" charset="-122"/>
                          <a:cs typeface="Consolas" pitchFamily="34" charset="-120"/>
                        </a:rPr>
                        <a:t>pricing</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1.2</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366</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451</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23.9</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r>
              <a:tr h="502920">
                <a:tc>
                  <a:txBody>
                    <a:bodyPr/>
                    <a:lstStyle/>
                    <a:p>
                      <a:pPr algn="l" indent="0" marL="0">
                        <a:buNone/>
                      </a:pPr>
                      <a:r>
                        <a:rPr lang="en-US" sz="1300" dirty="0">
                          <a:solidFill>
                            <a:srgbClr val="ECECEE"/>
                          </a:solidFill>
                          <a:latin typeface="Consolas" pitchFamily="34" charset="0"/>
                          <a:ea typeface="Consolas" pitchFamily="34" charset="-122"/>
                          <a:cs typeface="Consolas" pitchFamily="34" charset="-120"/>
                        </a:rPr>
                        <a:t>chain-100</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7.4</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438</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846</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24.8</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r>
              <a:tr h="502920">
                <a:tc>
                  <a:txBody>
                    <a:bodyPr/>
                    <a:lstStyle/>
                    <a:p>
                      <a:pPr algn="l" indent="0" marL="0">
                        <a:buNone/>
                      </a:pPr>
                      <a:r>
                        <a:rPr lang="en-US" sz="1300" dirty="0">
                          <a:solidFill>
                            <a:srgbClr val="ECECEE"/>
                          </a:solidFill>
                          <a:latin typeface="Consolas" pitchFamily="34" charset="0"/>
                          <a:ea typeface="Consolas" pitchFamily="34" charset="-122"/>
                          <a:cs typeface="Consolas" pitchFamily="34" charset="-120"/>
                        </a:rPr>
                        <a:t>chain-1000</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102</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1,651</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5,769</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27.8</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r>
              <a:tr h="502920">
                <a:tc>
                  <a:txBody>
                    <a:bodyPr/>
                    <a:lstStyle/>
                    <a:p>
                      <a:pPr algn="l" indent="0" marL="0">
                        <a:buNone/>
                      </a:pPr>
                      <a:r>
                        <a:rPr lang="en-US" sz="1300" dirty="0">
                          <a:solidFill>
                            <a:srgbClr val="ECECEE"/>
                          </a:solidFill>
                          <a:latin typeface="Consolas" pitchFamily="34" charset="0"/>
                          <a:ea typeface="Consolas" pitchFamily="34" charset="-122"/>
                          <a:cs typeface="Consolas" pitchFamily="34" charset="-120"/>
                        </a:rPr>
                        <a:t>fan-1000</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177</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2,667</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10,561</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c>
                  <a:txBody>
                    <a:bodyPr/>
                    <a:lstStyle/>
                    <a:p>
                      <a:pPr algn="r" indent="0" marL="0">
                        <a:buNone/>
                      </a:pPr>
                      <a:r>
                        <a:rPr lang="en-US" sz="1300" dirty="0">
                          <a:solidFill>
                            <a:srgbClr val="ECECEE"/>
                          </a:solidFill>
                          <a:latin typeface="Consolas" pitchFamily="34" charset="0"/>
                          <a:ea typeface="Consolas" pitchFamily="34" charset="-122"/>
                          <a:cs typeface="Consolas" pitchFamily="34" charset="-120"/>
                        </a:rPr>
                        <a:t>28.8</a:t>
                      </a:r>
                      <a:endParaRPr lang="en-US" sz="1300" dirty="0">
                        <a:latin typeface="Consolas" charset="0"/>
                        <a:ea typeface="Consolas" charset="0"/>
                        <a:cs typeface="Consolas" charset="0"/>
                      </a:endParaRPr>
                    </a:p>
                  </a:txBody>
                  <a:tcPr marL="109728" marR="109728" marT="0" marB="0" anchor="ctr">
                    <a:lnL w="9525" cap="flat" cmpd="sng" algn="ctr">
                      <a:solidFill>
                        <a:srgbClr val="2B2B31"/>
                      </a:solidFill>
                      <a:prstDash val="solid"/>
                      <a:round/>
                      <a:headEnd type="none" w="med" len="med"/>
                      <a:tailEnd type="none" w="med" len="med"/>
                    </a:lnL>
                    <a:lnR w="9525" cap="flat" cmpd="sng" algn="ctr">
                      <a:solidFill>
                        <a:srgbClr val="2B2B31"/>
                      </a:solidFill>
                      <a:prstDash val="solid"/>
                      <a:round/>
                      <a:headEnd type="none" w="med" len="med"/>
                      <a:tailEnd type="none" w="med" len="med"/>
                    </a:lnR>
                    <a:lnT w="9525" cap="flat" cmpd="sng" algn="ctr">
                      <a:solidFill>
                        <a:srgbClr val="2B2B31"/>
                      </a:solidFill>
                      <a:prstDash val="solid"/>
                      <a:round/>
                      <a:headEnd type="none" w="med" len="med"/>
                      <a:tailEnd type="none" w="med" len="med"/>
                    </a:lnT>
                    <a:lnB w="9525" cap="flat" cmpd="sng" algn="ctr">
                      <a:solidFill>
                        <a:srgbClr val="2B2B31"/>
                      </a:solidFill>
                      <a:prstDash val="solid"/>
                      <a:round/>
                      <a:headEnd type="none" w="med" len="med"/>
                      <a:tailEnd type="none" w="med" len="med"/>
                    </a:lnB>
                    <a:solidFill>
                      <a:srgbClr val="121214"/>
                    </a:solidFill>
                  </a:tcPr>
                </a:tc>
              </a:tr>
            </a:tbl>
          </a:graphicData>
        </a:graphic>
      </p:graphicFrame>
      <p:sp>
        <p:nvSpPr>
          <p:cNvPr id="9" name="text-483"/>
          <p:cNvSpPr txBox="1"/>
          <p:nvPr/>
        </p:nvSpPr>
        <p:spPr>
          <a:xfrm>
            <a:off x="5852160" y="4114800"/>
            <a:ext cx="5788152" cy="411480"/>
          </a:xfrm>
          <a:prstGeom prst="rect">
            <a:avLst/>
          </a:prstGeom>
          <a:noFill/>
          <a:ln/>
        </p:spPr>
        <p:txBody>
          <a:bodyPr wrap="square" lIns="0" tIns="0" rIns="0" bIns="0" rtlCol="0" anchor="t"/>
          <a:lstStyle/>
          <a:p>
            <a:pPr indent="0" marL="0">
              <a:buNone/>
            </a:pPr>
            <a:r>
              <a:rPr lang="en-US" sz="1200" dirty="0">
                <a:solidFill>
                  <a:srgbClr val="7C7C84"/>
                </a:solidFill>
                <a:latin typeface="Inter" pitchFamily="34" charset="0"/>
                <a:ea typeface="Inter" pitchFamily="34" charset="-122"/>
                <a:cs typeface="Inter" pitchFamily="34" charset="-120"/>
              </a:rPr>
              <a:t>milliseconds, median of 5 runs. Three different quantities: CAUSA front end, native C compile, program run.</a:t>
            </a:r>
            <a:endParaRPr lang="en-US" sz="1200" dirty="0"/>
          </a:p>
        </p:txBody>
      </p:sp>
      <p:sp>
        <p:nvSpPr>
          <p:cNvPr id="10" name="card-484"/>
          <p:cNvSpPr/>
          <p:nvPr/>
        </p:nvSpPr>
        <p:spPr>
          <a:xfrm>
            <a:off x="5943600" y="4572000"/>
            <a:ext cx="2798064" cy="1097280"/>
          </a:xfrm>
          <a:prstGeom prst="roundRect">
            <a:avLst>
              <a:gd name="adj" fmla="val 6667"/>
            </a:avLst>
          </a:prstGeom>
          <a:solidFill>
            <a:srgbClr val="121214"/>
          </a:solidFill>
          <a:ln w="12700">
            <a:solidFill>
              <a:srgbClr val="2B2B31"/>
            </a:solidFill>
            <a:prstDash val="solid"/>
          </a:ln>
        </p:spPr>
      </p:sp>
      <p:sp>
        <p:nvSpPr>
          <p:cNvPr id="11" name="text-485"/>
          <p:cNvSpPr txBox="1"/>
          <p:nvPr/>
        </p:nvSpPr>
        <p:spPr>
          <a:xfrm>
            <a:off x="6108192" y="4645152"/>
            <a:ext cx="2514600" cy="320040"/>
          </a:xfrm>
          <a:prstGeom prst="rect">
            <a:avLst/>
          </a:prstGeom>
          <a:noFill/>
          <a:ln/>
        </p:spPr>
        <p:txBody>
          <a:bodyPr wrap="square" lIns="0" tIns="0" rIns="0" bIns="0" rtlCol="0" anchor="t"/>
          <a:lstStyle/>
          <a:p>
            <a:pPr indent="0" marL="0">
              <a:buNone/>
            </a:pPr>
            <a:r>
              <a:rPr lang="en-US" sz="1400" b="1" dirty="0">
                <a:solidFill>
                  <a:srgbClr val="A78BFA"/>
                </a:solidFill>
                <a:latin typeface="Inter" pitchFamily="34" charset="0"/>
                <a:ea typeface="Inter" pitchFamily="34" charset="-122"/>
                <a:cs typeface="Inter" pitchFamily="34" charset="-120"/>
              </a:rPr>
              <a:t>Compilation dominates</a:t>
            </a:r>
            <a:endParaRPr lang="en-US" sz="1400" dirty="0"/>
          </a:p>
        </p:txBody>
      </p:sp>
      <p:sp>
        <p:nvSpPr>
          <p:cNvPr id="12" name="text-486"/>
          <p:cNvSpPr txBox="1"/>
          <p:nvPr/>
        </p:nvSpPr>
        <p:spPr>
          <a:xfrm>
            <a:off x="6108192" y="4983480"/>
            <a:ext cx="2514600" cy="685800"/>
          </a:xfrm>
          <a:prstGeom prst="rect">
            <a:avLst/>
          </a:prstGeom>
          <a:noFill/>
          <a:ln/>
        </p:spPr>
        <p:txBody>
          <a:bodyPr wrap="square" lIns="0" tIns="0" rIns="0" bIns="0" rtlCol="0" anchor="t"/>
          <a:lstStyle/>
          <a:p>
            <a:pPr indent="0" marL="0">
              <a:buNone/>
            </a:pPr>
            <a:r>
              <a:rPr lang="en-US" sz="1200" dirty="0">
                <a:solidFill>
                  <a:srgbClr val="7C7C84"/>
                </a:solidFill>
                <a:latin typeface="Inter" pitchFamily="34" charset="0"/>
                <a:ea typeface="Inter" pitchFamily="34" charset="-122"/>
                <a:cs typeface="Inter" pitchFamily="34" charset="-120"/>
              </a:rPr>
              <a:t>gcc at -O2 took 5.8–10.6 s for 1,000 lets; the CAUSA front end took 0.1–0.2 s.</a:t>
            </a:r>
            <a:endParaRPr lang="en-US" sz="1200" dirty="0"/>
          </a:p>
        </p:txBody>
      </p:sp>
      <p:sp>
        <p:nvSpPr>
          <p:cNvPr id="13" name="card-487"/>
          <p:cNvSpPr/>
          <p:nvPr/>
        </p:nvSpPr>
        <p:spPr>
          <a:xfrm>
            <a:off x="8842248" y="4572000"/>
            <a:ext cx="2798064" cy="1097280"/>
          </a:xfrm>
          <a:prstGeom prst="roundRect">
            <a:avLst>
              <a:gd name="adj" fmla="val 6667"/>
            </a:avLst>
          </a:prstGeom>
          <a:solidFill>
            <a:srgbClr val="121214"/>
          </a:solidFill>
          <a:ln w="12700">
            <a:solidFill>
              <a:srgbClr val="2B2B31"/>
            </a:solidFill>
            <a:prstDash val="solid"/>
          </a:ln>
        </p:spPr>
      </p:sp>
      <p:sp>
        <p:nvSpPr>
          <p:cNvPr id="14" name="text-488"/>
          <p:cNvSpPr txBox="1"/>
          <p:nvPr/>
        </p:nvSpPr>
        <p:spPr>
          <a:xfrm>
            <a:off x="9006840" y="4645152"/>
            <a:ext cx="2514600" cy="320040"/>
          </a:xfrm>
          <a:prstGeom prst="rect">
            <a:avLst/>
          </a:prstGeom>
          <a:noFill/>
          <a:ln/>
        </p:spPr>
        <p:txBody>
          <a:bodyPr wrap="square" lIns="0" tIns="0" rIns="0" bIns="0" rtlCol="0" anchor="t"/>
          <a:lstStyle/>
          <a:p>
            <a:pPr indent="0" marL="0">
              <a:buNone/>
            </a:pPr>
            <a:r>
              <a:rPr lang="en-US" sz="1400" b="1" dirty="0">
                <a:solidFill>
                  <a:srgbClr val="2DD4BF"/>
                </a:solidFill>
                <a:latin typeface="Inter" pitchFamily="34" charset="0"/>
                <a:ea typeface="Inter" pitchFamily="34" charset="-122"/>
                <a:cs typeface="Inter" pitchFamily="34" charset="-120"/>
              </a:rPr>
              <a:t>Runs ≈ process start-up</a:t>
            </a:r>
            <a:endParaRPr lang="en-US" sz="1400" dirty="0"/>
          </a:p>
        </p:txBody>
      </p:sp>
      <p:sp>
        <p:nvSpPr>
          <p:cNvPr id="15" name="text-489"/>
          <p:cNvSpPr txBox="1"/>
          <p:nvPr/>
        </p:nvSpPr>
        <p:spPr>
          <a:xfrm>
            <a:off x="9006840" y="4983480"/>
            <a:ext cx="2514600" cy="685800"/>
          </a:xfrm>
          <a:prstGeom prst="rect">
            <a:avLst/>
          </a:prstGeom>
          <a:noFill/>
          <a:ln/>
        </p:spPr>
        <p:txBody>
          <a:bodyPr wrap="square" lIns="0" tIns="0" rIns="0" bIns="0" rtlCol="0" anchor="t"/>
          <a:lstStyle/>
          <a:p>
            <a:pPr indent="0" marL="0">
              <a:buNone/>
            </a:pPr>
            <a:r>
              <a:rPr lang="en-US" sz="1200" dirty="0">
                <a:solidFill>
                  <a:srgbClr val="7C7C84"/>
                </a:solidFill>
                <a:latin typeface="Inter" pitchFamily="34" charset="0"/>
                <a:ea typeface="Inter" pitchFamily="34" charset="-122"/>
                <a:cs typeface="Inter" pitchFamily="34" charset="-120"/>
              </a:rPr>
              <a:t>Executables finish in about 24–29 ms in every workload.</a:t>
            </a:r>
            <a:endParaRPr lang="en-US" sz="1200" dirty="0"/>
          </a:p>
        </p:txBody>
      </p:sp>
      <p:sp>
        <p:nvSpPr>
          <p:cNvPr id="16" name="text-490"/>
          <p:cNvSpPr txBox="1"/>
          <p:nvPr/>
        </p:nvSpPr>
        <p:spPr>
          <a:xfrm>
            <a:off x="548640" y="5852160"/>
            <a:ext cx="11091672" cy="457200"/>
          </a:xfrm>
          <a:prstGeom prst="rect">
            <a:avLst/>
          </a:prstGeom>
          <a:noFill/>
          <a:ln/>
        </p:spPr>
        <p:txBody>
          <a:bodyPr wrap="square" lIns="0" tIns="0" rIns="0" bIns="0" rtlCol="0" anchor="t"/>
          <a:lstStyle/>
          <a:p>
            <a:pPr indent="0" marL="0">
              <a:buNone/>
            </a:pPr>
            <a:r>
              <a:rPr lang="en-US" sz="1200" dirty="0">
                <a:solidFill>
                  <a:srgbClr val="7C7C84"/>
                </a:solidFill>
                <a:latin typeface="Inter" pitchFamily="34" charset="0"/>
                <a:ea typeface="Inter" pitchFamily="34" charset="-122"/>
                <a:cs typeface="Inter" pitchFamily="34" charset="-120"/>
              </a:rPr>
              <a:t>Recorded on one Windows 11 machine (8 logical CPUs, Python 3.11.9, GCC 16.1.0); environment-dependent engineering measurements, not a speed claim.</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Limitations and future work</a:t>
            </a:r>
            <a:endParaRPr lang="en-US" sz="2800" dirty="0"/>
          </a:p>
        </p:txBody>
      </p:sp>
      <p:sp>
        <p:nvSpPr>
          <p:cNvPr id="3" name="text-49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Closing</a:t>
            </a:r>
            <a:endParaRPr lang="en-US" sz="1000" dirty="0"/>
          </a:p>
        </p:txBody>
      </p:sp>
      <p:sp>
        <p:nvSpPr>
          <p:cNvPr id="5" name="card-492"/>
          <p:cNvSpPr/>
          <p:nvPr/>
        </p:nvSpPr>
        <p:spPr>
          <a:xfrm>
            <a:off x="548640" y="1325880"/>
            <a:ext cx="3593592" cy="4663440"/>
          </a:xfrm>
          <a:prstGeom prst="roundRect">
            <a:avLst>
              <a:gd name="adj" fmla="val 2036"/>
            </a:avLst>
          </a:prstGeom>
          <a:solidFill>
            <a:srgbClr val="121214"/>
          </a:solidFill>
          <a:ln w="12700">
            <a:solidFill>
              <a:srgbClr val="2B2B31"/>
            </a:solidFill>
            <a:prstDash val="solid"/>
          </a:ln>
        </p:spPr>
      </p:sp>
      <p:sp>
        <p:nvSpPr>
          <p:cNvPr id="6" name="text-493"/>
          <p:cNvSpPr txBox="1"/>
          <p:nvPr/>
        </p:nvSpPr>
        <p:spPr>
          <a:xfrm>
            <a:off x="777240" y="1481328"/>
            <a:ext cx="3200400" cy="411480"/>
          </a:xfrm>
          <a:prstGeom prst="rect">
            <a:avLst/>
          </a:prstGeom>
          <a:noFill/>
          <a:ln/>
        </p:spPr>
        <p:txBody>
          <a:bodyPr wrap="square" lIns="0" tIns="0" rIns="0" bIns="0" rtlCol="0" anchor="t"/>
          <a:lstStyle/>
          <a:p>
            <a:pPr indent="0" marL="0">
              <a:buNone/>
            </a:pPr>
            <a:r>
              <a:rPr lang="en-US" sz="1900" b="1" dirty="0">
                <a:solidFill>
                  <a:srgbClr val="2DD4BF"/>
                </a:solidFill>
                <a:latin typeface="Inter" pitchFamily="34" charset="0"/>
                <a:ea typeface="Inter" pitchFamily="34" charset="-122"/>
                <a:cs typeface="Inter" pitchFamily="34" charset="-120"/>
              </a:rPr>
              <a:t>Completed</a:t>
            </a:r>
            <a:endParaRPr lang="en-US" sz="1900" dirty="0"/>
          </a:p>
        </p:txBody>
      </p:sp>
      <p:sp>
        <p:nvSpPr>
          <p:cNvPr id="7" name="text-494"/>
          <p:cNvSpPr txBox="1"/>
          <p:nvPr/>
        </p:nvSpPr>
        <p:spPr>
          <a:xfrm>
            <a:off x="777240" y="2057400"/>
            <a:ext cx="315468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Language v1: inputs, lets, show, explain, whatif, impact, assert</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Causal IR with verified, dependency-preserving optimizer</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C99 backend and C runtime</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Launch-time --set inputs</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CAUSA Studio desktop app</a:t>
            </a:r>
            <a:endParaRPr lang="en-US" sz="1600" dirty="0"/>
          </a:p>
        </p:txBody>
      </p:sp>
      <p:sp>
        <p:nvSpPr>
          <p:cNvPr id="8" name="card-495"/>
          <p:cNvSpPr/>
          <p:nvPr/>
        </p:nvSpPr>
        <p:spPr>
          <a:xfrm>
            <a:off x="4297680" y="1325880"/>
            <a:ext cx="3593592" cy="4663440"/>
          </a:xfrm>
          <a:prstGeom prst="roundRect">
            <a:avLst>
              <a:gd name="adj" fmla="val 2036"/>
            </a:avLst>
          </a:prstGeom>
          <a:solidFill>
            <a:srgbClr val="121214"/>
          </a:solidFill>
          <a:ln w="12700">
            <a:solidFill>
              <a:srgbClr val="2B2B31"/>
            </a:solidFill>
            <a:prstDash val="solid"/>
          </a:ln>
        </p:spPr>
      </p:sp>
      <p:sp>
        <p:nvSpPr>
          <p:cNvPr id="9" name="text-496"/>
          <p:cNvSpPr txBox="1"/>
          <p:nvPr/>
        </p:nvSpPr>
        <p:spPr>
          <a:xfrm>
            <a:off x="4526280" y="1481328"/>
            <a:ext cx="3200400" cy="411480"/>
          </a:xfrm>
          <a:prstGeom prst="rect">
            <a:avLst/>
          </a:prstGeom>
          <a:noFill/>
          <a:ln/>
        </p:spPr>
        <p:txBody>
          <a:bodyPr wrap="square" lIns="0" tIns="0" rIns="0" bIns="0" rtlCol="0" anchor="t"/>
          <a:lstStyle/>
          <a:p>
            <a:pPr indent="0" marL="0">
              <a:buNone/>
            </a:pPr>
            <a:r>
              <a:rPr lang="en-US" sz="1900" b="1" dirty="0">
                <a:solidFill>
                  <a:srgbClr val="FB923C"/>
                </a:solidFill>
                <a:latin typeface="Inter" pitchFamily="34" charset="0"/>
                <a:ea typeface="Inter" pitchFamily="34" charset="-122"/>
                <a:cs typeface="Inter" pitchFamily="34" charset="-120"/>
              </a:rPr>
              <a:t>Limitations today</a:t>
            </a:r>
            <a:endParaRPr lang="en-US" sz="1900" dirty="0"/>
          </a:p>
        </p:txBody>
      </p:sp>
      <p:sp>
        <p:nvSpPr>
          <p:cNvPr id="10" name="text-497"/>
          <p:cNvSpPr txBox="1"/>
          <p:nvPr/>
        </p:nvSpPr>
        <p:spPr>
          <a:xfrm>
            <a:off x="4526280" y="2057400"/>
            <a:ext cx="315468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Generated C validated on Windows + MSYS2 UCRT64 GCC only</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No conditionals, loops, functions, strings, collections</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Front end grows faster than linear on long chains</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C compiler dominates build time</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Studio: one file at a time, no launch values</a:t>
            </a:r>
            <a:endParaRPr lang="en-US" sz="1600" dirty="0"/>
          </a:p>
        </p:txBody>
      </p:sp>
      <p:sp>
        <p:nvSpPr>
          <p:cNvPr id="11" name="card-498"/>
          <p:cNvSpPr/>
          <p:nvPr/>
        </p:nvSpPr>
        <p:spPr>
          <a:xfrm>
            <a:off x="8046720" y="1325880"/>
            <a:ext cx="3593592" cy="4663440"/>
          </a:xfrm>
          <a:prstGeom prst="roundRect">
            <a:avLst>
              <a:gd name="adj" fmla="val 2036"/>
            </a:avLst>
          </a:prstGeom>
          <a:solidFill>
            <a:srgbClr val="121214"/>
          </a:solidFill>
          <a:ln w="12700">
            <a:solidFill>
              <a:srgbClr val="2B2B31"/>
            </a:solidFill>
            <a:prstDash val="solid"/>
          </a:ln>
        </p:spPr>
      </p:sp>
      <p:sp>
        <p:nvSpPr>
          <p:cNvPr id="12" name="text-499"/>
          <p:cNvSpPr txBox="1"/>
          <p:nvPr/>
        </p:nvSpPr>
        <p:spPr>
          <a:xfrm>
            <a:off x="8275320" y="1481328"/>
            <a:ext cx="3200400" cy="411480"/>
          </a:xfrm>
          <a:prstGeom prst="rect">
            <a:avLst/>
          </a:prstGeom>
          <a:noFill/>
          <a:ln/>
        </p:spPr>
        <p:txBody>
          <a:bodyPr wrap="square" lIns="0" tIns="0" rIns="0" bIns="0" rtlCol="0" anchor="t"/>
          <a:lstStyle/>
          <a:p>
            <a:pPr indent="0" marL="0">
              <a:buNone/>
            </a:pPr>
            <a:r>
              <a:rPr lang="en-US" sz="1900" b="1" dirty="0">
                <a:solidFill>
                  <a:srgbClr val="A78BFA"/>
                </a:solidFill>
                <a:latin typeface="Inter" pitchFamily="34" charset="0"/>
                <a:ea typeface="Inter" pitchFamily="34" charset="-122"/>
                <a:cs typeface="Inter" pitchFamily="34" charset="-120"/>
              </a:rPr>
              <a:t>Not built yet</a:t>
            </a:r>
            <a:endParaRPr lang="en-US" sz="1900" dirty="0"/>
          </a:p>
        </p:txBody>
      </p:sp>
      <p:sp>
        <p:nvSpPr>
          <p:cNvPr id="13" name="text-500"/>
          <p:cNvSpPr txBox="1"/>
          <p:nvPr/>
        </p:nvSpPr>
        <p:spPr>
          <a:xfrm>
            <a:off x="8275320" y="2057400"/>
            <a:ext cx="315468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Test Linux, macOS, Clang, MSVC</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One command to build and run</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Deferred language features</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Studio usability and visualization</a:t>
            </a:r>
            <a:endParaRPr lang="en-US" sz="1600" dirty="0"/>
          </a:p>
          <a:p>
            <a:pPr marL="342900" indent="-342900">
              <a:spcAft>
                <a:spcPts val="1000"/>
              </a:spcAft>
              <a:buSzPct val="100000"/>
              <a:buChar char="•"/>
            </a:pPr>
            <a:r>
              <a:rPr lang="en-US" sz="1600" dirty="0">
                <a:solidFill>
                  <a:srgbClr val="ECECEE"/>
                </a:solidFill>
                <a:latin typeface="Inter" pitchFamily="34" charset="0"/>
                <a:ea typeface="Inter" pitchFamily="34" charset="-122"/>
                <a:cs typeface="Inter" pitchFamily="34" charset="-120"/>
              </a:rPr>
              <a:t>Broader performance evaluation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501"/>
          <p:cNvSpPr txBox="1"/>
          <p:nvPr/>
        </p:nvSpPr>
        <p:spPr>
          <a:xfrm>
            <a:off x="731520" y="822960"/>
            <a:ext cx="10515600" cy="1463040"/>
          </a:xfrm>
          <a:prstGeom prst="rect">
            <a:avLst/>
          </a:prstGeom>
          <a:noFill/>
          <a:ln/>
        </p:spPr>
        <p:txBody>
          <a:bodyPr wrap="square" lIns="0" tIns="0" rIns="0" bIns="0" rtlCol="0" anchor="t"/>
          <a:lstStyle/>
          <a:p>
            <a:pPr indent="0" marL="0">
              <a:buNone/>
            </a:pPr>
            <a:r>
              <a:rPr lang="en-US" sz="3800" b="1" dirty="0">
                <a:solidFill>
                  <a:srgbClr val="ECECEE"/>
                </a:solidFill>
                <a:latin typeface="Inter" pitchFamily="34" charset="0"/>
                <a:ea typeface="Inter" pitchFamily="34" charset="-122"/>
                <a:cs typeface="Inter" pitchFamily="34" charset="-120"/>
              </a:rPr>
              <a:t>CAUSA connects compilation with explainability and counterfactual reasoning.</a:t>
            </a:r>
            <a:endParaRPr lang="en-US" sz="3800" dirty="0"/>
          </a:p>
        </p:txBody>
      </p:sp>
      <p:sp>
        <p:nvSpPr>
          <p:cNvPr id="4" name="card-502"/>
          <p:cNvSpPr/>
          <p:nvPr/>
        </p:nvSpPr>
        <p:spPr>
          <a:xfrm>
            <a:off x="731520" y="2651760"/>
            <a:ext cx="3474720" cy="2103120"/>
          </a:xfrm>
          <a:prstGeom prst="roundRect">
            <a:avLst>
              <a:gd name="adj" fmla="val 3478"/>
            </a:avLst>
          </a:prstGeom>
          <a:solidFill>
            <a:srgbClr val="121214"/>
          </a:solidFill>
          <a:ln w="12700">
            <a:solidFill>
              <a:srgbClr val="2B2B31"/>
            </a:solidFill>
            <a:prstDash val="solid"/>
          </a:ln>
        </p:spPr>
      </p:sp>
      <p:sp>
        <p:nvSpPr>
          <p:cNvPr id="5" name="text-503"/>
          <p:cNvSpPr txBox="1"/>
          <p:nvPr/>
        </p:nvSpPr>
        <p:spPr>
          <a:xfrm>
            <a:off x="960120" y="2788920"/>
            <a:ext cx="3017520" cy="365760"/>
          </a:xfrm>
          <a:prstGeom prst="rect">
            <a:avLst/>
          </a:prstGeom>
          <a:noFill/>
          <a:ln/>
        </p:spPr>
        <p:txBody>
          <a:bodyPr wrap="square" lIns="0" tIns="0" rIns="0" bIns="0" rtlCol="0" anchor="t"/>
          <a:lstStyle/>
          <a:p>
            <a:pPr indent="0" marL="0">
              <a:buNone/>
            </a:pPr>
            <a:r>
              <a:rPr lang="en-US" sz="1600" b="1" dirty="0">
                <a:solidFill>
                  <a:srgbClr val="7C7C84"/>
                </a:solidFill>
                <a:latin typeface="Consolas" pitchFamily="34" charset="0"/>
                <a:ea typeface="Consolas" pitchFamily="34" charset="-122"/>
                <a:cs typeface="Consolas" pitchFamily="34" charset="-120"/>
              </a:rPr>
              <a:t>explain</a:t>
            </a:r>
            <a:endParaRPr lang="en-US" sz="1600" dirty="0"/>
          </a:p>
        </p:txBody>
      </p:sp>
      <p:sp>
        <p:nvSpPr>
          <p:cNvPr id="6" name="text-504"/>
          <p:cNvSpPr txBox="1"/>
          <p:nvPr/>
        </p:nvSpPr>
        <p:spPr>
          <a:xfrm>
            <a:off x="960120" y="3200400"/>
            <a:ext cx="3017520" cy="457200"/>
          </a:xfrm>
          <a:prstGeom prst="rect">
            <a:avLst/>
          </a:prstGeom>
          <a:noFill/>
          <a:ln/>
        </p:spPr>
        <p:txBody>
          <a:bodyPr wrap="square" lIns="0" tIns="0" rIns="0" bIns="0" rtlCol="0" anchor="t"/>
          <a:lstStyle/>
          <a:p>
            <a:pPr indent="0" marL="0">
              <a:buNone/>
            </a:pPr>
            <a:r>
              <a:rPr lang="en-US" sz="2400" b="1" dirty="0">
                <a:solidFill>
                  <a:srgbClr val="22D3EE"/>
                </a:solidFill>
                <a:latin typeface="Inter" pitchFamily="34" charset="0"/>
                <a:ea typeface="Inter" pitchFamily="34" charset="-122"/>
                <a:cs typeface="Inter" pitchFamily="34" charset="-120"/>
              </a:rPr>
              <a:t>Understand</a:t>
            </a:r>
            <a:endParaRPr lang="en-US" sz="2400" dirty="0"/>
          </a:p>
        </p:txBody>
      </p:sp>
      <p:sp>
        <p:nvSpPr>
          <p:cNvPr id="7" name="text-505"/>
          <p:cNvSpPr txBox="1"/>
          <p:nvPr/>
        </p:nvSpPr>
        <p:spPr>
          <a:xfrm>
            <a:off x="960120" y="3703320"/>
            <a:ext cx="3017520" cy="914400"/>
          </a:xfrm>
          <a:prstGeom prst="rect">
            <a:avLst/>
          </a:prstGeom>
          <a:noFill/>
          <a:ln/>
        </p:spPr>
        <p:txBody>
          <a:bodyPr wrap="square" lIns="0" tIns="0" rIns="0" bIns="0" rtlCol="0" anchor="t"/>
          <a:lstStyle/>
          <a:p>
            <a:pPr indent="0" marL="0">
              <a:buNone/>
            </a:pPr>
            <a:r>
              <a:rPr lang="en-US" sz="1600" dirty="0">
                <a:solidFill>
                  <a:srgbClr val="ECECEE"/>
                </a:solidFill>
                <a:latin typeface="Inter" pitchFamily="34" charset="0"/>
                <a:ea typeface="Inter" pitchFamily="34" charset="-122"/>
                <a:cs typeface="Inter" pitchFamily="34" charset="-120"/>
              </a:rPr>
              <a:t>why a value was produced</a:t>
            </a:r>
            <a:endParaRPr lang="en-US" sz="1600" dirty="0"/>
          </a:p>
        </p:txBody>
      </p:sp>
      <p:sp>
        <p:nvSpPr>
          <p:cNvPr id="8" name="card-506"/>
          <p:cNvSpPr/>
          <p:nvPr/>
        </p:nvSpPr>
        <p:spPr>
          <a:xfrm>
            <a:off x="4389120" y="2651760"/>
            <a:ext cx="3474720" cy="2103120"/>
          </a:xfrm>
          <a:prstGeom prst="roundRect">
            <a:avLst>
              <a:gd name="adj" fmla="val 3478"/>
            </a:avLst>
          </a:prstGeom>
          <a:solidFill>
            <a:srgbClr val="121214"/>
          </a:solidFill>
          <a:ln w="12700">
            <a:solidFill>
              <a:srgbClr val="2B2B31"/>
            </a:solidFill>
            <a:prstDash val="solid"/>
          </a:ln>
        </p:spPr>
      </p:sp>
      <p:sp>
        <p:nvSpPr>
          <p:cNvPr id="9" name="text-507"/>
          <p:cNvSpPr txBox="1"/>
          <p:nvPr/>
        </p:nvSpPr>
        <p:spPr>
          <a:xfrm>
            <a:off x="4617720" y="2788920"/>
            <a:ext cx="3017520" cy="365760"/>
          </a:xfrm>
          <a:prstGeom prst="rect">
            <a:avLst/>
          </a:prstGeom>
          <a:noFill/>
          <a:ln/>
        </p:spPr>
        <p:txBody>
          <a:bodyPr wrap="square" lIns="0" tIns="0" rIns="0" bIns="0" rtlCol="0" anchor="t"/>
          <a:lstStyle/>
          <a:p>
            <a:pPr indent="0" marL="0">
              <a:buNone/>
            </a:pPr>
            <a:r>
              <a:rPr lang="en-US" sz="1600" b="1" dirty="0">
                <a:solidFill>
                  <a:srgbClr val="7C7C84"/>
                </a:solidFill>
                <a:latin typeface="Consolas" pitchFamily="34" charset="0"/>
                <a:ea typeface="Consolas" pitchFamily="34" charset="-122"/>
                <a:cs typeface="Consolas" pitchFamily="34" charset="-120"/>
              </a:rPr>
              <a:t>impact</a:t>
            </a:r>
            <a:endParaRPr lang="en-US" sz="1600" dirty="0"/>
          </a:p>
        </p:txBody>
      </p:sp>
      <p:sp>
        <p:nvSpPr>
          <p:cNvPr id="10" name="text-508"/>
          <p:cNvSpPr txBox="1"/>
          <p:nvPr/>
        </p:nvSpPr>
        <p:spPr>
          <a:xfrm>
            <a:off x="4617720" y="3200400"/>
            <a:ext cx="3017520" cy="457200"/>
          </a:xfrm>
          <a:prstGeom prst="rect">
            <a:avLst/>
          </a:prstGeom>
          <a:noFill/>
          <a:ln/>
        </p:spPr>
        <p:txBody>
          <a:bodyPr wrap="square" lIns="0" tIns="0" rIns="0" bIns="0" rtlCol="0" anchor="t"/>
          <a:lstStyle/>
          <a:p>
            <a:pPr indent="0" marL="0">
              <a:buNone/>
            </a:pPr>
            <a:r>
              <a:rPr lang="en-US" sz="2400" b="1" dirty="0">
                <a:solidFill>
                  <a:srgbClr val="22D3EE"/>
                </a:solidFill>
                <a:latin typeface="Inter" pitchFamily="34" charset="0"/>
                <a:ea typeface="Inter" pitchFamily="34" charset="-122"/>
                <a:cs typeface="Inter" pitchFamily="34" charset="-120"/>
              </a:rPr>
              <a:t>Trace</a:t>
            </a:r>
            <a:endParaRPr lang="en-US" sz="2400" dirty="0"/>
          </a:p>
        </p:txBody>
      </p:sp>
      <p:sp>
        <p:nvSpPr>
          <p:cNvPr id="11" name="text-509"/>
          <p:cNvSpPr txBox="1"/>
          <p:nvPr/>
        </p:nvSpPr>
        <p:spPr>
          <a:xfrm>
            <a:off x="4617720" y="3703320"/>
            <a:ext cx="3017520" cy="914400"/>
          </a:xfrm>
          <a:prstGeom prst="rect">
            <a:avLst/>
          </a:prstGeom>
          <a:noFill/>
          <a:ln/>
        </p:spPr>
        <p:txBody>
          <a:bodyPr wrap="square" lIns="0" tIns="0" rIns="0" bIns="0" rtlCol="0" anchor="t"/>
          <a:lstStyle/>
          <a:p>
            <a:pPr indent="0" marL="0">
              <a:buNone/>
            </a:pPr>
            <a:r>
              <a:rPr lang="en-US" sz="1600" dirty="0">
                <a:solidFill>
                  <a:srgbClr val="ECECEE"/>
                </a:solidFill>
                <a:latin typeface="Inter" pitchFamily="34" charset="0"/>
                <a:ea typeface="Inter" pitchFamily="34" charset="-122"/>
                <a:cs typeface="Inter" pitchFamily="34" charset="-120"/>
              </a:rPr>
              <a:t>the impact of a binding</a:t>
            </a:r>
            <a:endParaRPr lang="en-US" sz="1600" dirty="0"/>
          </a:p>
        </p:txBody>
      </p:sp>
      <p:sp>
        <p:nvSpPr>
          <p:cNvPr id="12" name="card-510"/>
          <p:cNvSpPr/>
          <p:nvPr/>
        </p:nvSpPr>
        <p:spPr>
          <a:xfrm>
            <a:off x="8046720" y="2651760"/>
            <a:ext cx="3474720" cy="2103120"/>
          </a:xfrm>
          <a:prstGeom prst="roundRect">
            <a:avLst>
              <a:gd name="adj" fmla="val 3478"/>
            </a:avLst>
          </a:prstGeom>
          <a:solidFill>
            <a:srgbClr val="121214"/>
          </a:solidFill>
          <a:ln w="12700">
            <a:solidFill>
              <a:srgbClr val="2B2B31"/>
            </a:solidFill>
            <a:prstDash val="solid"/>
          </a:ln>
        </p:spPr>
      </p:sp>
      <p:sp>
        <p:nvSpPr>
          <p:cNvPr id="13" name="text-511"/>
          <p:cNvSpPr txBox="1"/>
          <p:nvPr/>
        </p:nvSpPr>
        <p:spPr>
          <a:xfrm>
            <a:off x="8275320" y="2788920"/>
            <a:ext cx="3017520" cy="365760"/>
          </a:xfrm>
          <a:prstGeom prst="rect">
            <a:avLst/>
          </a:prstGeom>
          <a:noFill/>
          <a:ln/>
        </p:spPr>
        <p:txBody>
          <a:bodyPr wrap="square" lIns="0" tIns="0" rIns="0" bIns="0" rtlCol="0" anchor="t"/>
          <a:lstStyle/>
          <a:p>
            <a:pPr indent="0" marL="0">
              <a:buNone/>
            </a:pPr>
            <a:r>
              <a:rPr lang="en-US" sz="1600" b="1" dirty="0">
                <a:solidFill>
                  <a:srgbClr val="7C7C84"/>
                </a:solidFill>
                <a:latin typeface="Consolas" pitchFamily="34" charset="0"/>
                <a:ea typeface="Consolas" pitchFamily="34" charset="-122"/>
                <a:cs typeface="Consolas" pitchFamily="34" charset="-120"/>
              </a:rPr>
              <a:t>whatif</a:t>
            </a:r>
            <a:endParaRPr lang="en-US" sz="1600" dirty="0"/>
          </a:p>
        </p:txBody>
      </p:sp>
      <p:sp>
        <p:nvSpPr>
          <p:cNvPr id="14" name="text-512"/>
          <p:cNvSpPr txBox="1"/>
          <p:nvPr/>
        </p:nvSpPr>
        <p:spPr>
          <a:xfrm>
            <a:off x="8275320" y="3200400"/>
            <a:ext cx="3017520" cy="457200"/>
          </a:xfrm>
          <a:prstGeom prst="rect">
            <a:avLst/>
          </a:prstGeom>
          <a:noFill/>
          <a:ln/>
        </p:spPr>
        <p:txBody>
          <a:bodyPr wrap="square" lIns="0" tIns="0" rIns="0" bIns="0" rtlCol="0" anchor="t"/>
          <a:lstStyle/>
          <a:p>
            <a:pPr indent="0" marL="0">
              <a:buNone/>
            </a:pPr>
            <a:r>
              <a:rPr lang="en-US" sz="2400" b="1" dirty="0">
                <a:solidFill>
                  <a:srgbClr val="22D3EE"/>
                </a:solidFill>
                <a:latin typeface="Inter" pitchFamily="34" charset="0"/>
                <a:ea typeface="Inter" pitchFamily="34" charset="-122"/>
                <a:cs typeface="Inter" pitchFamily="34" charset="-120"/>
              </a:rPr>
              <a:t>Explore</a:t>
            </a:r>
            <a:endParaRPr lang="en-US" sz="2400" dirty="0"/>
          </a:p>
        </p:txBody>
      </p:sp>
      <p:sp>
        <p:nvSpPr>
          <p:cNvPr id="15" name="text-513"/>
          <p:cNvSpPr txBox="1"/>
          <p:nvPr/>
        </p:nvSpPr>
        <p:spPr>
          <a:xfrm>
            <a:off x="8275320" y="3703320"/>
            <a:ext cx="3017520" cy="914400"/>
          </a:xfrm>
          <a:prstGeom prst="rect">
            <a:avLst/>
          </a:prstGeom>
          <a:noFill/>
          <a:ln/>
        </p:spPr>
        <p:txBody>
          <a:bodyPr wrap="square" lIns="0" tIns="0" rIns="0" bIns="0" rtlCol="0" anchor="t"/>
          <a:lstStyle/>
          <a:p>
            <a:pPr indent="0" marL="0">
              <a:buNone/>
            </a:pPr>
            <a:r>
              <a:rPr lang="en-US" sz="1600" dirty="0">
                <a:solidFill>
                  <a:srgbClr val="ECECEE"/>
                </a:solidFill>
                <a:latin typeface="Inter" pitchFamily="34" charset="0"/>
                <a:ea typeface="Inter" pitchFamily="34" charset="-122"/>
                <a:cs typeface="Inter" pitchFamily="34" charset="-120"/>
              </a:rPr>
              <a:t>alternative inputs without changing the original execution</a:t>
            </a:r>
            <a:endParaRPr lang="en-US" sz="1600" dirty="0"/>
          </a:p>
        </p:txBody>
      </p:sp>
      <p:sp>
        <p:nvSpPr>
          <p:cNvPr id="16" name="text-514"/>
          <p:cNvSpPr txBox="1"/>
          <p:nvPr/>
        </p:nvSpPr>
        <p:spPr>
          <a:xfrm>
            <a:off x="731520" y="5257800"/>
            <a:ext cx="5486400" cy="914400"/>
          </a:xfrm>
          <a:prstGeom prst="rect">
            <a:avLst/>
          </a:prstGeom>
          <a:noFill/>
          <a:ln/>
        </p:spPr>
        <p:txBody>
          <a:bodyPr wrap="square" lIns="0" tIns="0" rIns="0" bIns="0" rtlCol="0" anchor="ctr"/>
          <a:lstStyle/>
          <a:p>
            <a:pPr indent="0" marL="0">
              <a:buNone/>
            </a:pPr>
            <a:r>
              <a:rPr lang="en-US" sz="4800" b="1" dirty="0">
                <a:solidFill>
                  <a:srgbClr val="ECECEE"/>
                </a:solidFill>
                <a:latin typeface="Inter" pitchFamily="34" charset="0"/>
                <a:ea typeface="Inter" pitchFamily="34" charset="-122"/>
                <a:cs typeface="Inter" pitchFamily="34" charset="-120"/>
              </a:rPr>
              <a:t>Questions?</a:t>
            </a:r>
            <a:endParaRPr lang="en-US" sz="4800" dirty="0"/>
          </a:p>
        </p:txBody>
      </p:sp>
      <p:sp>
        <p:nvSpPr>
          <p:cNvPr id="17" name="panel-515"/>
          <p:cNvSpPr/>
          <p:nvPr/>
        </p:nvSpPr>
        <p:spPr>
          <a:xfrm>
            <a:off x="7589520" y="4983480"/>
            <a:ext cx="4050792" cy="1417320"/>
          </a:xfrm>
          <a:prstGeom prst="roundRect">
            <a:avLst>
              <a:gd name="adj" fmla="val 5161"/>
            </a:avLst>
          </a:prstGeom>
          <a:solidFill>
            <a:srgbClr val="121214"/>
          </a:solidFill>
          <a:ln w="12700">
            <a:solidFill>
              <a:srgbClr val="121214"/>
            </a:solidFill>
            <a:prstDash val="solid"/>
          </a:ln>
        </p:spPr>
      </p:sp>
      <p:sp>
        <p:nvSpPr>
          <p:cNvPr id="18" name="arrow-516"/>
          <p:cNvSpPr/>
          <p:nvPr/>
        </p:nvSpPr>
        <p:spPr>
          <a:xfrm flipV="1">
            <a:off x="8869680" y="5532120"/>
            <a:ext cx="274320" cy="228600"/>
          </a:xfrm>
          <a:prstGeom prst="line">
            <a:avLst/>
          </a:prstGeom>
          <a:noFill/>
          <a:ln w="19050">
            <a:solidFill>
              <a:srgbClr val="8E8E96"/>
            </a:solidFill>
            <a:prstDash val="solid"/>
            <a:tailEnd type="triangle"/>
          </a:ln>
        </p:spPr>
      </p:sp>
      <p:sp>
        <p:nvSpPr>
          <p:cNvPr id="19" name="arrow-517"/>
          <p:cNvSpPr/>
          <p:nvPr/>
        </p:nvSpPr>
        <p:spPr>
          <a:xfrm>
            <a:off x="10241280" y="5532120"/>
            <a:ext cx="182880" cy="228600"/>
          </a:xfrm>
          <a:prstGeom prst="line">
            <a:avLst/>
          </a:prstGeom>
          <a:noFill/>
          <a:ln w="19050">
            <a:solidFill>
              <a:srgbClr val="8E8E96"/>
            </a:solidFill>
            <a:prstDash val="solid"/>
            <a:tailEnd type="triangle"/>
          </a:ln>
        </p:spPr>
      </p:sp>
      <p:sp>
        <p:nvSpPr>
          <p:cNvPr id="20" name="node-518"/>
          <p:cNvSpPr/>
          <p:nvPr/>
        </p:nvSpPr>
        <p:spPr>
          <a:xfrm>
            <a:off x="7772400" y="5486400"/>
            <a:ext cx="1097280" cy="548640"/>
          </a:xfrm>
          <a:prstGeom prst="roundRect">
            <a:avLst>
              <a:gd name="adj" fmla="val 10000"/>
            </a:avLst>
          </a:prstGeom>
          <a:solidFill>
            <a:srgbClr val="1C1C21"/>
          </a:solidFill>
          <a:ln w="19050">
            <a:solidFill>
              <a:srgbClr val="86EFAC"/>
            </a:solidFill>
            <a:prstDash val="solid"/>
          </a:ln>
        </p:spPr>
      </p:sp>
      <p:sp>
        <p:nvSpPr>
          <p:cNvPr id="21" name="text-519"/>
          <p:cNvSpPr txBox="1"/>
          <p:nvPr/>
        </p:nvSpPr>
        <p:spPr>
          <a:xfrm>
            <a:off x="7772400" y="5486400"/>
            <a:ext cx="1097280" cy="54864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price</a:t>
            </a:r>
            <a:endParaRPr lang="en-US" sz="1400" dirty="0"/>
          </a:p>
        </p:txBody>
      </p:sp>
      <p:sp>
        <p:nvSpPr>
          <p:cNvPr id="22" name="node-520"/>
          <p:cNvSpPr/>
          <p:nvPr/>
        </p:nvSpPr>
        <p:spPr>
          <a:xfrm>
            <a:off x="9144000" y="5257800"/>
            <a:ext cx="1097280" cy="548640"/>
          </a:xfrm>
          <a:prstGeom prst="roundRect">
            <a:avLst>
              <a:gd name="adj" fmla="val 10000"/>
            </a:avLst>
          </a:prstGeom>
          <a:solidFill>
            <a:srgbClr val="1C1C21"/>
          </a:solidFill>
          <a:ln w="19050">
            <a:solidFill>
              <a:srgbClr val="60A5FA"/>
            </a:solidFill>
            <a:prstDash val="solid"/>
          </a:ln>
        </p:spPr>
      </p:sp>
      <p:sp>
        <p:nvSpPr>
          <p:cNvPr id="23" name="text-521"/>
          <p:cNvSpPr txBox="1"/>
          <p:nvPr/>
        </p:nvSpPr>
        <p:spPr>
          <a:xfrm>
            <a:off x="9144000" y="5257800"/>
            <a:ext cx="1097280" cy="54864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savings</a:t>
            </a:r>
            <a:endParaRPr lang="en-US" sz="1400" dirty="0"/>
          </a:p>
        </p:txBody>
      </p:sp>
      <p:sp>
        <p:nvSpPr>
          <p:cNvPr id="24" name="node-522"/>
          <p:cNvSpPr/>
          <p:nvPr/>
        </p:nvSpPr>
        <p:spPr>
          <a:xfrm>
            <a:off x="10424160" y="5486400"/>
            <a:ext cx="1097280" cy="548640"/>
          </a:xfrm>
          <a:prstGeom prst="roundRect">
            <a:avLst>
              <a:gd name="adj" fmla="val 10000"/>
            </a:avLst>
          </a:prstGeom>
          <a:solidFill>
            <a:srgbClr val="1C1C21"/>
          </a:solidFill>
          <a:ln w="19050">
            <a:solidFill>
              <a:srgbClr val="22D3EE"/>
            </a:solidFill>
            <a:prstDash val="solid"/>
          </a:ln>
        </p:spPr>
      </p:sp>
      <p:sp>
        <p:nvSpPr>
          <p:cNvPr id="25" name="text-523"/>
          <p:cNvSpPr txBox="1"/>
          <p:nvPr/>
        </p:nvSpPr>
        <p:spPr>
          <a:xfrm>
            <a:off x="10424160" y="5486400"/>
            <a:ext cx="1097280" cy="548640"/>
          </a:xfrm>
          <a:prstGeom prst="rect">
            <a:avLst/>
          </a:prstGeom>
          <a:noFill/>
          <a:ln/>
        </p:spPr>
        <p:txBody>
          <a:bodyPr wrap="square" lIns="0" tIns="0" rIns="0" bIns="0" rtlCol="0" anchor="ctr"/>
          <a:lstStyle/>
          <a:p>
            <a:pPr algn="ctr" indent="0" marL="0">
              <a:buNone/>
            </a:pPr>
            <a:r>
              <a:rPr lang="en-US" sz="1400" b="1" dirty="0">
                <a:solidFill>
                  <a:srgbClr val="ECECEE"/>
                </a:solidFill>
                <a:latin typeface="Consolas" pitchFamily="34" charset="0"/>
                <a:ea typeface="Consolas" pitchFamily="34" charset="-122"/>
                <a:cs typeface="Consolas" pitchFamily="34" charset="-120"/>
              </a:rPr>
              <a:t>total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685800"/>
          </a:xfrm>
          <a:prstGeom prst="rect">
            <a:avLst/>
          </a:prstGeom>
          <a:noFill/>
          <a:ln/>
        </p:spPr>
        <p:txBody>
          <a:bodyPr wrap="square" lIns="0" tIns="0" rIns="0" bIns="0" rtlCol="0" anchor="t"/>
          <a:lstStyle/>
          <a:p>
            <a:pPr algn="l" indent="0" marL="0">
              <a:buNone/>
            </a:pPr>
            <a:r>
              <a:rPr lang="en-US" sz="2800" b="1" spc="-50" kern="0" dirty="0">
                <a:solidFill>
                  <a:srgbClr val="ECECEE"/>
                </a:solidFill>
                <a:latin typeface="Inter" pitchFamily="34" charset="0"/>
                <a:ea typeface="Inter" pitchFamily="34" charset="-122"/>
                <a:cs typeface="Inter" pitchFamily="34" charset="-120"/>
              </a:rPr>
              <a:t>Appendix: references</a:t>
            </a:r>
            <a:endParaRPr lang="en-US" sz="2800" dirty="0"/>
          </a:p>
        </p:txBody>
      </p:sp>
      <p:sp>
        <p:nvSpPr>
          <p:cNvPr id="3" name="text-52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7C7C84"/>
                </a:solidFill>
                <a:latin typeface="Inter" pitchFamily="34" charset="0"/>
                <a:ea typeface="Inter" pitchFamily="34" charset="-122"/>
                <a:cs typeface="Inter" pitchFamily="34" charset="-120"/>
              </a:rPr>
              <a:t>CAUSA   Closing</a:t>
            </a:r>
            <a:endParaRPr lang="en-US" sz="1000" dirty="0"/>
          </a:p>
        </p:txBody>
      </p:sp>
      <p:sp>
        <p:nvSpPr>
          <p:cNvPr id="5" name="card-525"/>
          <p:cNvSpPr/>
          <p:nvPr/>
        </p:nvSpPr>
        <p:spPr>
          <a:xfrm>
            <a:off x="548640" y="1280160"/>
            <a:ext cx="5440680" cy="4892040"/>
          </a:xfrm>
          <a:prstGeom prst="roundRect">
            <a:avLst>
              <a:gd name="adj" fmla="val 1495"/>
            </a:avLst>
          </a:prstGeom>
          <a:solidFill>
            <a:srgbClr val="121214"/>
          </a:solidFill>
          <a:ln w="12700">
            <a:solidFill>
              <a:srgbClr val="2B2B31"/>
            </a:solidFill>
            <a:prstDash val="solid"/>
          </a:ln>
        </p:spPr>
      </p:sp>
      <p:sp>
        <p:nvSpPr>
          <p:cNvPr id="6" name="text-526"/>
          <p:cNvSpPr txBox="1"/>
          <p:nvPr/>
        </p:nvSpPr>
        <p:spPr>
          <a:xfrm>
            <a:off x="731520" y="1417320"/>
            <a:ext cx="5120640" cy="4663440"/>
          </a:xfrm>
          <a:prstGeom prst="rect">
            <a:avLst/>
          </a:prstGeom>
          <a:noFill/>
          <a:ln/>
        </p:spPr>
        <p:txBody>
          <a:bodyPr wrap="square" lIns="0" tIns="0" rIns="0" bIns="0" rtlCol="0" anchor="t"/>
          <a:lstStyle/>
          <a:p>
            <a:pPr indent="0" marL="0">
              <a:spcAft>
                <a:spcPts val="900"/>
              </a:spcAft>
              <a:buNone/>
            </a:pPr>
            <a:r>
              <a:rPr lang="en-US" sz="1300" dirty="0">
                <a:solidFill>
                  <a:srgbClr val="ECECEE"/>
                </a:solidFill>
                <a:latin typeface="Inter" pitchFamily="34" charset="0"/>
                <a:ea typeface="Inter" pitchFamily="34" charset="-122"/>
                <a:cs typeface="Inter" pitchFamily="34" charset="-120"/>
              </a:rPr>
              <a:t>[1] M. Weiser, “Program Slicing,” IEEE Transactions on Software Engineering, vol. 10, no. 4, pp. 352–357, 1984.</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[2] J. Ferrante, K. J. Ottenstein, J. D. Warren, “The Program Dependence Graph and Its Use in Optimization,” ACM TOPLAS, vol. 9, no. 3, pp. 319–349, 1987. doi:10.1145/24039.24041</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[3] J. Cheney, L. Chiticariu, W.-C. Tan, “Provenance in Databases: Why, How, and Where,” Foundations and Trends in Databases, vol. 1, no. 4, pp. 379–474, 2009. doi:10.1561/1900000006</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[4] J. Cheney, A. Ahmed, U. A. Acar, “Provenance as dependency analysis,” Mathematical Structures in Computer Science, vol. 21, no. 6, pp. 1301–1337, 2011. doi:10.1017/S0960129511000211</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[5] A. J. Ko, B. A. Myers, “Designing the Whyline: A Debugging Interface for Asking Questions About Program Behavior,” CHI 2004, Vienna, pp. 151–158.</a:t>
            </a:r>
            <a:endParaRPr lang="en-US" sz="1600" dirty="0"/>
          </a:p>
        </p:txBody>
      </p:sp>
      <p:sp>
        <p:nvSpPr>
          <p:cNvPr id="7" name="card-527"/>
          <p:cNvSpPr/>
          <p:nvPr/>
        </p:nvSpPr>
        <p:spPr>
          <a:xfrm>
            <a:off x="6199632" y="1280160"/>
            <a:ext cx="5440680" cy="4892040"/>
          </a:xfrm>
          <a:prstGeom prst="roundRect">
            <a:avLst>
              <a:gd name="adj" fmla="val 1495"/>
            </a:avLst>
          </a:prstGeom>
          <a:solidFill>
            <a:srgbClr val="121214"/>
          </a:solidFill>
          <a:ln w="12700">
            <a:solidFill>
              <a:srgbClr val="2B2B31"/>
            </a:solidFill>
            <a:prstDash val="solid"/>
          </a:ln>
        </p:spPr>
      </p:sp>
      <p:sp>
        <p:nvSpPr>
          <p:cNvPr id="8" name="text-528"/>
          <p:cNvSpPr txBox="1"/>
          <p:nvPr/>
        </p:nvSpPr>
        <p:spPr>
          <a:xfrm>
            <a:off x="6382512" y="1417320"/>
            <a:ext cx="5120640" cy="4663440"/>
          </a:xfrm>
          <a:prstGeom prst="rect">
            <a:avLst/>
          </a:prstGeom>
          <a:noFill/>
          <a:ln/>
        </p:spPr>
        <p:txBody>
          <a:bodyPr wrap="square" lIns="0" tIns="0" rIns="0" bIns="0" rtlCol="0" anchor="t"/>
          <a:lstStyle/>
          <a:p>
            <a:pPr indent="0" marL="0">
              <a:spcAft>
                <a:spcPts val="900"/>
              </a:spcAft>
              <a:buNone/>
            </a:pPr>
            <a:r>
              <a:rPr lang="en-US" sz="1300" dirty="0">
                <a:solidFill>
                  <a:srgbClr val="ECECEE"/>
                </a:solidFill>
                <a:latin typeface="Inter" pitchFamily="34" charset="0"/>
                <a:ea typeface="Inter" pitchFamily="34" charset="-122"/>
                <a:cs typeface="Inter" pitchFamily="34" charset="-120"/>
              </a:rPr>
              <a:t>[6] A.-H. Karimi, G. Barthe, B. Schölkopf, I. Valera, “A Survey of Algorithmic Recourse: Contrastive Explanations and Consequential Recommendations,” ACM Computing Surveys, vol. 55, no. 5, 2022. doi:10.1145/3527848</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[7] C. Lattner, V. Adve, “LLVM: A Compilation Framework for Lifelong Program Analysis &amp; Transformation,” CGO 2004, Palo Alto. https://llvm.org/pubs/2004-01-30-CGO-LLVM.html</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[8] C. Lattner, M. Amini, U. Bondhugula, A. Cohen, A. Davis, J. Pienaar, R. Riddle, T. Shpeisman, N. Vasilache, O. Zinenko, “MLIR: Scaling Compiler Infrastructure for Domain Specific Computation,” CGO 2021. https://research.google/pubs/mlir-scaling-compiler-infrastructure-for-domain-specific-computation/</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[9] J. Chen, J. Patra, M. Pradel, Y. Xiong, H. Zhang, D. Hao, L. Zhang, “A Survey of Compiler Testing,” ACM Computing Surveys, vol. 53, no. 1, pp. 1–36, 2020. doi:10.1145/3363562</a:t>
            </a:r>
            <a:endParaRPr lang="en-US" sz="1600" dirty="0"/>
          </a:p>
          <a:p>
            <a:pPr indent="0" marL="0">
              <a:spcAft>
                <a:spcPts val="900"/>
              </a:spcAft>
              <a:buNone/>
            </a:pPr>
            <a:r>
              <a:rPr lang="en-US" sz="1300" dirty="0">
                <a:solidFill>
                  <a:srgbClr val="ECECEE"/>
                </a:solidFill>
                <a:latin typeface="Inter" pitchFamily="34" charset="0"/>
                <a:ea typeface="Inter" pitchFamily="34" charset="-122"/>
                <a:cs typeface="Inter" pitchFamily="34" charset="-120"/>
              </a:rPr>
              <a:t>[10] H. Ma, “A Survey of Modern Compiler Fuzzing,” arXiv preprint, 2023 (not peer reviewed). doi:10.48550/arXiv.2306.06884</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7C84"/>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AUSA Matte">
  <a:themeElements>
    <a:clrScheme name="CAUSA Matte">
      <a:dk1>
        <a:srgbClr val="ECECEE"/>
      </a:dk1>
      <a:lt1>
        <a:srgbClr val="09090A"/>
      </a:lt1>
      <a:dk2>
        <a:srgbClr val="121214"/>
      </a:dk2>
      <a:lt2>
        <a:srgbClr val="121214"/>
      </a:lt2>
      <a:accent1>
        <a:srgbClr val="22D3EE"/>
      </a:accent1>
      <a:accent2>
        <a:srgbClr val="A78BFA"/>
      </a:accent2>
      <a:accent3>
        <a:srgbClr val="86EFAC"/>
      </a:accent3>
      <a:accent4>
        <a:srgbClr val="60A5FA"/>
      </a:accent4>
      <a:accent5>
        <a:srgbClr val="7C7C84"/>
      </a:accent5>
      <a:accent6>
        <a:srgbClr val="2B2B31"/>
      </a:accent6>
      <a:hlink>
        <a:srgbClr val="22D3EE"/>
      </a:hlink>
      <a:folHlink>
        <a:srgbClr val="A78BFA"/>
      </a:folHlink>
    </a:clrScheme>
    <a:fontScheme name="CAUSA Matt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 - A Compiler for Explainable and Counterfactual Programming</dc:title>
  <dc:subject>Compiler Design project - final review</dc:subject>
  <dc:creator/>
  <cp:lastModifiedBy/>
  <cp:revision>1</cp:revision>
  <dcterms:created xsi:type="dcterms:W3CDTF">2026-10-26T11:49:14Z</dcterms:created>
  <dcterms:modified xsi:type="dcterms:W3CDTF">2026-10-26T11:49:14Z</dcterms:modified>
</cp:coreProperties>
</file>